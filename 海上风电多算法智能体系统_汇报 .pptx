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image" Target="../media/image13.png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image" Target="../media/image12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.png"/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image" Target="../media/image2.png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4" Type="http://schemas.openxmlformats.org/officeDocument/2006/relationships/notesSlide" Target="../notesSlides/notesSlide14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5.png"/><Relationship Id="rId21" Type="http://schemas.openxmlformats.org/officeDocument/2006/relationships/image" Target="../media/image24.png"/><Relationship Id="rId20" Type="http://schemas.openxmlformats.org/officeDocument/2006/relationships/tags" Target="../tags/tag43.xml"/><Relationship Id="rId2" Type="http://schemas.openxmlformats.org/officeDocument/2006/relationships/image" Target="../media/image9.png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image" Target="../media/image23.png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image" Target="../media/image8.png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3" Type="http://schemas.openxmlformats.org/officeDocument/2006/relationships/notesSlide" Target="../notesSlides/notesSlide15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27.png"/><Relationship Id="rId20" Type="http://schemas.openxmlformats.org/officeDocument/2006/relationships/image" Target="../media/image26.png"/><Relationship Id="rId2" Type="http://schemas.openxmlformats.org/officeDocument/2006/relationships/image" Target="../media/image9.png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image" Target="../media/image15.png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image" Target="../media/image18.png"/><Relationship Id="rId4" Type="http://schemas.openxmlformats.org/officeDocument/2006/relationships/tags" Target="../tags/tag63.xml"/><Relationship Id="rId39" Type="http://schemas.openxmlformats.org/officeDocument/2006/relationships/notesSlide" Target="../notesSlides/notesSlide16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95.xml"/><Relationship Id="rId36" Type="http://schemas.openxmlformats.org/officeDocument/2006/relationships/tags" Target="../tags/tag94.xml"/><Relationship Id="rId35" Type="http://schemas.openxmlformats.org/officeDocument/2006/relationships/tags" Target="../tags/tag93.xml"/><Relationship Id="rId34" Type="http://schemas.openxmlformats.org/officeDocument/2006/relationships/tags" Target="../tags/tag92.xml"/><Relationship Id="rId33" Type="http://schemas.openxmlformats.org/officeDocument/2006/relationships/tags" Target="../tags/tag91.xml"/><Relationship Id="rId32" Type="http://schemas.openxmlformats.org/officeDocument/2006/relationships/tags" Target="../tags/tag90.xml"/><Relationship Id="rId31" Type="http://schemas.openxmlformats.org/officeDocument/2006/relationships/tags" Target="../tags/tag89.xml"/><Relationship Id="rId30" Type="http://schemas.openxmlformats.org/officeDocument/2006/relationships/tags" Target="../tags/tag88.xml"/><Relationship Id="rId3" Type="http://schemas.openxmlformats.org/officeDocument/2006/relationships/tags" Target="../tags/tag62.xml"/><Relationship Id="rId29" Type="http://schemas.openxmlformats.org/officeDocument/2006/relationships/tags" Target="../tags/tag87.xml"/><Relationship Id="rId28" Type="http://schemas.openxmlformats.org/officeDocument/2006/relationships/tags" Target="../tags/tag86.xml"/><Relationship Id="rId27" Type="http://schemas.openxmlformats.org/officeDocument/2006/relationships/tags" Target="../tags/tag85.xml"/><Relationship Id="rId26" Type="http://schemas.openxmlformats.org/officeDocument/2006/relationships/tags" Target="../tags/tag84.xml"/><Relationship Id="rId25" Type="http://schemas.openxmlformats.org/officeDocument/2006/relationships/tags" Target="../tags/tag83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1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60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8580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海上风电历史数据分析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与多算法智能体系统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7" name="Text 4"/>
          <p:cNvSpPr/>
          <p:nvPr/>
        </p:nvSpPr>
        <p:spPr>
          <a:xfrm>
            <a:off x="731520" y="3840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基于2022-2023年福建海上风电数据 · 功率预测 · 风险评估 · 强化学习调度 · 智能问答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Offshore Wind Power Forecasting &amp; RL Dispatch Agent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287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1" y="1080821"/>
            <a:ext cx="243230" cy="243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9829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51560" y="12115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项目背景与问题定义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54880" y="10287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001" y="1080821"/>
            <a:ext cx="243230" cy="2432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7800" y="9829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257800" y="12115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数据概况与时间线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19431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1" y="1995221"/>
            <a:ext cx="243230" cy="2432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18973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51560" y="21259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系统技术架构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754880" y="19431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001" y="1995221"/>
            <a:ext cx="243230" cy="2432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18973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257800" y="21259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特征工程（38维气象+时序特征）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28575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1" y="2909621"/>
            <a:ext cx="243230" cy="2432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28117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051560" y="30403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功率预测：梯度提升树双模型对比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4754880" y="28575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001" y="2909621"/>
            <a:ext cx="243230" cy="24323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28117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257800" y="30403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风险评分：7因素加权融合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548640" y="37719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61" y="3824021"/>
            <a:ext cx="243230" cy="24323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51560" y="37261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1051560" y="39547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强化学习调度策略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4754880" y="37719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7001" y="3824021"/>
            <a:ext cx="243230" cy="24323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57800" y="37261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24"/>
          <p:cNvSpPr/>
          <p:nvPr/>
        </p:nvSpPr>
        <p:spPr>
          <a:xfrm>
            <a:off x="5257800" y="39547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系统演示（前端大屏截图）</a:t>
            </a:r>
            <a:endParaRPr lang="en-US" sz="1500" dirty="0"/>
          </a:p>
        </p:txBody>
      </p:sp>
      <p:sp>
        <p:nvSpPr>
          <p:cNvPr id="35" name="Shape 25"/>
          <p:cNvSpPr/>
          <p:nvPr/>
        </p:nvSpPr>
        <p:spPr>
          <a:xfrm>
            <a:off x="548640" y="46863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761" y="4738421"/>
            <a:ext cx="243230" cy="24323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051560" y="46405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1051560" y="48691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总结与展望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项目背景与问题定义</a:t>
            </a:r>
            <a:endParaRPr lang="en-US" sz="32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457200" y="1188720"/>
            <a:ext cx="4389120" cy="1051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14B8A6"/>
          </a:solidFill>
        </p:spPr>
        <p:txBody>
          <a:bodyPr/>
          <a:p/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F0F9FF"/>
          </a:solidFill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7687" y="1474927"/>
            <a:ext cx="268834" cy="268834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188720" y="13258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风电出力波动大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7"/>
            </p:custDataLst>
          </p:nvPr>
        </p:nvSpPr>
        <p:spPr>
          <a:xfrm>
            <a:off x="1188720" y="16459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风速变化导致功率在0~满负荷之间剧烈波动，15分钟间隔的预测难度极高</a:t>
            </a:r>
            <a:endParaRPr lang="en-US" sz="1200" dirty="0"/>
          </a:p>
        </p:txBody>
      </p:sp>
      <p:sp>
        <p:nvSpPr>
          <p:cNvPr id="9" name="Shape 6"/>
          <p:cNvSpPr/>
          <p:nvPr>
            <p:custDataLst>
              <p:tags r:id="rId8"/>
            </p:custDataLst>
          </p:nvPr>
        </p:nvSpPr>
        <p:spPr>
          <a:xfrm>
            <a:off x="457200" y="2423160"/>
            <a:ext cx="4389120" cy="1051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9"/>
            </p:custDataLst>
          </p:nvPr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14B8A6"/>
          </a:solidFill>
        </p:spPr>
        <p:txBody>
          <a:bodyPr/>
          <a:p/>
        </p:txBody>
      </p:sp>
      <p:sp>
        <p:nvSpPr>
          <p:cNvPr id="11" name="Shape 8"/>
          <p:cNvSpPr/>
          <p:nvPr>
            <p:custDataLst>
              <p:tags r:id="rId10"/>
            </p:custDataLst>
          </p:nvPr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F0F9FF"/>
          </a:solidFill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97687" y="2709367"/>
            <a:ext cx="268834" cy="268834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3"/>
            </p:custDataLst>
          </p:nvPr>
        </p:nvSpPr>
        <p:spPr>
          <a:xfrm>
            <a:off x="1188720" y="25603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调度风险高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4"/>
            </p:custDataLst>
          </p:nvPr>
        </p:nvSpPr>
        <p:spPr>
          <a:xfrm>
            <a:off x="1188720" y="288036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功率预测偏差可能导致供电缺口，影响电网稳定性与设备安全</a:t>
            </a:r>
            <a:endParaRPr lang="en-US" sz="1200" dirty="0"/>
          </a:p>
        </p:txBody>
      </p:sp>
      <p:sp>
        <p:nvSpPr>
          <p:cNvPr id="15" name="Shape 11"/>
          <p:cNvSpPr/>
          <p:nvPr>
            <p:custDataLst>
              <p:tags r:id="rId15"/>
            </p:custDataLst>
          </p:nvPr>
        </p:nvSpPr>
        <p:spPr>
          <a:xfrm>
            <a:off x="457200" y="3657600"/>
            <a:ext cx="4389120" cy="1051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>
            <p:custDataLst>
              <p:tags r:id="rId16"/>
            </p:custDataLst>
          </p:nvPr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14B8A6"/>
          </a:solidFill>
        </p:spPr>
        <p:txBody>
          <a:bodyPr/>
          <a:p/>
        </p:txBody>
      </p:sp>
      <p:sp>
        <p:nvSpPr>
          <p:cNvPr id="17" name="Shape 13"/>
          <p:cNvSpPr/>
          <p:nvPr>
            <p:custDataLst>
              <p:tags r:id="rId17"/>
            </p:custDataLst>
          </p:nvPr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F0F9FF"/>
          </a:solidFill>
        </p:spPr>
        <p:txBody>
          <a:bodyPr/>
          <a:p/>
        </p:txBody>
      </p:sp>
      <p:pic>
        <p:nvPicPr>
          <p:cNvPr id="18" name="Image 2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97687" y="3943807"/>
            <a:ext cx="268834" cy="268834"/>
          </a:xfrm>
          <a:prstGeom prst="rect">
            <a:avLst/>
          </a:prstGeom>
        </p:spPr>
      </p:pic>
      <p:sp>
        <p:nvSpPr>
          <p:cNvPr id="19" name="Text 14"/>
          <p:cNvSpPr/>
          <p:nvPr>
            <p:custDataLst>
              <p:tags r:id="rId20"/>
            </p:custDataLst>
          </p:nvPr>
        </p:nvSpPr>
        <p:spPr>
          <a:xfrm>
            <a:off x="1188720" y="37947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收益与安全矛盾</a:t>
            </a:r>
            <a:endParaRPr lang="en-US" sz="1600" dirty="0"/>
          </a:p>
        </p:txBody>
      </p:sp>
      <p:sp>
        <p:nvSpPr>
          <p:cNvPr id="20" name="Text 15"/>
          <p:cNvSpPr/>
          <p:nvPr>
            <p:custDataLst>
              <p:tags r:id="rId21"/>
            </p:custDataLst>
          </p:nvPr>
        </p:nvSpPr>
        <p:spPr>
          <a:xfrm>
            <a:off x="1188720" y="411480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激进的并网策略追求收益，保守策略保障安全——如何取得最优平衡？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212080" y="1188720"/>
            <a:ext cx="3474720" cy="3657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5212080" y="1188720"/>
            <a:ext cx="54864" cy="3657600"/>
          </a:xfrm>
          <a:prstGeom prst="rect">
            <a:avLst/>
          </a:prstGeom>
          <a:solidFill>
            <a:srgbClr val="065A82"/>
          </a:solidFill>
        </p:spPr>
        <p:txBody>
          <a:bodyPr/>
          <a:p/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94960" y="13716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43600" y="13716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数据来源</a:t>
            </a:r>
            <a:endParaRPr lang="en-US" sz="1600" dirty="0"/>
          </a:p>
          <a:p>
            <a:r>
              <a:rPr sz="900">
                <a:solidFill>
                  <a:srgbClr val="A0C8DC"/>
                </a:solidFill>
              </a:rPr>
              <a:t>数据总量: 训练集约30万条, 验证集约8万条 (15分钟间隔×5站点×16个月)</a:t>
            </a:r>
            <a:endParaRPr sz="900">
              <a:solidFill>
                <a:srgbClr val="A0C8DC"/>
              </a:solidFill>
            </a:endParaRPr>
          </a:p>
        </p:txBody>
      </p:sp>
      <p:sp>
        <p:nvSpPr>
          <p:cNvPr id="25" name="Text 19"/>
          <p:cNvSpPr/>
          <p:nvPr/>
        </p:nvSpPr>
        <p:spPr>
          <a:xfrm>
            <a:off x="5394960" y="1965960"/>
            <a:ext cx="310896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竞赛A榜数据集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区域：福建省海上风电场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站点：5个风电场（f1-f5）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时间：15分钟分辨率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训练集：2022-01 ~ 2023-04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气象特征：11维传感器数据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核心目标：准确预测功率 + 优化调度策略，在收益最大化与风险最小化之间取得平衡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数据概况与时间线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训练集 (前80%)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2022-01 ~ 2023-01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验证集 (后20%)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有真实功率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推演期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2023-05 ~ 07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无真实功率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8046720" cy="36576"/>
          </a:xfrm>
          <a:prstGeom prst="rect">
            <a:avLst/>
          </a:prstGeom>
          <a:solidFill>
            <a:srgbClr val="14B8A6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317754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30175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97280" y="3383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海上风电场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51760" y="3108960"/>
            <a:ext cx="457200" cy="45720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31775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00400" y="30175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15min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200400" y="3383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数据分辨率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54880" y="3108960"/>
            <a:ext cx="457200" cy="45720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31775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30175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5303520" y="3383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原始气象特征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858000" y="3108960"/>
            <a:ext cx="457200" cy="45720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31775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30175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406640" y="3383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工程特征维度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3931920"/>
            <a:ext cx="8046720" cy="1005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48640" y="3931920"/>
            <a:ext cx="54864" cy="1005840"/>
          </a:xfrm>
          <a:prstGeom prst="rect">
            <a:avLst/>
          </a:prstGeom>
          <a:solidFill>
            <a:srgbClr val="065A82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1480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88720" y="4023360"/>
            <a:ext cx="72237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数据划分原则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按站点内时间顺序划分（非随机），避免未来信息泄露。验证集后20%含真实功率，精度可量化评估。推演期为A榜测试集，无真实值，仅展示模型推演能力。</a:t>
            </a:r>
            <a:endParaRPr lang="en-US" sz="1400" dirty="0"/>
          </a:p>
        </p:txBody>
      </p:sp>
      <p:sp>
        <p:nvSpPr>
          <p:cNvPr id="33" name="Shape 1"/>
          <p:cNvSpPr/>
          <p:nvPr/>
        </p:nvSpPr>
        <p:spPr>
          <a:xfrm>
            <a:off x="914400" y="1645920"/>
            <a:ext cx="7315200" cy="54864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4" name="Shape 2"/>
          <p:cNvSpPr/>
          <p:nvPr/>
        </p:nvSpPr>
        <p:spPr>
          <a:xfrm>
            <a:off x="914400" y="1600200"/>
            <a:ext cx="4846320" cy="1463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Shape 3"/>
          <p:cNvSpPr/>
          <p:nvPr/>
        </p:nvSpPr>
        <p:spPr>
          <a:xfrm>
            <a:off x="5760720" y="1600200"/>
            <a:ext cx="1188720" cy="14630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6" name="Shape 4"/>
          <p:cNvSpPr/>
          <p:nvPr/>
        </p:nvSpPr>
        <p:spPr>
          <a:xfrm>
            <a:off x="6949440" y="1600200"/>
            <a:ext cx="1280160" cy="146304"/>
          </a:xfrm>
          <a:prstGeom prst="rect">
            <a:avLst/>
          </a:prstGeom>
          <a:solidFill>
            <a:srgbClr val="D97706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325880" cy="2011680"/>
          </a:xfrm>
          <a:prstGeom prst="rect">
            <a:avLst/>
          </a:prstGeom>
          <a:solidFill>
            <a:srgbClr val="2563EB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0574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237744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CSV清洗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多编码回退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站点合并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14884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737360" y="1280160"/>
            <a:ext cx="1325880" cy="2011680"/>
          </a:xfrm>
          <a:prstGeom prst="rect">
            <a:avLst/>
          </a:prstGeom>
          <a:solidFill>
            <a:srgbClr val="1C7293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148840" y="146304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420" y="15316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20574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特征工程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737360" y="237744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38维特征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循环编码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风向分解</a:t>
            </a:r>
            <a:endParaRPr lang="en-US" sz="900" dirty="0"/>
          </a:p>
          <a:p>
            <a:endParaRPr sz="900"/>
          </a:p>
          <a:p>
            <a:endParaRPr sz="900">
              <a:solidFill>
                <a:srgbClr val="A0C8DC"/>
              </a:solidFill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148840"/>
            <a:ext cx="182880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200400" y="1280160"/>
            <a:ext cx="1325880" cy="2011680"/>
          </a:xfrm>
          <a:prstGeom prst="rect">
            <a:avLst/>
          </a:prstGeom>
          <a:solidFill>
            <a:srgbClr val="059669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611880" y="146304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5316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00400" y="20574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功率预测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3200400" y="237744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HistGBR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LightGBM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双模型对比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4884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663440" y="1280160"/>
            <a:ext cx="1325880" cy="2011680"/>
          </a:xfrm>
          <a:prstGeom prst="rect">
            <a:avLst/>
          </a:prstGeom>
          <a:solidFill>
            <a:srgbClr val="D97706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5074920" y="146304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53162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663440" y="20574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风险评分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4663440" y="237744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7因素加权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0-1归一化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风险分档</a:t>
            </a:r>
            <a:endParaRPr lang="en-US" sz="9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48840"/>
            <a:ext cx="182880" cy="18288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6126480" y="1280160"/>
            <a:ext cx="1325880" cy="2011680"/>
          </a:xfrm>
          <a:prstGeom prst="rect">
            <a:avLst/>
          </a:prstGeom>
          <a:solidFill>
            <a:srgbClr val="7C3AED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6537960" y="146304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1531620"/>
            <a:ext cx="320040" cy="3200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126480" y="20574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RL调度</a:t>
            </a:r>
            <a:endParaRPr lang="en-US" sz="1400" dirty="0"/>
          </a:p>
        </p:txBody>
      </p:sp>
      <p:sp>
        <p:nvSpPr>
          <p:cNvPr id="31" name="Text 20"/>
          <p:cNvSpPr/>
          <p:nvPr/>
        </p:nvSpPr>
        <p:spPr>
          <a:xfrm>
            <a:off x="6126480" y="237744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Q-Learning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DQN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GA/启发式</a:t>
            </a:r>
            <a:endParaRPr lang="en-US" sz="9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148840"/>
            <a:ext cx="182880" cy="18288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7589520" y="1280160"/>
            <a:ext cx="1325880" cy="2011680"/>
          </a:xfrm>
          <a:prstGeom prst="rect">
            <a:avLst/>
          </a:prstGeom>
          <a:solidFill>
            <a:srgbClr val="DC2626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8001000" y="146304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9580" y="1531620"/>
            <a:ext cx="320040" cy="32004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589520" y="20574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API+前端</a:t>
            </a:r>
            <a:endParaRPr lang="en-US" sz="1400" dirty="0"/>
          </a:p>
        </p:txBody>
      </p:sp>
      <p:sp>
        <p:nvSpPr>
          <p:cNvPr id="37" name="Text 24"/>
          <p:cNvSpPr/>
          <p:nvPr/>
        </p:nvSpPr>
        <p:spPr>
          <a:xfrm>
            <a:off x="7589520" y="237744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ECharts</a:t>
            </a:r>
            <a:endParaRPr lang="en-US" sz="900" dirty="0"/>
          </a:p>
        </p:txBody>
      </p:sp>
      <p:sp>
        <p:nvSpPr>
          <p:cNvPr id="38" name="Text 25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端到端闭环：原始气象数据 → 特征构建 → 双模型预测 → 风险量化 → 多策略调度优化 → Web可视化大屏</a:t>
            </a:r>
            <a:endParaRPr lang="en-US" sz="1200" dirty="0"/>
          </a:p>
        </p:txBody>
      </p:sp>
      <p:sp>
        <p:nvSpPr>
          <p:cNvPr id="39" name="Shape 26"/>
          <p:cNvSpPr/>
          <p:nvPr/>
        </p:nvSpPr>
        <p:spPr>
          <a:xfrm>
            <a:off x="548640" y="4023360"/>
            <a:ext cx="804672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27"/>
          <p:cNvSpPr/>
          <p:nvPr/>
        </p:nvSpPr>
        <p:spPr>
          <a:xfrm>
            <a:off x="548640" y="4023360"/>
            <a:ext cx="54864" cy="9144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1" name="Text 28"/>
          <p:cNvSpPr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HistGBR + LightGBM</a:t>
            </a:r>
            <a:endParaRPr lang="en-US" sz="1400" dirty="0"/>
          </a:p>
        </p:txBody>
      </p:sp>
      <p:sp>
        <p:nvSpPr>
          <p:cNvPr id="42" name="Text 29"/>
          <p:cNvSpPr/>
          <p:nvPr/>
        </p:nvSpPr>
        <p:spPr>
          <a:xfrm>
            <a:off x="731520" y="4434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预测模型</a:t>
            </a:r>
            <a:endParaRPr lang="en-US" sz="1000" dirty="0"/>
          </a:p>
        </p:txBody>
      </p:sp>
      <p:sp>
        <p:nvSpPr>
          <p:cNvPr id="43" name="Text 30"/>
          <p:cNvSpPr/>
          <p:nvPr/>
        </p:nvSpPr>
        <p:spPr>
          <a:xfrm>
            <a:off x="2743200" y="4114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Q-Learning + DQN</a:t>
            </a:r>
            <a:endParaRPr lang="en-US" sz="1400" dirty="0"/>
          </a:p>
        </p:txBody>
      </p:sp>
      <p:sp>
        <p:nvSpPr>
          <p:cNvPr id="44" name="Text 31"/>
          <p:cNvSpPr/>
          <p:nvPr/>
        </p:nvSpPr>
        <p:spPr>
          <a:xfrm>
            <a:off x="2743200" y="4434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RL调度算法</a:t>
            </a:r>
            <a:endParaRPr lang="en-US" sz="1000" dirty="0"/>
          </a:p>
        </p:txBody>
      </p:sp>
      <p:sp>
        <p:nvSpPr>
          <p:cNvPr id="45" name="Text 32"/>
          <p:cNvSpPr/>
          <p:nvPr/>
        </p:nvSpPr>
        <p:spPr>
          <a:xfrm>
            <a:off x="4754880" y="4114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启发式 + GA</a:t>
            </a:r>
            <a:endParaRPr lang="en-US" sz="1400" dirty="0"/>
          </a:p>
        </p:txBody>
      </p:sp>
      <p:sp>
        <p:nvSpPr>
          <p:cNvPr id="46" name="Text 33"/>
          <p:cNvSpPr/>
          <p:nvPr/>
        </p:nvSpPr>
        <p:spPr>
          <a:xfrm>
            <a:off x="4754880" y="4434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对比基线</a:t>
            </a:r>
            <a:endParaRPr lang="en-US" sz="1000" dirty="0"/>
          </a:p>
        </p:txBody>
      </p:sp>
      <p:sp>
        <p:nvSpPr>
          <p:cNvPr id="47" name="Text 34"/>
          <p:cNvSpPr/>
          <p:nvPr/>
        </p:nvSpPr>
        <p:spPr>
          <a:xfrm>
            <a:off x="6766560" y="4114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+ Vue 3</a:t>
            </a:r>
            <a:endParaRPr lang="en-US" sz="1400" dirty="0"/>
          </a:p>
        </p:txBody>
      </p:sp>
      <p:sp>
        <p:nvSpPr>
          <p:cNvPr id="48" name="Text 35"/>
          <p:cNvSpPr/>
          <p:nvPr/>
        </p:nvSpPr>
        <p:spPr>
          <a:xfrm>
            <a:off x="6766560" y="4434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前后端技术栈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2"/>
          <p:cNvSpPr/>
          <p:nvPr/>
        </p:nvSpPr>
        <p:spPr>
          <a:xfrm>
            <a:off x="4846320" y="2460625"/>
            <a:ext cx="4114800" cy="871855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Rectangle 34"/>
          <p:cNvSpPr/>
          <p:nvPr/>
        </p:nvSpPr>
        <p:spPr>
          <a:xfrm>
            <a:off x="499745" y="3305175"/>
            <a:ext cx="4114800" cy="1566545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特征工程 — 从原始气象到38维特征矩阵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143000"/>
            <a:ext cx="54864" cy="1737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1097280" y="12801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循环编码（时间特征）</a:t>
            </a:r>
            <a:endParaRPr lang="en-US" sz="1400" b="1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小时/年天用 sin(2π·h/24) 和 cos 编码，保留23时与0时相邻关系，消除角度跳变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2585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46320" y="1143000"/>
            <a:ext cx="4114800" cy="1168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143000"/>
            <a:ext cx="54864" cy="1737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5" name="Text 11"/>
          <p:cNvSpPr/>
          <p:nvPr>
            <p:custDataLst>
              <p:tags r:id="rId3"/>
            </p:custDataLst>
          </p:nvPr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风向量分解（U/V分量）</a:t>
            </a:r>
            <a:endParaRPr lang="en-US" sz="1400" b="1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2"/>
          <p:cNvSpPr/>
          <p:nvPr>
            <p:custDataLst>
              <p:tags r:id="rId4"/>
            </p:custDataLst>
          </p:nvPr>
        </p:nvSpPr>
        <p:spPr>
          <a:xfrm>
            <a:off x="5029200" y="169164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风向角度0°和360°指向同方向但数值差360。U = speed×cos(θ), V = speed×sin(θ) 消除跳变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3017520"/>
            <a:ext cx="4114800" cy="3124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>
            <p:custDataLst>
              <p:tags r:id="rId5"/>
            </p:custDataLst>
          </p:nvPr>
        </p:nvSpPr>
        <p:spPr>
          <a:xfrm>
            <a:off x="457200" y="2880360"/>
            <a:ext cx="54864" cy="1737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3" name="Text 18"/>
          <p:cNvSpPr/>
          <p:nvPr/>
        </p:nvSpPr>
        <p:spPr>
          <a:xfrm>
            <a:off x="1106170" y="231013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滚动统计 + 差分特征</a:t>
            </a:r>
            <a:endParaRPr lang="en-US" sz="1400" dirty="0"/>
          </a:p>
        </p:txBody>
      </p:sp>
      <p:sp>
        <p:nvSpPr>
          <p:cNvPr id="24" name="Text 19"/>
          <p:cNvSpPr/>
          <p:nvPr>
            <p:custDataLst>
              <p:tags r:id="rId6"/>
            </p:custDataLst>
          </p:nvPr>
        </p:nvSpPr>
        <p:spPr>
          <a:xfrm>
            <a:off x="648970" y="2304415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4步(1h)/8步(2h)/12步(3h)滑动均值捕捉趋势；一阶差分捕捉风速/湿度突变信号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02640" y="38714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5"/>
          <p:cNvSpPr/>
          <p:nvPr>
            <p:custDataLst>
              <p:tags r:id="rId7"/>
            </p:custDataLst>
          </p:nvPr>
        </p:nvSpPr>
        <p:spPr>
          <a:xfrm>
            <a:off x="5449570" y="23114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滞后功率特征（精度核心）</a:t>
            </a:r>
            <a:endParaRPr lang="en-US" sz="1400" b="1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26"/>
          <p:cNvSpPr/>
          <p:nvPr>
            <p:custDataLst>
              <p:tags r:id="rId8"/>
            </p:custDataLst>
          </p:nvPr>
        </p:nvSpPr>
        <p:spPr>
          <a:xfrm>
            <a:off x="4983480" y="2642870"/>
            <a:ext cx="374904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前15min/1h/2h/6h的功率比作为输入，利用风机惯性——15分钟前功率是预测当前功率的最强信号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120640" y="328980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Rectangle 36"/>
          <p:cNvSpPr/>
          <p:nvPr/>
        </p:nvSpPr>
        <p:spPr>
          <a:xfrm>
            <a:off x="674345" y="3360745"/>
            <a:ext cx="37148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物理计算与空气动力学</a:t>
            </a:r>
            <a:r>
              <a:rPr lang="zh-CN" alt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特征</a:t>
            </a:r>
            <a:endParaRPr lang="zh-CN" altLang="en-US" sz="1400" b="1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79745" y="3751860"/>
            <a:ext cx="3554800" cy="2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风切变(wind_shear) = 100m风速 − 10m风速，反映风速随高度变化梯度</a:t>
            </a:r>
            <a:endParaRPr lang="en-US"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79745" y="4044880"/>
            <a:ext cx="3554800" cy="2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空气密度(air_density) = P/(R·T)，由气压和温度通过理想气体定律推导</a:t>
            </a:r>
            <a:endParaRPr lang="en-US"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79745" y="4304880"/>
            <a:ext cx="3554800" cy="2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B4C8D7"/>
                </a:solidFill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风功率密度 = 0.5×ρ×v³，衡量单位面积风能资源潜力</a:t>
            </a:r>
            <a:endParaRPr lang="en-US"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79745" y="4564880"/>
            <a:ext cx="3554800" cy="2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湍流强度 = 风速标准差/均值，量化风的稳定性与间歇性</a:t>
            </a:r>
            <a:endParaRPr lang="en-US"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846320" y="3539830"/>
            <a:ext cx="4114800" cy="1700000"/>
          </a:xfrm>
          <a:prstGeom prst="rect">
            <a:avLst/>
          </a:prstGeom>
          <a:noFill/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46320" y="3367095"/>
            <a:ext cx="37148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站点独热编码与原始气象特</a:t>
            </a:r>
            <a:r>
              <a:rPr lang="zh-CN" alt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征</a:t>
            </a:r>
            <a:endParaRPr lang="zh-CN" altLang="en-US" sz="1400" b="1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126320" y="3815995"/>
            <a:ext cx="3554800" cy="2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5个风场(f1~f5) 各分配一列独热编码(site_f1..f5)，让模型感知站点差异</a:t>
            </a:r>
            <a:endParaRPr lang="en-US"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126320" y="4173785"/>
            <a:ext cx="3554800" cy="2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原始气象特征(10维): 气压、湿度、云量、降水量、辐照度、10m/100m风速风向</a:t>
            </a:r>
            <a:endParaRPr lang="en-US"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126320" y="4464265"/>
            <a:ext cx="3554800" cy="2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摄氏温度 = 开尔文温度 − 273.15，便于模型理解</a:t>
            </a:r>
            <a:endParaRPr lang="en-US" sz="11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4846320" y="2872105"/>
            <a:ext cx="54864" cy="1737360"/>
          </a:xfrm>
          <a:prstGeom prst="rect">
            <a:avLst/>
          </a:prstGeom>
          <a:solidFill>
            <a:srgbClr val="14B8A6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功率预测 — 梯度提升树双模型对比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389120" cy="23774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2377440"/>
          </a:xfrm>
          <a:prstGeom prst="rect">
            <a:avLst/>
          </a:prstGeom>
          <a:solidFill>
            <a:srgbClr val="065A8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梯度提升（Gradient Boosting）原理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9319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第1棵树: 预测功率 ≈ 40 MW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误差 = 实际52 - 预测40 = +12 MW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第2棵树: 学习修正这个 +12 误差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第3棵树: 修正第2棵树剩下的误差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……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最终预测 = 树1 + 树2 + 树3 + … ≈ 52 MW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核心思想：后一棵树专门学习前面所有树的总误差，逐棵累加逼近真实值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1143000"/>
            <a:ext cx="3474720" cy="23774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12080" y="1143000"/>
            <a:ext cx="54864" cy="237744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0" name="Text 7"/>
          <p:cNvSpPr/>
          <p:nvPr/>
        </p:nvSpPr>
        <p:spPr>
          <a:xfrm>
            <a:off x="5394960" y="1280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双模型对比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94960" y="1783080"/>
            <a:ext cx="31089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HistGBR (sklearn)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直方图加速 · 原生处理缺失值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lr=0.05, depth=8, iter=200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LightGBM (微软)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GOSS+EFB采样 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lr=0.03, depth=10, iter=300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两者同属GBDT，工程优化手段不同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749040"/>
            <a:ext cx="54864" cy="118872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4" name="Text 11"/>
          <p:cNvSpPr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验证集精度评估 (训练集后20%时间段, 有真实功率可对比) — R²=0.99, 模型可解释99%以上功率变化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320040" cy="32004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" y="4254246"/>
            <a:ext cx="224028" cy="2240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4160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51560" y="43891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HistGBR: 2.51 MW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697480" y="4206240"/>
            <a:ext cx="320040" cy="32004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486" y="4254246"/>
            <a:ext cx="224028" cy="2240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108960" y="4160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108960" y="43891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5.73 MW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4206240"/>
            <a:ext cx="320040" cy="32004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2886" y="4254246"/>
            <a:ext cx="224028" cy="2240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4160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166360" y="43891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 %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812280" y="4206240"/>
            <a:ext cx="320040" cy="32004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286" y="4254246"/>
            <a:ext cx="224028" cy="2240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23760" y="4160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223760" y="43891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风险评分系统 — 7因素加权量化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34440"/>
            <a:ext cx="7406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风险评分 = 0.28×风速突变 + 0.18×降水 + 0.14×高风速 + 0.12×密度异常 + 0.08×云量 + 0.12×站点历史误差 + 0.08×高出力压力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691640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各项先用 P95 分位数归一化到 [0,1]，再按权重求和。分数越高 → 调度风险越大 → 建议保守策略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196596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423160"/>
            <a:ext cx="54864" cy="1188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Shape 7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" y="2558491"/>
            <a:ext cx="204826" cy="204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4688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" y="28803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风速突变 (ramp)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1546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15分钟风速变化幅度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606040" y="2423160"/>
            <a:ext cx="196596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606040" y="2423160"/>
            <a:ext cx="54864" cy="1188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7" name="Shape 13"/>
          <p:cNvSpPr/>
          <p:nvPr/>
        </p:nvSpPr>
        <p:spPr>
          <a:xfrm>
            <a:off x="2697480" y="2514600"/>
            <a:ext cx="292608" cy="292608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371" y="2558491"/>
            <a:ext cx="204826" cy="20482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63240" y="24688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697480" y="28803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降水极端值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697480" y="31546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暴雨淹没风险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754880" y="2423160"/>
            <a:ext cx="196596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423160"/>
            <a:ext cx="54864" cy="1188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4" name="Shape 19"/>
          <p:cNvSpPr/>
          <p:nvPr/>
        </p:nvSpPr>
        <p:spPr>
          <a:xfrm>
            <a:off x="4846320" y="2514600"/>
            <a:ext cx="292608" cy="292608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11" y="2558491"/>
            <a:ext cx="204826" cy="20482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12080" y="24688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14%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846320" y="28803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100m高风速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46320" y="31546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超额定风速风险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903720" y="2423160"/>
            <a:ext cx="196596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903720" y="2423160"/>
            <a:ext cx="54864" cy="1188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1" name="Shape 25"/>
          <p:cNvSpPr/>
          <p:nvPr/>
        </p:nvSpPr>
        <p:spPr>
          <a:xfrm>
            <a:off x="6995160" y="2514600"/>
            <a:ext cx="292608" cy="292608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051" y="2558491"/>
            <a:ext cx="204826" cy="20482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60920" y="24688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12%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995160" y="28803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空气密度异常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995160" y="31546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大气不稳定度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57200" y="3749040"/>
            <a:ext cx="196596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57200" y="3749040"/>
            <a:ext cx="54864" cy="1188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8" name="Shape 31"/>
          <p:cNvSpPr/>
          <p:nvPr/>
        </p:nvSpPr>
        <p:spPr>
          <a:xfrm>
            <a:off x="548640" y="3840480"/>
            <a:ext cx="292608" cy="292608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" y="3884371"/>
            <a:ext cx="204826" cy="20482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1440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548640" y="42062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云量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548640" y="448056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天气阴晴程度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2606040" y="3749040"/>
            <a:ext cx="196596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2606040" y="3749040"/>
            <a:ext cx="54864" cy="1188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5" name="Shape 37"/>
          <p:cNvSpPr/>
          <p:nvPr/>
        </p:nvSpPr>
        <p:spPr>
          <a:xfrm>
            <a:off x="2697480" y="3840480"/>
            <a:ext cx="292608" cy="292608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1371" y="3884371"/>
            <a:ext cx="204826" cy="20482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306324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12%</a:t>
            </a:r>
            <a:endParaRPr lang="en-US" sz="1600" dirty="0"/>
          </a:p>
        </p:txBody>
      </p:sp>
      <p:sp>
        <p:nvSpPr>
          <p:cNvPr id="48" name="Text 39"/>
          <p:cNvSpPr/>
          <p:nvPr/>
        </p:nvSpPr>
        <p:spPr>
          <a:xfrm>
            <a:off x="2697480" y="42062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站点历史误差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2697480" y="448056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模型不可靠区域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4754880" y="3749040"/>
            <a:ext cx="196596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4754880" y="3749040"/>
            <a:ext cx="54864" cy="1188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2" name="Shape 43"/>
          <p:cNvSpPr/>
          <p:nvPr/>
        </p:nvSpPr>
        <p:spPr>
          <a:xfrm>
            <a:off x="4846320" y="3840480"/>
            <a:ext cx="292608" cy="292608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0211" y="3884371"/>
            <a:ext cx="204826" cy="204826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21208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1600" dirty="0"/>
          </a:p>
        </p:txBody>
      </p:sp>
      <p:sp>
        <p:nvSpPr>
          <p:cNvPr id="55" name="Text 45"/>
          <p:cNvSpPr/>
          <p:nvPr/>
        </p:nvSpPr>
        <p:spPr>
          <a:xfrm>
            <a:off x="4846320" y="42062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高出力压力</a:t>
            </a:r>
            <a:endParaRPr lang="en-US" sz="1200" dirty="0"/>
          </a:p>
        </p:txBody>
      </p:sp>
      <p:sp>
        <p:nvSpPr>
          <p:cNvPr id="56" name="Text 46"/>
          <p:cNvSpPr/>
          <p:nvPr/>
        </p:nvSpPr>
        <p:spPr>
          <a:xfrm>
            <a:off x="4846320" y="448056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&gt;55%容量时的并网压力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强化学习调度 — 动作空间与奖励函数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65960" cy="2194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21945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5029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6" name="Text 4"/>
          <p:cNvSpPr/>
          <p:nvPr/>
        </p:nvSpPr>
        <p:spPr>
          <a:xfrm>
            <a:off x="365760" y="10972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积极并网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×1.04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低风险时追求最大收益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预留3% · 维护2%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965960" cy="2194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97280"/>
            <a:ext cx="54864" cy="21945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Shape 10"/>
          <p:cNvSpPr/>
          <p:nvPr/>
        </p:nvSpPr>
        <p:spPr>
          <a:xfrm>
            <a:off x="2514600" y="1097280"/>
            <a:ext cx="196596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2514600" y="10972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平衡调度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17830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×0.96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51760" y="228600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收益与安全的均衡点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5603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预留8% · 维护3%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1965960" cy="2194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97280"/>
            <a:ext cx="54864" cy="21945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9" name="Shape 17"/>
          <p:cNvSpPr/>
          <p:nvPr/>
        </p:nvSpPr>
        <p:spPr>
          <a:xfrm>
            <a:off x="4663440" y="1097280"/>
            <a:ext cx="1965960" cy="5029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0" name="Text 18"/>
          <p:cNvSpPr/>
          <p:nvPr/>
        </p:nvSpPr>
        <p:spPr>
          <a:xfrm>
            <a:off x="4663440" y="10972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保守预留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7830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×0.86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波动增强时保留裕度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5603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预留18% · 维护5%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1097280"/>
            <a:ext cx="1965960" cy="2194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1097280"/>
            <a:ext cx="54864" cy="21945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6" name="Shape 24"/>
          <p:cNvSpPr/>
          <p:nvPr/>
        </p:nvSpPr>
        <p:spPr>
          <a:xfrm>
            <a:off x="6812280" y="1097280"/>
            <a:ext cx="1965960" cy="5029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7" name="Text 25"/>
          <p:cNvSpPr/>
          <p:nvPr/>
        </p:nvSpPr>
        <p:spPr>
          <a:xfrm>
            <a:off x="6812280" y="10972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风险巡检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17830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×0.78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949440" y="228600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极端天气保障设备安全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25603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预留25% · 维护12%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566160"/>
            <a:ext cx="2425065" cy="1417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566160"/>
            <a:ext cx="54864" cy="141732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320040" cy="3200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36576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分时电价机制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31520" y="4023360"/>
            <a:ext cx="40233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尖峰 (8-11, 18-21时): 1.20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平段 (6-7, 12-17时): 1.00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低谷 (22-7时): 0.75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926080" y="3566160"/>
            <a:ext cx="5852160" cy="1417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926080" y="3566160"/>
            <a:ext cx="54864" cy="14173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8" name="Text 35"/>
          <p:cNvSpPr/>
          <p:nvPr/>
        </p:nvSpPr>
        <p:spPr>
          <a:xfrm>
            <a:off x="3108960" y="35661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奖励函数 (6部分)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108960" y="3840480"/>
            <a:ext cx="2926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售电收入 = delivered × 电价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缺口惩罚 = shortfall × (1.4 + 3×风险)</a:t>
            </a:r>
            <a:endParaRPr 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弃风惩罚 = curtailment × 0.55</a:t>
            </a:r>
            <a:endParaRPr lang="en-US" sz="14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069330" y="3840480"/>
            <a:ext cx="2926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④ 不稳定惩罚 ∝ 容量 × 敞口 × 风险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⑤ 维护成本 = 容量 × 维护系数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⑥ 预留奖励 ∝ 容量 × 预留 × (风险-0.35)</a:t>
            </a:r>
            <a:endParaRPr lang="en-US" sz="14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Q-Learning — 表格型强化学习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5544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344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状态离散化（5维 → Q表索引）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7490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站点编号: 0~4 (5个风场)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预测功率档: dig[0.20, 0.45, 0.70] → 0~3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风险档: dig[0.20, 0.45, 0.70] → 0~3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风速突变档: dig[0.6, 1.5] → 0~2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时段档: hour // 6 → 0~3 (凌晨/上午/下午/夜间)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状态总数 ≈ 5×4×4×3×4 = 960种组合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15544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097280"/>
            <a:ext cx="54864" cy="15544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0" name="Text 7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Q表示例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645920"/>
            <a:ext cx="34747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状态                        | 积极 | 平衡 | 保守 | 巡检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(f1, 高功率, 低风险, 平缓, 上午) | 5200 | 4800 | 4100 | 3200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(f1, 中功率, 高风险, 突变, 下午) | -800 | 1200 | 3500 | 4100</a:t>
            </a:r>
            <a:endParaRPr lang="en-US" sz="8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低风险选积极并网，高风险选风险巡检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3040380"/>
            <a:ext cx="548640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040380"/>
            <a:ext cx="54864" cy="10972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4" name="Text 11"/>
          <p:cNvSpPr/>
          <p:nvPr/>
        </p:nvSpPr>
        <p:spPr>
          <a:xfrm>
            <a:off x="640080" y="3131820"/>
            <a:ext cx="50292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Q(s,a) ← Q(s,a) + α × [ r + γ × max Q(s',a') − Q(s,a) 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旧Q值 + 学习率α × (即时奖励r + 折扣γ×未来最优值 − 旧Q值)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实际奖励比预期好就提高Q值，比预期差就降低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3040380"/>
            <a:ext cx="246888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040380"/>
            <a:ext cx="54864" cy="10972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7" name="Text 14"/>
          <p:cNvSpPr/>
          <p:nvPr/>
        </p:nvSpPr>
        <p:spPr>
          <a:xfrm>
            <a:off x="6400800" y="31318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ε-贪心策略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3497580"/>
            <a:ext cx="21031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ε概率: 随机尝试新动作（探索）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1-ε概率: 选Q值最高的（利用）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ε从0.30衰减到0.05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先多探索找好策略，后多利用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DQN — 深度Q网络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5824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48310" y="1199515"/>
            <a:ext cx="54864" cy="137160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344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为什么需要 DQN？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749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Q-Learning 用表格存Q值 → 状态多了表格爆炸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很多状态从未见过 → 查表时全是0 → 无法泛化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DQN方案：用神经网络替代Q表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输入：状态(one-hot编码) → MLP → 输出：4个Q值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15824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148080"/>
            <a:ext cx="54864" cy="13716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0" name="Text 7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网络架构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554480"/>
            <a:ext cx="34747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输入层: one-hot状态 (N站+15维)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隐藏层1: 128维 + ReLU激活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隐藏层2: 128维 + ReLU激活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输出层: 4维 (4个动作的Q值)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损失函数: SmoothL1 (Huber Loss)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优化器: Adam (lr=0.0003)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2651760" cy="14630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063240"/>
            <a:ext cx="54864" cy="146304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4" name="Shape 11"/>
          <p:cNvSpPr/>
          <p:nvPr/>
        </p:nvSpPr>
        <p:spPr>
          <a:xfrm>
            <a:off x="594360" y="3108960"/>
            <a:ext cx="320040" cy="32004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" y="3156966"/>
            <a:ext cx="224028" cy="2240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31089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DQN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347472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策略网络选动作，目标网络打分。两人分权，防止'自我欺骗'——Q值高估是DQN的老毛病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91840" y="3063240"/>
            <a:ext cx="2651760" cy="14630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91840" y="3063240"/>
            <a:ext cx="54864" cy="146304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0" name="Shape 16"/>
          <p:cNvSpPr/>
          <p:nvPr/>
        </p:nvSpPr>
        <p:spPr>
          <a:xfrm>
            <a:off x="3429000" y="3108960"/>
            <a:ext cx="320040" cy="32004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006" y="3156966"/>
            <a:ext cx="224028" cy="2240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40480" y="31089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软更新 (Soft Update)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429000" y="347472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θ_target ← 0.005×θ_policy + 0.995×θ_target。舵不一把打满，慢慢转，训练更稳定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126480" y="3063240"/>
            <a:ext cx="2651760" cy="14630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26480" y="3063240"/>
            <a:ext cx="54864" cy="146304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6" name="Shape 21"/>
          <p:cNvSpPr/>
          <p:nvPr/>
        </p:nvSpPr>
        <p:spPr>
          <a:xfrm>
            <a:off x="6263640" y="3108960"/>
            <a:ext cx="320040" cy="320040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646" y="3156966"/>
            <a:ext cx="224028" cy="22402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75120" y="31089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经验回放 (Experience Replay)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263640" y="347472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缓存50,000条经验，随机采样学习。不按时间顺序刷题，随机抽各章节的题，知识更牢固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多算法调度策略对比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97480" cy="1691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1691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365760" y="10515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实验24 · 表格型RL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从数据学习最优Q表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ε-贪心平衡探索与利用</a:t>
            </a:r>
            <a:endParaRPr lang="en-US" sz="1100" dirty="0"/>
          </a:p>
          <a:p>
            <a:r>
              <a:rPr sz="900" b="1">
                <a:solidFill>
                  <a:srgbClr val="FFB43C"/>
                </a:solidFill>
              </a:rPr>
              <a:t>avg_reward: 2,139.98</a:t>
            </a:r>
            <a:endParaRPr sz="900" b="1">
              <a:solidFill>
                <a:srgbClr val="FFB43C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1691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54864" cy="16916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1" name="Shape 9"/>
          <p:cNvSpPr/>
          <p:nvPr/>
        </p:nvSpPr>
        <p:spPr>
          <a:xfrm>
            <a:off x="3246120" y="1051560"/>
            <a:ext cx="2697480" cy="4114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10"/>
          <p:cNvSpPr/>
          <p:nvPr/>
        </p:nvSpPr>
        <p:spPr>
          <a:xfrm>
            <a:off x="3246120" y="10515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DQN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实验25 · 神经网络RL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DQN + 软更新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泛化能力强，训练稳定</a:t>
            </a:r>
            <a:endParaRPr lang="en-US" sz="1100" dirty="0"/>
          </a:p>
          <a:p>
            <a:r>
              <a:rPr sz="900" b="1">
                <a:solidFill>
                  <a:srgbClr val="00C864"/>
                </a:solidFill>
              </a:rPr>
              <a:t>avg_reward: 2,378.79 (最优!)</a:t>
            </a:r>
            <a:endParaRPr sz="900" b="1">
              <a:solidFill>
                <a:srgbClr val="00C864"/>
              </a:solidFill>
            </a:endParaRPr>
          </a:p>
          <a:p>
            <a:r>
              <a:rPr sz="900" b="1">
                <a:solidFill>
                  <a:srgbClr val="00C864"/>
                </a:solidFill>
              </a:rPr>
              <a:t>事故率: 0.39%</a:t>
            </a:r>
            <a:endParaRPr sz="900" b="1">
              <a:solidFill>
                <a:srgbClr val="00C864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97480" cy="1691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51560"/>
            <a:ext cx="54864" cy="169164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7" name="Shape 15"/>
          <p:cNvSpPr/>
          <p:nvPr/>
        </p:nvSpPr>
        <p:spPr>
          <a:xfrm>
            <a:off x="6126480" y="1051560"/>
            <a:ext cx="2697480" cy="4114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8" name="Text 16"/>
          <p:cNvSpPr/>
          <p:nvPr/>
        </p:nvSpPr>
        <p:spPr>
          <a:xfrm>
            <a:off x="6126480" y="10515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启发式搜索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实验18 · 规则+局部优化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182880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风险优先原则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低风险时平滑动作切换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2697480" cy="1691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3" name="Shape 21"/>
          <p:cNvSpPr/>
          <p:nvPr/>
        </p:nvSpPr>
        <p:spPr>
          <a:xfrm>
            <a:off x="365760" y="2926080"/>
            <a:ext cx="2697480" cy="4114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4" name="Text 22"/>
          <p:cNvSpPr/>
          <p:nvPr/>
        </p:nvSpPr>
        <p:spPr>
          <a:xfrm>
            <a:off x="365760" y="292608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遗传算法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3429000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实验19 · 进化搜索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70332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动作序列编码为染色体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选择·交叉·变异·精英保留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926080"/>
            <a:ext cx="2697480" cy="1691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926080"/>
            <a:ext cx="54864" cy="169164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9" name="Shape 27"/>
          <p:cNvSpPr/>
          <p:nvPr/>
        </p:nvSpPr>
        <p:spPr>
          <a:xfrm>
            <a:off x="3246120" y="2926080"/>
            <a:ext cx="2697480" cy="4114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0" name="Text 28"/>
          <p:cNvSpPr/>
          <p:nvPr/>
        </p:nvSpPr>
        <p:spPr>
          <a:xfrm>
            <a:off x="3246120" y="292608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激进基线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3429000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基线 · 固定策略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370332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始终积极并网×1.04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收益最高但事故率也最高</a:t>
            </a:r>
            <a:endParaRPr lang="en-US" sz="1100" dirty="0"/>
          </a:p>
          <a:p>
            <a:r>
              <a:rPr sz="900" b="1">
                <a:solidFill>
                  <a:srgbClr val="FF6464"/>
                </a:solidFill>
              </a:rPr>
              <a:t>avg_reward: 1,179.2</a:t>
            </a:r>
            <a:endParaRPr sz="900" b="1">
              <a:solidFill>
                <a:srgbClr val="FF6464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26480" y="2926080"/>
            <a:ext cx="2697480" cy="1691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926080"/>
            <a:ext cx="54864" cy="16916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5" name="Shape 33"/>
          <p:cNvSpPr/>
          <p:nvPr/>
        </p:nvSpPr>
        <p:spPr>
          <a:xfrm>
            <a:off x="6126480" y="2926080"/>
            <a:ext cx="2697480" cy="41148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6" name="Text 34"/>
          <p:cNvSpPr/>
          <p:nvPr/>
        </p:nvSpPr>
        <p:spPr>
          <a:xfrm>
            <a:off x="6126480" y="292608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保守基线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63640" y="3429000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基线 · 固定策略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370332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风险≥0.45时保守预留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事故率低但收益也低</a:t>
            </a:r>
            <a:endParaRPr lang="en-US" sz="1100" dirty="0"/>
          </a:p>
          <a:p>
            <a:r>
              <a:rPr sz="900" b="1">
                <a:solidFill>
                  <a:srgbClr val="FF9664"/>
                </a:solidFill>
              </a:rPr>
              <a:t>avg_reward: --</a:t>
            </a:r>
            <a:endParaRPr sz="900" b="1">
              <a:solidFill>
                <a:srgbClr val="FF9664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617720"/>
            <a:ext cx="54864" cy="365760"/>
          </a:xfrm>
          <a:prstGeom prst="rect">
            <a:avLst/>
          </a:prstGeom>
          <a:solidFill>
            <a:srgbClr val="14B8A6"/>
          </a:solidFill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63440"/>
            <a:ext cx="228600" cy="228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005840" y="4663440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算法演进: 固定规则 → 启发式 → 遗传算法 → Q-Learning(2139) → DQN(2378)。DQN较基线(积极并网=1179)提升+101%, 事故率仅0.39%, 实现收益与安全的最佳平衡。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系统演示 — 总览大屏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【截图占位】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请截取 Overview 总览大屏全页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包含：汇总卡片 · 验证集精度 · 策略对比矩阵 · 风险热区 · 算法仿真对比 · 数据时间线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4160520"/>
            <a:ext cx="54864" cy="822960"/>
          </a:xfrm>
          <a:prstGeom prst="rect">
            <a:avLst/>
          </a:prstGeom>
          <a:solidFill>
            <a:srgbClr val="1C7293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429768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总览大屏是系统的核心仪表盘，集中展示验证集精度分析、数据时间线说明、风险热区分布、多策略横向对比矩阵和算法仿真对比结果</a:t>
            </a:r>
            <a:endParaRPr lang="en-US" sz="11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5" y="804545"/>
            <a:ext cx="5751830" cy="3398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系统演示 — 站点驾驶舱 &amp; 算法实验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/sites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48840" y="18516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457200" y="24460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【截图占位】</a:t>
            </a:r>
            <a:endParaRPr lang="en-US" sz="12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457200" y="27203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站点驾驶舱截图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预测vs实际功率曲线 + 风险带 + 日汇总</a:t>
            </a:r>
            <a:endParaRPr lang="en-US" sz="9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457200" y="3657600"/>
            <a:ext cx="3931920" cy="13258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457200" y="3657600"/>
            <a:ext cx="54864" cy="1325880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0080" y="3794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1051560" y="37947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站点驾驶舱</a:t>
            </a:r>
            <a:endParaRPr lang="en-US" sz="14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640080" y="416052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风场地图 + 站点切换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预测 vs 真实功率时序对比曲线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风险带 + 日汇总统计表格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高风险窗口 Top 10 标注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0" y="7772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/experiments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46520" y="18516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2"/>
            </p:custDataLst>
          </p:nvPr>
        </p:nvSpPr>
        <p:spPr>
          <a:xfrm>
            <a:off x="4754880" y="24460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【截图占位】</a:t>
            </a:r>
            <a:endParaRPr lang="en-US" sz="1200" dirty="0"/>
          </a:p>
        </p:txBody>
      </p:sp>
      <p:sp>
        <p:nvSpPr>
          <p:cNvPr id="17" name="Text 12"/>
          <p:cNvSpPr/>
          <p:nvPr>
            <p:custDataLst>
              <p:tags r:id="rId13"/>
            </p:custDataLst>
          </p:nvPr>
        </p:nvSpPr>
        <p:spPr>
          <a:xfrm>
            <a:off x="4754880" y="27203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算法实验页截图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多策略对比卡片 + 调度功率 vs 实际功率</a:t>
            </a:r>
            <a:endParaRPr lang="en-US" sz="900" dirty="0"/>
          </a:p>
        </p:txBody>
      </p:sp>
      <p:sp>
        <p:nvSpPr>
          <p:cNvPr id="18" name="Shape 13"/>
          <p:cNvSpPr/>
          <p:nvPr>
            <p:custDataLst>
              <p:tags r:id="rId14"/>
            </p:custDataLst>
          </p:nvPr>
        </p:nvSpPr>
        <p:spPr>
          <a:xfrm>
            <a:off x="4754880" y="3657600"/>
            <a:ext cx="3931920" cy="13258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>
            <p:custDataLst>
              <p:tags r:id="rId15"/>
            </p:custDataLst>
          </p:nvPr>
        </p:nvSpPr>
        <p:spPr>
          <a:xfrm>
            <a:off x="4754880" y="3657600"/>
            <a:ext cx="54864" cy="132588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20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937760" y="37947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>
            <p:custDataLst>
              <p:tags r:id="rId18"/>
            </p:custDataLst>
          </p:nvPr>
        </p:nvSpPr>
        <p:spPr>
          <a:xfrm>
            <a:off x="5349240" y="37947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算法实验页</a:t>
            </a:r>
            <a:endParaRPr lang="en-US" sz="1400" dirty="0"/>
          </a:p>
        </p:txBody>
      </p:sp>
      <p:sp>
        <p:nvSpPr>
          <p:cNvPr id="22" name="Text 16"/>
          <p:cNvSpPr/>
          <p:nvPr>
            <p:custDataLst>
              <p:tags r:id="rId19"/>
            </p:custDataLst>
          </p:nvPr>
        </p:nvSpPr>
        <p:spPr>
          <a:xfrm>
            <a:off x="4937760" y="416052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多策略横向对比矩阵（6种算法）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调度功率 vs 实际功率逐点对比图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各策略累计收益 / 事故率 / 能量利用率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可自定义算法接入的实验框架</a:t>
            </a:r>
            <a:endParaRPr lang="en-US" sz="1000" dirty="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287020" y="1079500"/>
            <a:ext cx="4271645" cy="241363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36465" y="1072515"/>
            <a:ext cx="4732020" cy="2420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系统演示 — 智能问答 &amp; 预测上传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/agent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48840" y="18516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457200" y="24460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【截图占位】</a:t>
            </a:r>
            <a:endParaRPr lang="en-US" sz="12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457200" y="27203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智能体中心截图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LLM 问答界面 + 快捷提问按钮</a:t>
            </a:r>
            <a:endParaRPr lang="en-US" sz="9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457200" y="3657600"/>
            <a:ext cx="3931920" cy="13258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457200" y="3657600"/>
            <a:ext cx="54864" cy="1325880"/>
          </a:xfrm>
          <a:prstGeom prst="rect">
            <a:avLst/>
          </a:prstGeom>
          <a:solidFill>
            <a:srgbClr val="059669"/>
          </a:solidFill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0080" y="3794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1051560" y="37947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智能体中心</a:t>
            </a:r>
            <a:endParaRPr lang="en-US" sz="14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640080" y="416052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Ollama LLM 本地模型优先问答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不可用时自动回退内置规则问答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支持预测/风险/调度/站点等话题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一键导出 CSV / JSON 数据报告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0" y="7772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/prediction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46520" y="18516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2"/>
            </p:custDataLst>
          </p:nvPr>
        </p:nvSpPr>
        <p:spPr>
          <a:xfrm>
            <a:off x="4754880" y="24460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【截图占位】</a:t>
            </a:r>
            <a:endParaRPr lang="en-US" sz="1200" dirty="0"/>
          </a:p>
        </p:txBody>
      </p:sp>
      <p:sp>
        <p:nvSpPr>
          <p:cNvPr id="17" name="Text 12"/>
          <p:cNvSpPr/>
          <p:nvPr>
            <p:custDataLst>
              <p:tags r:id="rId13"/>
            </p:custDataLst>
          </p:nvPr>
        </p:nvSpPr>
        <p:spPr>
          <a:xfrm>
            <a:off x="4754880" y="27203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预测上传页截图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上传 → 在线预测 → 结果展示</a:t>
            </a:r>
            <a:endParaRPr lang="en-US" sz="900" dirty="0"/>
          </a:p>
        </p:txBody>
      </p:sp>
      <p:sp>
        <p:nvSpPr>
          <p:cNvPr id="18" name="Shape 13"/>
          <p:cNvSpPr/>
          <p:nvPr>
            <p:custDataLst>
              <p:tags r:id="rId14"/>
            </p:custDataLst>
          </p:nvPr>
        </p:nvSpPr>
        <p:spPr>
          <a:xfrm>
            <a:off x="4754880" y="3657600"/>
            <a:ext cx="3931920" cy="13258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>
            <p:custDataLst>
              <p:tags r:id="rId15"/>
            </p:custDataLst>
          </p:nvPr>
        </p:nvSpPr>
        <p:spPr>
          <a:xfrm>
            <a:off x="4754880" y="3657600"/>
            <a:ext cx="54864" cy="132588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20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937760" y="37947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>
            <p:custDataLst>
              <p:tags r:id="rId18"/>
            </p:custDataLst>
          </p:nvPr>
        </p:nvSpPr>
        <p:spPr>
          <a:xfrm>
            <a:off x="5349240" y="37947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预测上传页</a:t>
            </a:r>
            <a:endParaRPr lang="en-US" sz="1400" dirty="0"/>
          </a:p>
        </p:txBody>
      </p:sp>
      <p:sp>
        <p:nvSpPr>
          <p:cNvPr id="22" name="Text 16"/>
          <p:cNvSpPr/>
          <p:nvPr>
            <p:custDataLst>
              <p:tags r:id="rId19"/>
            </p:custDataLst>
          </p:nvPr>
        </p:nvSpPr>
        <p:spPr>
          <a:xfrm>
            <a:off x="4937760" y="416052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上传新测试集 CSV → 在线预测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多站点结果对比 + 调度建议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含真实功率时可自动计算精度指标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结果 CSV 下载 / 历史上传管理</a:t>
            </a:r>
            <a:endParaRPr lang="en-US" sz="10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0660" y="1005840"/>
            <a:ext cx="4445000" cy="245681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09490" y="1005840"/>
            <a:ext cx="4191635" cy="24568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项目总结</a:t>
            </a:r>
            <a:endParaRPr lang="en-US" sz="30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457200" y="1051560"/>
            <a:ext cx="411480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6481" y="1378001"/>
            <a:ext cx="243230" cy="243230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051560" y="1234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端到端分析闭环</a:t>
            </a:r>
            <a:endParaRPr lang="en-US" sz="1400" dirty="0"/>
          </a:p>
        </p:txBody>
      </p:sp>
      <p:sp>
        <p:nvSpPr>
          <p:cNvPr id="8" name="Text 5"/>
          <p:cNvSpPr/>
          <p:nvPr>
            <p:custDataLst>
              <p:tags r:id="rId7"/>
            </p:custDataLst>
          </p:nvPr>
        </p:nvSpPr>
        <p:spPr>
          <a:xfrm>
            <a:off x="1051560" y="15544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数据清洗→特征工程→功率预测(MAE 2.51MW)→风险评估(7因素加权)→RL调度(DQN avg_reward 2378)→可视化大屏, 全链路贯通</a:t>
            </a:r>
            <a:endParaRPr lang="en-US" sz="1000" dirty="0"/>
          </a:p>
        </p:txBody>
      </p:sp>
      <p:sp>
        <p:nvSpPr>
          <p:cNvPr id="9" name="Shape 6"/>
          <p:cNvSpPr/>
          <p:nvPr>
            <p:custDataLst>
              <p:tags r:id="rId8"/>
            </p:custDataLst>
          </p:nvPr>
        </p:nvSpPr>
        <p:spPr>
          <a:xfrm>
            <a:off x="4846320" y="1051560"/>
            <a:ext cx="411480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9"/>
            </p:custDataLst>
          </p:nvPr>
        </p:nvSpPr>
        <p:spPr>
          <a:xfrm>
            <a:off x="4846320" y="1051560"/>
            <a:ext cx="54864" cy="1143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Shape 8"/>
          <p:cNvSpPr/>
          <p:nvPr>
            <p:custDataLst>
              <p:tags r:id="rId10"/>
            </p:custDataLst>
          </p:nvPr>
        </p:nvSpPr>
        <p:spPr>
          <a:xfrm>
            <a:off x="4983480" y="132588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2" name="Image 1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35601" y="1378001"/>
            <a:ext cx="243230" cy="243230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5440680" y="1234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38维特征工程</a:t>
            </a:r>
            <a:endParaRPr lang="en-US" sz="1400" dirty="0"/>
          </a:p>
        </p:txBody>
      </p:sp>
      <p:sp>
        <p:nvSpPr>
          <p:cNvPr id="14" name="Text 10"/>
          <p:cNvSpPr/>
          <p:nvPr>
            <p:custDataLst>
              <p:tags r:id="rId13"/>
            </p:custDataLst>
          </p:nvPr>
        </p:nvSpPr>
        <p:spPr>
          <a:xfrm>
            <a:off x="5440680" y="15544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循环编码保留时间周期 · 风向U/V分解消除角度跳变 · 滞后功率捕捉时序惯性</a:t>
            </a:r>
            <a:endParaRPr lang="en-US" sz="1000" dirty="0"/>
          </a:p>
          <a:p>
            <a:r>
              <a:rPr sz="900">
                <a:solidFill>
                  <a:srgbClr val="00B4A0"/>
                </a:solidFill>
              </a:rPr>
              <a:t>R²从0.88提升至0.99 (+12.5%), 滞后功率特征是精度核心</a:t>
            </a:r>
            <a:endParaRPr sz="900">
              <a:solidFill>
                <a:srgbClr val="00B4A0"/>
              </a:solidFill>
            </a:endParaRPr>
          </a:p>
        </p:txBody>
      </p:sp>
      <p:sp>
        <p:nvSpPr>
          <p:cNvPr id="15" name="Shape 11"/>
          <p:cNvSpPr/>
          <p:nvPr>
            <p:custDataLst>
              <p:tags r:id="rId14"/>
            </p:custDataLst>
          </p:nvPr>
        </p:nvSpPr>
        <p:spPr>
          <a:xfrm>
            <a:off x="457200" y="2331720"/>
            <a:ext cx="411480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>
            <p:custDataLst>
              <p:tags r:id="rId15"/>
            </p:custDataLst>
          </p:nvPr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7" name="Shape 13"/>
          <p:cNvSpPr/>
          <p:nvPr>
            <p:custDataLst>
              <p:tags r:id="rId16"/>
            </p:custDataLst>
          </p:nvPr>
        </p:nvSpPr>
        <p:spPr>
          <a:xfrm>
            <a:off x="594360" y="260604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8" name="Image 2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6481" y="2658161"/>
            <a:ext cx="243230" cy="243230"/>
          </a:xfrm>
          <a:prstGeom prst="rect">
            <a:avLst/>
          </a:prstGeom>
        </p:spPr>
      </p:pic>
      <p:sp>
        <p:nvSpPr>
          <p:cNvPr id="19" name="Text 14"/>
          <p:cNvSpPr/>
          <p:nvPr>
            <p:custDataLst>
              <p:tags r:id="rId18"/>
            </p:custDataLst>
          </p:nvPr>
        </p:nvSpPr>
        <p:spPr>
          <a:xfrm>
            <a:off x="1051560" y="25146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双模型对比验证</a:t>
            </a:r>
            <a:endParaRPr lang="en-US" sz="1400" dirty="0"/>
          </a:p>
        </p:txBody>
      </p:sp>
      <p:sp>
        <p:nvSpPr>
          <p:cNvPr id="20" name="Text 15"/>
          <p:cNvSpPr/>
          <p:nvPr>
            <p:custDataLst>
              <p:tags r:id="rId19"/>
            </p:custDataLst>
          </p:nvPr>
        </p:nvSpPr>
        <p:spPr>
          <a:xfrm>
            <a:off x="1051560" y="28346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HistGBR(MAE 2.51MW) vs LightGBM(MAE 2.55MW) 梯度提升树对比, R²=0.99 量化评估预测精度</a:t>
            </a:r>
            <a:endParaRPr lang="en-US" sz="1000" dirty="0"/>
          </a:p>
        </p:txBody>
      </p:sp>
      <p:sp>
        <p:nvSpPr>
          <p:cNvPr id="21" name="Shape 16"/>
          <p:cNvSpPr/>
          <p:nvPr>
            <p:custDataLst>
              <p:tags r:id="rId20"/>
            </p:custDataLst>
          </p:nvPr>
        </p:nvSpPr>
        <p:spPr>
          <a:xfrm>
            <a:off x="4846320" y="2331720"/>
            <a:ext cx="411480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>
            <p:custDataLst>
              <p:tags r:id="rId21"/>
            </p:custDataLst>
          </p:nvPr>
        </p:nvSpPr>
        <p:spPr>
          <a:xfrm>
            <a:off x="4846320" y="2331720"/>
            <a:ext cx="54864" cy="11430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Shape 18"/>
          <p:cNvSpPr/>
          <p:nvPr>
            <p:custDataLst>
              <p:tags r:id="rId22"/>
            </p:custDataLst>
          </p:nvPr>
        </p:nvSpPr>
        <p:spPr>
          <a:xfrm>
            <a:off x="4983480" y="260604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4" name="Image 3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35601" y="2658161"/>
            <a:ext cx="243230" cy="243230"/>
          </a:xfrm>
          <a:prstGeom prst="rect">
            <a:avLst/>
          </a:prstGeom>
        </p:spPr>
      </p:pic>
      <p:sp>
        <p:nvSpPr>
          <p:cNvPr id="25" name="Text 19"/>
          <p:cNvSpPr/>
          <p:nvPr>
            <p:custDataLst>
              <p:tags r:id="rId24"/>
            </p:custDataLst>
          </p:nvPr>
        </p:nvSpPr>
        <p:spPr>
          <a:xfrm>
            <a:off x="5440680" y="25146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4种调度策略同台对比赛</a:t>
            </a:r>
            <a:endParaRPr lang="en-US" sz="1400" dirty="0"/>
          </a:p>
        </p:txBody>
      </p:sp>
      <p:sp>
        <p:nvSpPr>
          <p:cNvPr id="26" name="Text 20"/>
          <p:cNvSpPr/>
          <p:nvPr>
            <p:custDataLst>
              <p:tags r:id="rId25"/>
            </p:custDataLst>
          </p:nvPr>
        </p:nvSpPr>
        <p:spPr>
          <a:xfrm>
            <a:off x="5440680" y="28346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Q-Learning(2139) · DQN(2378, +101% vs baseline) · 启发式搜索 · 遗传算法, 统一环境量化对比</a:t>
            </a:r>
            <a:endParaRPr lang="en-US" sz="1000" dirty="0"/>
          </a:p>
        </p:txBody>
      </p:sp>
      <p:sp>
        <p:nvSpPr>
          <p:cNvPr id="27" name="Shape 21"/>
          <p:cNvSpPr/>
          <p:nvPr>
            <p:custDataLst>
              <p:tags r:id="rId26"/>
            </p:custDataLst>
          </p:nvPr>
        </p:nvSpPr>
        <p:spPr>
          <a:xfrm>
            <a:off x="457200" y="3611880"/>
            <a:ext cx="411480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>
            <p:custDataLst>
              <p:tags r:id="rId27"/>
            </p:custDataLst>
          </p:nvPr>
        </p:nvSpPr>
        <p:spPr>
          <a:xfrm>
            <a:off x="457200" y="3611880"/>
            <a:ext cx="54864" cy="11430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9" name="Shape 23"/>
          <p:cNvSpPr/>
          <p:nvPr>
            <p:custDataLst>
              <p:tags r:id="rId28"/>
            </p:custDataLst>
          </p:nvPr>
        </p:nvSpPr>
        <p:spPr>
          <a:xfrm>
            <a:off x="594360" y="38862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30" name="Image 4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6481" y="3938321"/>
            <a:ext cx="243230" cy="243230"/>
          </a:xfrm>
          <a:prstGeom prst="rect">
            <a:avLst/>
          </a:prstGeom>
        </p:spPr>
      </p:pic>
      <p:sp>
        <p:nvSpPr>
          <p:cNvPr id="31" name="Text 24"/>
          <p:cNvSpPr/>
          <p:nvPr>
            <p:custDataLst>
              <p:tags r:id="rId30"/>
            </p:custDataLst>
          </p:nvPr>
        </p:nvSpPr>
        <p:spPr>
          <a:xfrm>
            <a:off x="1051560" y="37947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RL算法深度对比</a:t>
            </a:r>
            <a:endParaRPr lang="en-US" sz="1400" dirty="0"/>
          </a:p>
        </p:txBody>
      </p:sp>
      <p:sp>
        <p:nvSpPr>
          <p:cNvPr id="32" name="Text 25"/>
          <p:cNvSpPr/>
          <p:nvPr>
            <p:custDataLst>
              <p:tags r:id="rId31"/>
            </p:custDataLst>
          </p:nvPr>
        </p:nvSpPr>
        <p:spPr>
          <a:xfrm>
            <a:off x="1051560" y="411480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DQN(Double+软更新+经验回放)效果优于表格型Q-Learning(+239奖励, +11.2%), 事故率仅0.39%</a:t>
            </a:r>
            <a:endParaRPr lang="en-US" sz="1000" dirty="0"/>
          </a:p>
        </p:txBody>
      </p:sp>
      <p:sp>
        <p:nvSpPr>
          <p:cNvPr id="33" name="Shape 26"/>
          <p:cNvSpPr/>
          <p:nvPr>
            <p:custDataLst>
              <p:tags r:id="rId32"/>
            </p:custDataLst>
          </p:nvPr>
        </p:nvSpPr>
        <p:spPr>
          <a:xfrm>
            <a:off x="4846320" y="3611880"/>
            <a:ext cx="411480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>
            <p:custDataLst>
              <p:tags r:id="rId33"/>
            </p:custDataLst>
          </p:nvPr>
        </p:nvSpPr>
        <p:spPr>
          <a:xfrm>
            <a:off x="4846320" y="3611880"/>
            <a:ext cx="54864" cy="11430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5" name="Shape 28"/>
          <p:cNvSpPr/>
          <p:nvPr>
            <p:custDataLst>
              <p:tags r:id="rId34"/>
            </p:custDataLst>
          </p:nvPr>
        </p:nvSpPr>
        <p:spPr>
          <a:xfrm>
            <a:off x="4983480" y="388620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36" name="Image 5" descr="preencoded.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35601" y="3938321"/>
            <a:ext cx="243230" cy="243230"/>
          </a:xfrm>
          <a:prstGeom prst="rect">
            <a:avLst/>
          </a:prstGeom>
        </p:spPr>
      </p:pic>
      <p:sp>
        <p:nvSpPr>
          <p:cNvPr id="37" name="Text 29"/>
          <p:cNvSpPr/>
          <p:nvPr>
            <p:custDataLst>
              <p:tags r:id="rId36"/>
            </p:custDataLst>
          </p:nvPr>
        </p:nvSpPr>
        <p:spPr>
          <a:xfrm>
            <a:off x="5440680" y="37947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交互式可视化平台</a:t>
            </a:r>
            <a:endParaRPr lang="en-US" sz="1400" dirty="0"/>
          </a:p>
        </p:txBody>
      </p:sp>
      <p:sp>
        <p:nvSpPr>
          <p:cNvPr id="38" name="Text 30"/>
          <p:cNvSpPr/>
          <p:nvPr>
            <p:custDataLst>
              <p:tags r:id="rId37"/>
            </p:custDataLst>
          </p:nvPr>
        </p:nvSpPr>
        <p:spPr>
          <a:xfrm>
            <a:off x="5440680" y="411480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ECharts大屏 · Flask REST API · Ollama LLM本地智能问答 · CSV上传在线预测 · 数据导入导出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后续方向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188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Shape 4"/>
          <p:cNvSpPr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1" y="1378001"/>
            <a:ext cx="243230" cy="2432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34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更先进的RL算法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5544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引入 PPO / SAC 替代 DQN，探索 Actor-Critic 架构在风电调度中的表现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051560"/>
            <a:ext cx="411480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51560"/>
            <a:ext cx="54864" cy="1188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Shape 9"/>
          <p:cNvSpPr/>
          <p:nvPr/>
        </p:nvSpPr>
        <p:spPr>
          <a:xfrm>
            <a:off x="4983480" y="132588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601" y="1378001"/>
            <a:ext cx="243230" cy="2432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234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NWP 数值天气预报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40680" y="15544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融合气象数值模式数据，提升中长期（24-72h）功率预测精度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423160"/>
            <a:ext cx="411480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423160"/>
            <a:ext cx="54864" cy="11887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8" name="Shape 14"/>
          <p:cNvSpPr/>
          <p:nvPr/>
        </p:nvSpPr>
        <p:spPr>
          <a:xfrm>
            <a:off x="594360" y="269748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1" y="2749601"/>
            <a:ext cx="243230" cy="2432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6060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多风场协同调度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51560" y="29260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考虑尾流效应与电网拓扑约束，实现区域级风电场群联合优化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46320" y="2423160"/>
            <a:ext cx="411480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2423160"/>
            <a:ext cx="54864" cy="11887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4" name="Shape 19"/>
          <p:cNvSpPr/>
          <p:nvPr/>
        </p:nvSpPr>
        <p:spPr>
          <a:xfrm>
            <a:off x="4983480" y="2697480"/>
            <a:ext cx="347472" cy="347472"/>
          </a:xfrm>
          <a:prstGeom prst="ellipse">
            <a:avLst/>
          </a:prstGeom>
          <a:solidFill>
            <a:srgbClr val="F0F9FF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601" y="2749601"/>
            <a:ext cx="243230" cy="2432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26060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模型持续学习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40680" y="29260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新数据到达时在线增量更新，避免全量重训，适应季节性风况变化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828800" y="3931920"/>
            <a:ext cx="5486400" cy="13716"/>
          </a:xfrm>
          <a:prstGeom prst="rect">
            <a:avLst/>
          </a:prstGeom>
          <a:solidFill>
            <a:srgbClr val="14B8A6">
              <a:alpha val="40000"/>
            </a:srgbClr>
          </a:solidFill>
        </p:spPr>
      </p:sp>
      <p:sp>
        <p:nvSpPr>
          <p:cNvPr id="29" name="Text 23"/>
          <p:cNvSpPr/>
          <p:nvPr/>
        </p:nvSpPr>
        <p:spPr>
          <a:xfrm>
            <a:off x="0" y="4069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感谢各位评委老师批评指正！</a:t>
            </a:r>
            <a:endParaRPr lang="en-US" sz="2800" dirty="0"/>
          </a:p>
        </p:txBody>
      </p:sp>
      <p:sp>
        <p:nvSpPr>
          <p:cNvPr id="30" name="Text 24"/>
          <p:cNvSpPr/>
          <p:nvPr/>
        </p:nvSpPr>
        <p:spPr>
          <a:xfrm>
            <a:off x="0" y="4617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海上风电历史数据分析与多算法智能体系统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2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3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4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5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6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7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8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9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0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1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2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3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4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5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6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7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8.xml><?xml version="1.0" encoding="utf-8"?>
<p:tagLst xmlns:p="http://schemas.openxmlformats.org/presentationml/2006/main">
  <p:tag name="KSO_WM_DIAGRAM_VIRTUALLY_FRAME" val="{&quot;height&quot;:277.2,&quot;left&quot;:36,&quot;top&quot;:93.6,&quot;width&quot;:345.6}"/>
</p:tagLst>
</file>

<file path=ppt/tags/tag19.xml><?xml version="1.0" encoding="utf-8"?>
<p:tagLst xmlns:p="http://schemas.openxmlformats.org/presentationml/2006/main">
  <p:tag name="KSO_WM_DIAGRAM_VIRTUALLY_FRAME" val="{&quot;height&quot;:284.4,&quot;left&quot;:36,&quot;top&quot;:90,&quot;width&quot;:669.6}"/>
</p:tagLst>
</file>

<file path=ppt/tags/tag20.xml><?xml version="1.0" encoding="utf-8"?>
<p:tagLst xmlns:p="http://schemas.openxmlformats.org/presentationml/2006/main">
  <p:tag name="KSO_WM_DIAGRAM_VIRTUALLY_FRAME" val="{&quot;height&quot;:284.4,&quot;left&quot;:36,&quot;top&quot;:90,&quot;width&quot;:669.6}"/>
</p:tagLst>
</file>

<file path=ppt/tags/tag21.xml><?xml version="1.0" encoding="utf-8"?>
<p:tagLst xmlns:p="http://schemas.openxmlformats.org/presentationml/2006/main">
  <p:tag name="KSO_WM_DIAGRAM_VIRTUALLY_FRAME" val="{&quot;height&quot;:284.4,&quot;left&quot;:36,&quot;top&quot;:90,&quot;width&quot;:669.6}"/>
</p:tagLst>
</file>

<file path=ppt/tags/tag22.xml><?xml version="1.0" encoding="utf-8"?>
<p:tagLst xmlns:p="http://schemas.openxmlformats.org/presentationml/2006/main">
  <p:tag name="KSO_WM_DIAGRAM_VIRTUALLY_FRAME" val="{&quot;height&quot;:284.4,&quot;left&quot;:36,&quot;top&quot;:90,&quot;width&quot;:669.6}"/>
</p:tagLst>
</file>

<file path=ppt/tags/tag23.xml><?xml version="1.0" encoding="utf-8"?>
<p:tagLst xmlns:p="http://schemas.openxmlformats.org/presentationml/2006/main">
  <p:tag name="KSO_WM_DIAGRAM_VIRTUALLY_FRAME" val="{&quot;height&quot;:284.4,&quot;left&quot;:36,&quot;top&quot;:90,&quot;width&quot;:669.6}"/>
</p:tagLst>
</file>

<file path=ppt/tags/tag24.xml><?xml version="1.0" encoding="utf-8"?>
<p:tagLst xmlns:p="http://schemas.openxmlformats.org/presentationml/2006/main">
  <p:tag name="KSO_WM_DIAGRAM_VIRTUALLY_FRAME" val="{&quot;height&quot;:284.4,&quot;left&quot;:36,&quot;top&quot;:90,&quot;width&quot;:669.6}"/>
</p:tagLst>
</file>

<file path=ppt/tags/tag25.xml><?xml version="1.0" encoding="utf-8"?>
<p:tagLst xmlns:p="http://schemas.openxmlformats.org/presentationml/2006/main">
  <p:tag name="KSO_WM_DIAGRAM_VIRTUALLY_FRAME" val="{&quot;height&quot;:284.4,&quot;left&quot;:36,&quot;top&quot;:90,&quot;width&quot;:669.6}"/>
</p:tagLst>
</file>

<file path=ppt/tags/tag26.xml><?xml version="1.0" encoding="utf-8"?>
<p:tagLst xmlns:p="http://schemas.openxmlformats.org/presentationml/2006/main">
  <p:tag name="KSO_WM_DIAGRAM_VIRTUALLY_FRAME" val="{&quot;height&quot;:284.4,&quot;left&quot;:36,&quot;top&quot;:90,&quot;width&quot;:669.6}"/>
</p:tagLst>
</file>

<file path=ppt/tags/tag27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28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29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0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1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2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3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4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5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6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7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8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39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40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41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42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43.xml><?xml version="1.0" encoding="utf-8"?>
<p:tagLst xmlns:p="http://schemas.openxmlformats.org/presentationml/2006/main">
  <p:tag name="KSO_WM_DIAGRAM_VIRTUALLY_FRAME" val="{&quot;height&quot;:309.6,&quot;left&quot;:22.6,&quot;top&quot;:82.8,&quot;width&quot;:731.35}"/>
</p:tagLst>
</file>

<file path=ppt/tags/tag44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45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46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47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48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49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0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1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2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3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4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5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6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7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8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59.xml><?xml version="1.0" encoding="utf-8"?>
<p:tagLst xmlns:p="http://schemas.openxmlformats.org/presentationml/2006/main">
  <p:tag name="KSO_WM_DIAGRAM_VIRTUALLY_FRAME" val="{&quot;height&quot;:309.6,&quot;left&quot;:36,&quot;top&quot;:82.8,&quot;width&quot;:648}"/>
</p:tagLst>
</file>

<file path=ppt/tags/tag60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1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2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3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4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5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6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7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8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69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0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1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2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3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4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5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6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7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8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79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0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1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2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3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4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5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6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7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8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89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90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91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92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93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94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ags/tag95.xml><?xml version="1.0" encoding="utf-8"?>
<p:tagLst xmlns:p="http://schemas.openxmlformats.org/presentationml/2006/main">
  <p:tag name="KSO_WM_DIAGRAM_VIRTUALLY_FRAME" val="{&quot;height&quot;:291.6,&quot;left&quot;:36,&quot;top&quot;:82.8,&quot;width&quot;:66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5353</Words>
  <Application>WPS 演示</Application>
  <PresentationFormat>On-screen Show (16:9)</PresentationFormat>
  <Paragraphs>571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海上风电历史数据分析与多算法智能体系统</dc:title>
  <dc:creator>Offshore Wind Agent</dc:creator>
  <dc:subject>PptxGenJS Presentation</dc:subject>
  <cp:lastModifiedBy>欧莱雅餐厅</cp:lastModifiedBy>
  <cp:revision>7</cp:revision>
  <dcterms:created xsi:type="dcterms:W3CDTF">2026-06-09T16:53:00Z</dcterms:created>
  <dcterms:modified xsi:type="dcterms:W3CDTF">2026-06-10T13:07:53Z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9F7239C141A046EA9F43C3DE482207E7_12</vt:lpwstr>
  </property>
</Properties>
</file>