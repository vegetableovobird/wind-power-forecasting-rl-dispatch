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75" r:id="rId16"/>
    <p:sldId id="268" r:id="rId17"/>
    <p:sldId id="269" r:id="rId18"/>
    <p:sldId id="270" r:id="rId19"/>
    <p:sldId id="271" r:id="rId20"/>
    <p:sldId id="272" r:id="rId21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4" Type="http://schemas.openxmlformats.org/officeDocument/2006/relationships/tableStyles" Target="tableStyles.xml"/><Relationship Id="rId23" Type="http://schemas.openxmlformats.org/officeDocument/2006/relationships/viewProps" Target="viewProps.xml"/><Relationship Id="rId22" Type="http://schemas.openxmlformats.org/officeDocument/2006/relationships/presProps" Target="presProps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image" Target="../media/image10.png"/><Relationship Id="rId8" Type="http://schemas.openxmlformats.org/officeDocument/2006/relationships/image" Target="../media/image9.png"/><Relationship Id="rId7" Type="http://schemas.openxmlformats.org/officeDocument/2006/relationships/image" Target="../media/image8.png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1" Type="http://schemas.openxmlformats.org/officeDocument/2006/relationships/notesSlide" Target="../notesSlides/notesSlide2.xml"/><Relationship Id="rId10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tags" Target="../tags/tag8.xml"/><Relationship Id="rId8" Type="http://schemas.openxmlformats.org/officeDocument/2006/relationships/tags" Target="../tags/tag7.xml"/><Relationship Id="rId7" Type="http://schemas.openxmlformats.org/officeDocument/2006/relationships/tags" Target="../tags/tag6.xml"/><Relationship Id="rId6" Type="http://schemas.openxmlformats.org/officeDocument/2006/relationships/tags" Target="../tags/tag5.xml"/><Relationship Id="rId5" Type="http://schemas.openxmlformats.org/officeDocument/2006/relationships/image" Target="../media/image11.png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4" Type="http://schemas.openxmlformats.org/officeDocument/2006/relationships/notesSlide" Target="../notesSlides/notesSlide3.xml"/><Relationship Id="rId23" Type="http://schemas.openxmlformats.org/officeDocument/2006/relationships/slideLayout" Target="../slideLayouts/slideLayout1.xml"/><Relationship Id="rId22" Type="http://schemas.openxmlformats.org/officeDocument/2006/relationships/image" Target="../media/image2.png"/><Relationship Id="rId21" Type="http://schemas.openxmlformats.org/officeDocument/2006/relationships/tags" Target="../tags/tag18.xml"/><Relationship Id="rId20" Type="http://schemas.openxmlformats.org/officeDocument/2006/relationships/tags" Target="../tags/tag17.xml"/><Relationship Id="rId2" Type="http://schemas.openxmlformats.org/officeDocument/2006/relationships/tags" Target="../tags/tag2.xml"/><Relationship Id="rId19" Type="http://schemas.openxmlformats.org/officeDocument/2006/relationships/image" Target="../media/image13.png"/><Relationship Id="rId18" Type="http://schemas.openxmlformats.org/officeDocument/2006/relationships/tags" Target="../tags/tag16.xml"/><Relationship Id="rId17" Type="http://schemas.openxmlformats.org/officeDocument/2006/relationships/tags" Target="../tags/tag15.xml"/><Relationship Id="rId16" Type="http://schemas.openxmlformats.org/officeDocument/2006/relationships/tags" Target="../tags/tag14.xml"/><Relationship Id="rId15" Type="http://schemas.openxmlformats.org/officeDocument/2006/relationships/tags" Target="../tags/tag13.xml"/><Relationship Id="rId14" Type="http://schemas.openxmlformats.org/officeDocument/2006/relationships/tags" Target="../tags/tag12.xml"/><Relationship Id="rId13" Type="http://schemas.openxmlformats.org/officeDocument/2006/relationships/tags" Target="../tags/tag11.xml"/><Relationship Id="rId12" Type="http://schemas.openxmlformats.org/officeDocument/2006/relationships/image" Target="../media/image12.png"/><Relationship Id="rId11" Type="http://schemas.openxmlformats.org/officeDocument/2006/relationships/tags" Target="../tags/tag10.xml"/><Relationship Id="rId10" Type="http://schemas.openxmlformats.org/officeDocument/2006/relationships/tags" Target="../tags/tag9.xml"/><Relationship Id="rId1" Type="http://schemas.openxmlformats.org/officeDocument/2006/relationships/tags" Target="../tags/tag1.xml"/></Relationships>
</file>

<file path=ppt/slides/_rels/slide4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4.xml"/><Relationship Id="rId6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4.png"/><Relationship Id="rId3" Type="http://schemas.openxmlformats.org/officeDocument/2006/relationships/image" Target="../media/image5.png"/><Relationship Id="rId2" Type="http://schemas.openxmlformats.org/officeDocument/2006/relationships/image" Target="../media/image3.png"/><Relationship Id="rId1" Type="http://schemas.openxmlformats.org/officeDocument/2006/relationships/image" Target="../media/image14.png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notesSlide" Target="../notesSlides/notesSlide5.xml"/><Relationship Id="rId8" Type="http://schemas.openxmlformats.org/officeDocument/2006/relationships/slideLayout" Target="../slideLayouts/slideLayout1.xml"/><Relationship Id="rId7" Type="http://schemas.openxmlformats.org/officeDocument/2006/relationships/image" Target="../media/image9.png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Relationship Id="rId3" Type="http://schemas.openxmlformats.org/officeDocument/2006/relationships/image" Target="../media/image5.png"/><Relationship Id="rId2" Type="http://schemas.openxmlformats.org/officeDocument/2006/relationships/image" Target="../media/image16.png"/><Relationship Id="rId1" Type="http://schemas.openxmlformats.org/officeDocument/2006/relationships/image" Target="../media/image15.png"/></Relationships>
</file>

<file path=ppt/slides/_rels/slide6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.xml"/><Relationship Id="rId8" Type="http://schemas.openxmlformats.org/officeDocument/2006/relationships/tags" Target="../tags/tag26.xml"/><Relationship Id="rId7" Type="http://schemas.openxmlformats.org/officeDocument/2006/relationships/tags" Target="../tags/tag25.xml"/><Relationship Id="rId6" Type="http://schemas.openxmlformats.org/officeDocument/2006/relationships/tags" Target="../tags/tag24.xml"/><Relationship Id="rId5" Type="http://schemas.openxmlformats.org/officeDocument/2006/relationships/tags" Target="../tags/tag23.xml"/><Relationship Id="rId4" Type="http://schemas.openxmlformats.org/officeDocument/2006/relationships/tags" Target="../tags/tag22.xml"/><Relationship Id="rId3" Type="http://schemas.openxmlformats.org/officeDocument/2006/relationships/tags" Target="../tags/tag21.xml"/><Relationship Id="rId2" Type="http://schemas.openxmlformats.org/officeDocument/2006/relationships/tags" Target="../tags/tag20.xml"/><Relationship Id="rId10" Type="http://schemas.openxmlformats.org/officeDocument/2006/relationships/notesSlide" Target="../notesSlides/notesSlide6.xml"/><Relationship Id="rId1" Type="http://schemas.openxmlformats.org/officeDocument/2006/relationships/tags" Target="../tags/tag19.xml"/></Relationships>
</file>

<file path=ppt/slides/_rels/slide7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7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9" Type="http://schemas.openxmlformats.org/officeDocument/2006/relationships/notesSlide" Target="../notesSlides/notesSlide8.xml"/><Relationship Id="rId8" Type="http://schemas.openxmlformats.org/officeDocument/2006/relationships/slideLayout" Target="../slideLayouts/slideLayout1.xml"/><Relationship Id="rId7" Type="http://schemas.openxmlformats.org/officeDocument/2006/relationships/image" Target="../media/image7.png"/><Relationship Id="rId6" Type="http://schemas.openxmlformats.org/officeDocument/2006/relationships/image" Target="../media/image19.png"/><Relationship Id="rId5" Type="http://schemas.openxmlformats.org/officeDocument/2006/relationships/image" Target="../media/image17.png"/><Relationship Id="rId4" Type="http://schemas.openxmlformats.org/officeDocument/2006/relationships/image" Target="../media/image1.png"/><Relationship Id="rId3" Type="http://schemas.openxmlformats.org/officeDocument/2006/relationships/image" Target="../media/image14.png"/><Relationship Id="rId2" Type="http://schemas.openxmlformats.org/officeDocument/2006/relationships/image" Target="../media/image11.png"/><Relationship Id="rId1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9" Type="http://schemas.openxmlformats.org/officeDocument/2006/relationships/tags" Target="../tags/tag35.xml"/><Relationship Id="rId8" Type="http://schemas.openxmlformats.org/officeDocument/2006/relationships/tags" Target="../tags/tag34.xml"/><Relationship Id="rId7" Type="http://schemas.openxmlformats.org/officeDocument/2006/relationships/tags" Target="../tags/tag33.xml"/><Relationship Id="rId6" Type="http://schemas.openxmlformats.org/officeDocument/2006/relationships/tags" Target="../tags/tag32.xml"/><Relationship Id="rId5" Type="http://schemas.openxmlformats.org/officeDocument/2006/relationships/tags" Target="../tags/tag31.xml"/><Relationship Id="rId4" Type="http://schemas.openxmlformats.org/officeDocument/2006/relationships/tags" Target="../tags/tag30.xml"/><Relationship Id="rId31" Type="http://schemas.openxmlformats.org/officeDocument/2006/relationships/notesSlide" Target="../notesSlides/notesSlide9.xml"/><Relationship Id="rId30" Type="http://schemas.openxmlformats.org/officeDocument/2006/relationships/slideLayout" Target="../slideLayouts/slideLayout1.xml"/><Relationship Id="rId3" Type="http://schemas.openxmlformats.org/officeDocument/2006/relationships/tags" Target="../tags/tag29.xml"/><Relationship Id="rId29" Type="http://schemas.openxmlformats.org/officeDocument/2006/relationships/image" Target="../media/image13.png"/><Relationship Id="rId28" Type="http://schemas.openxmlformats.org/officeDocument/2006/relationships/tags" Target="../tags/tag54.xml"/><Relationship Id="rId27" Type="http://schemas.openxmlformats.org/officeDocument/2006/relationships/tags" Target="../tags/tag53.xml"/><Relationship Id="rId26" Type="http://schemas.openxmlformats.org/officeDocument/2006/relationships/tags" Target="../tags/tag52.xml"/><Relationship Id="rId25" Type="http://schemas.openxmlformats.org/officeDocument/2006/relationships/tags" Target="../tags/tag51.xml"/><Relationship Id="rId24" Type="http://schemas.openxmlformats.org/officeDocument/2006/relationships/tags" Target="../tags/tag50.xml"/><Relationship Id="rId23" Type="http://schemas.openxmlformats.org/officeDocument/2006/relationships/tags" Target="../tags/tag49.xml"/><Relationship Id="rId22" Type="http://schemas.openxmlformats.org/officeDocument/2006/relationships/tags" Target="../tags/tag48.xml"/><Relationship Id="rId21" Type="http://schemas.openxmlformats.org/officeDocument/2006/relationships/tags" Target="../tags/tag47.xml"/><Relationship Id="rId20" Type="http://schemas.openxmlformats.org/officeDocument/2006/relationships/tags" Target="../tags/tag46.xml"/><Relationship Id="rId2" Type="http://schemas.openxmlformats.org/officeDocument/2006/relationships/tags" Target="../tags/tag28.xml"/><Relationship Id="rId19" Type="http://schemas.openxmlformats.org/officeDocument/2006/relationships/tags" Target="../tags/tag45.xml"/><Relationship Id="rId18" Type="http://schemas.openxmlformats.org/officeDocument/2006/relationships/tags" Target="../tags/tag44.xml"/><Relationship Id="rId17" Type="http://schemas.openxmlformats.org/officeDocument/2006/relationships/tags" Target="../tags/tag43.xml"/><Relationship Id="rId16" Type="http://schemas.openxmlformats.org/officeDocument/2006/relationships/tags" Target="../tags/tag42.xml"/><Relationship Id="rId15" Type="http://schemas.openxmlformats.org/officeDocument/2006/relationships/tags" Target="../tags/tag41.xml"/><Relationship Id="rId14" Type="http://schemas.openxmlformats.org/officeDocument/2006/relationships/tags" Target="../tags/tag40.xml"/><Relationship Id="rId13" Type="http://schemas.openxmlformats.org/officeDocument/2006/relationships/tags" Target="../tags/tag39.xml"/><Relationship Id="rId12" Type="http://schemas.openxmlformats.org/officeDocument/2006/relationships/tags" Target="../tags/tag38.xml"/><Relationship Id="rId11" Type="http://schemas.openxmlformats.org/officeDocument/2006/relationships/tags" Target="../tags/tag37.xml"/><Relationship Id="rId10" Type="http://schemas.openxmlformats.org/officeDocument/2006/relationships/tags" Target="../tags/tag36.xml"/><Relationship Id="rId1" Type="http://schemas.openxmlformats.org/officeDocument/2006/relationships/tags" Target="../tags/tag2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1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19.png"/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image" Target="../media/image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2.png"/></Relationships>
</file>

<file path=ppt/slides/_rels/slide1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4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3.png"/><Relationship Id="rId1" Type="http://schemas.openxmlformats.org/officeDocument/2006/relationships/image" Target="../media/image9.png"/></Relationships>
</file>

<file path=ppt/slides/_rels/slide15.xml.rels><?xml version="1.0" encoding="UTF-8" standalone="yes"?>
<Relationships xmlns="http://schemas.openxmlformats.org/package/2006/relationships"><Relationship Id="rId9" Type="http://schemas.openxmlformats.org/officeDocument/2006/relationships/tags" Target="../tags/tag61.xml"/><Relationship Id="rId8" Type="http://schemas.openxmlformats.org/officeDocument/2006/relationships/image" Target="../media/image2.png"/><Relationship Id="rId7" Type="http://schemas.openxmlformats.org/officeDocument/2006/relationships/tags" Target="../tags/tag60.xml"/><Relationship Id="rId6" Type="http://schemas.openxmlformats.org/officeDocument/2006/relationships/tags" Target="../tags/tag59.xml"/><Relationship Id="rId5" Type="http://schemas.openxmlformats.org/officeDocument/2006/relationships/tags" Target="../tags/tag58.xml"/><Relationship Id="rId4" Type="http://schemas.openxmlformats.org/officeDocument/2006/relationships/tags" Target="../tags/tag57.xml"/><Relationship Id="rId3" Type="http://schemas.openxmlformats.org/officeDocument/2006/relationships/tags" Target="../tags/tag56.xml"/><Relationship Id="rId24" Type="http://schemas.openxmlformats.org/officeDocument/2006/relationships/notesSlide" Target="../notesSlides/notesSlide15.xml"/><Relationship Id="rId23" Type="http://schemas.openxmlformats.org/officeDocument/2006/relationships/slideLayout" Target="../slideLayouts/slideLayout1.xml"/><Relationship Id="rId22" Type="http://schemas.openxmlformats.org/officeDocument/2006/relationships/image" Target="../media/image26.png"/><Relationship Id="rId21" Type="http://schemas.openxmlformats.org/officeDocument/2006/relationships/image" Target="../media/image25.png"/><Relationship Id="rId20" Type="http://schemas.openxmlformats.org/officeDocument/2006/relationships/tags" Target="../tags/tag71.xml"/><Relationship Id="rId2" Type="http://schemas.openxmlformats.org/officeDocument/2006/relationships/image" Target="../media/image9.png"/><Relationship Id="rId19" Type="http://schemas.openxmlformats.org/officeDocument/2006/relationships/tags" Target="../tags/tag70.xml"/><Relationship Id="rId18" Type="http://schemas.openxmlformats.org/officeDocument/2006/relationships/tags" Target="../tags/tag69.xml"/><Relationship Id="rId17" Type="http://schemas.openxmlformats.org/officeDocument/2006/relationships/image" Target="../media/image24.png"/><Relationship Id="rId16" Type="http://schemas.openxmlformats.org/officeDocument/2006/relationships/tags" Target="../tags/tag68.xml"/><Relationship Id="rId15" Type="http://schemas.openxmlformats.org/officeDocument/2006/relationships/tags" Target="../tags/tag67.xml"/><Relationship Id="rId14" Type="http://schemas.openxmlformats.org/officeDocument/2006/relationships/tags" Target="../tags/tag66.xml"/><Relationship Id="rId13" Type="http://schemas.openxmlformats.org/officeDocument/2006/relationships/tags" Target="../tags/tag65.xml"/><Relationship Id="rId12" Type="http://schemas.openxmlformats.org/officeDocument/2006/relationships/tags" Target="../tags/tag64.xml"/><Relationship Id="rId11" Type="http://schemas.openxmlformats.org/officeDocument/2006/relationships/tags" Target="../tags/tag63.xml"/><Relationship Id="rId10" Type="http://schemas.openxmlformats.org/officeDocument/2006/relationships/tags" Target="../tags/tag62.xml"/><Relationship Id="rId1" Type="http://schemas.openxmlformats.org/officeDocument/2006/relationships/tags" Target="../tags/tag55.xml"/></Relationships>
</file>

<file path=ppt/slides/_rels/slide16.xml.rels><?xml version="1.0" encoding="UTF-8" standalone="yes"?>
<Relationships xmlns="http://schemas.openxmlformats.org/package/2006/relationships"><Relationship Id="rId9" Type="http://schemas.openxmlformats.org/officeDocument/2006/relationships/tags" Target="../tags/tag78.xml"/><Relationship Id="rId8" Type="http://schemas.openxmlformats.org/officeDocument/2006/relationships/image" Target="../media/image8.png"/><Relationship Id="rId7" Type="http://schemas.openxmlformats.org/officeDocument/2006/relationships/tags" Target="../tags/tag77.xml"/><Relationship Id="rId6" Type="http://schemas.openxmlformats.org/officeDocument/2006/relationships/tags" Target="../tags/tag76.xml"/><Relationship Id="rId5" Type="http://schemas.openxmlformats.org/officeDocument/2006/relationships/tags" Target="../tags/tag75.xml"/><Relationship Id="rId4" Type="http://schemas.openxmlformats.org/officeDocument/2006/relationships/tags" Target="../tags/tag74.xml"/><Relationship Id="rId3" Type="http://schemas.openxmlformats.org/officeDocument/2006/relationships/tags" Target="../tags/tag73.xml"/><Relationship Id="rId23" Type="http://schemas.openxmlformats.org/officeDocument/2006/relationships/notesSlide" Target="../notesSlides/notesSlide16.xml"/><Relationship Id="rId22" Type="http://schemas.openxmlformats.org/officeDocument/2006/relationships/slideLayout" Target="../slideLayouts/slideLayout1.xml"/><Relationship Id="rId21" Type="http://schemas.openxmlformats.org/officeDocument/2006/relationships/image" Target="../media/image28.png"/><Relationship Id="rId20" Type="http://schemas.openxmlformats.org/officeDocument/2006/relationships/image" Target="../media/image27.png"/><Relationship Id="rId2" Type="http://schemas.openxmlformats.org/officeDocument/2006/relationships/image" Target="../media/image9.png"/><Relationship Id="rId19" Type="http://schemas.openxmlformats.org/officeDocument/2006/relationships/tags" Target="../tags/tag87.xml"/><Relationship Id="rId18" Type="http://schemas.openxmlformats.org/officeDocument/2006/relationships/tags" Target="../tags/tag86.xml"/><Relationship Id="rId17" Type="http://schemas.openxmlformats.org/officeDocument/2006/relationships/image" Target="../media/image15.png"/><Relationship Id="rId16" Type="http://schemas.openxmlformats.org/officeDocument/2006/relationships/tags" Target="../tags/tag85.xml"/><Relationship Id="rId15" Type="http://schemas.openxmlformats.org/officeDocument/2006/relationships/tags" Target="../tags/tag84.xml"/><Relationship Id="rId14" Type="http://schemas.openxmlformats.org/officeDocument/2006/relationships/tags" Target="../tags/tag83.xml"/><Relationship Id="rId13" Type="http://schemas.openxmlformats.org/officeDocument/2006/relationships/tags" Target="../tags/tag82.xml"/><Relationship Id="rId12" Type="http://schemas.openxmlformats.org/officeDocument/2006/relationships/tags" Target="../tags/tag81.xml"/><Relationship Id="rId11" Type="http://schemas.openxmlformats.org/officeDocument/2006/relationships/tags" Target="../tags/tag80.xml"/><Relationship Id="rId10" Type="http://schemas.openxmlformats.org/officeDocument/2006/relationships/tags" Target="../tags/tag79.xml"/><Relationship Id="rId1" Type="http://schemas.openxmlformats.org/officeDocument/2006/relationships/tags" Target="../tags/tag72.xml"/></Relationships>
</file>

<file path=ppt/slides/_rels/slide17.xml.rels><?xml version="1.0" encoding="UTF-8" standalone="yes"?>
<Relationships xmlns="http://schemas.openxmlformats.org/package/2006/relationships"><Relationship Id="rId9" Type="http://schemas.openxmlformats.org/officeDocument/2006/relationships/tags" Target="../tags/tag95.xml"/><Relationship Id="rId8" Type="http://schemas.openxmlformats.org/officeDocument/2006/relationships/tags" Target="../tags/tag94.xml"/><Relationship Id="rId7" Type="http://schemas.openxmlformats.org/officeDocument/2006/relationships/tags" Target="../tags/tag93.xml"/><Relationship Id="rId6" Type="http://schemas.openxmlformats.org/officeDocument/2006/relationships/tags" Target="../tags/tag92.xml"/><Relationship Id="rId5" Type="http://schemas.openxmlformats.org/officeDocument/2006/relationships/image" Target="../media/image18.png"/><Relationship Id="rId4" Type="http://schemas.openxmlformats.org/officeDocument/2006/relationships/tags" Target="../tags/tag91.xml"/><Relationship Id="rId39" Type="http://schemas.openxmlformats.org/officeDocument/2006/relationships/notesSlide" Target="../notesSlides/notesSlide17.xml"/><Relationship Id="rId38" Type="http://schemas.openxmlformats.org/officeDocument/2006/relationships/slideLayout" Target="../slideLayouts/slideLayout1.xml"/><Relationship Id="rId37" Type="http://schemas.openxmlformats.org/officeDocument/2006/relationships/tags" Target="../tags/tag123.xml"/><Relationship Id="rId36" Type="http://schemas.openxmlformats.org/officeDocument/2006/relationships/tags" Target="../tags/tag122.xml"/><Relationship Id="rId35" Type="http://schemas.openxmlformats.org/officeDocument/2006/relationships/tags" Target="../tags/tag121.xml"/><Relationship Id="rId34" Type="http://schemas.openxmlformats.org/officeDocument/2006/relationships/tags" Target="../tags/tag120.xml"/><Relationship Id="rId33" Type="http://schemas.openxmlformats.org/officeDocument/2006/relationships/tags" Target="../tags/tag119.xml"/><Relationship Id="rId32" Type="http://schemas.openxmlformats.org/officeDocument/2006/relationships/tags" Target="../tags/tag118.xml"/><Relationship Id="rId31" Type="http://schemas.openxmlformats.org/officeDocument/2006/relationships/tags" Target="../tags/tag117.xml"/><Relationship Id="rId30" Type="http://schemas.openxmlformats.org/officeDocument/2006/relationships/tags" Target="../tags/tag116.xml"/><Relationship Id="rId3" Type="http://schemas.openxmlformats.org/officeDocument/2006/relationships/tags" Target="../tags/tag90.xml"/><Relationship Id="rId29" Type="http://schemas.openxmlformats.org/officeDocument/2006/relationships/tags" Target="../tags/tag115.xml"/><Relationship Id="rId28" Type="http://schemas.openxmlformats.org/officeDocument/2006/relationships/tags" Target="../tags/tag114.xml"/><Relationship Id="rId27" Type="http://schemas.openxmlformats.org/officeDocument/2006/relationships/tags" Target="../tags/tag113.xml"/><Relationship Id="rId26" Type="http://schemas.openxmlformats.org/officeDocument/2006/relationships/tags" Target="../tags/tag112.xml"/><Relationship Id="rId25" Type="http://schemas.openxmlformats.org/officeDocument/2006/relationships/tags" Target="../tags/tag111.xml"/><Relationship Id="rId24" Type="http://schemas.openxmlformats.org/officeDocument/2006/relationships/tags" Target="../tags/tag110.xml"/><Relationship Id="rId23" Type="http://schemas.openxmlformats.org/officeDocument/2006/relationships/tags" Target="../tags/tag109.xml"/><Relationship Id="rId22" Type="http://schemas.openxmlformats.org/officeDocument/2006/relationships/tags" Target="../tags/tag108.xml"/><Relationship Id="rId21" Type="http://schemas.openxmlformats.org/officeDocument/2006/relationships/tags" Target="../tags/tag107.xml"/><Relationship Id="rId20" Type="http://schemas.openxmlformats.org/officeDocument/2006/relationships/tags" Target="../tags/tag106.xml"/><Relationship Id="rId2" Type="http://schemas.openxmlformats.org/officeDocument/2006/relationships/tags" Target="../tags/tag89.xml"/><Relationship Id="rId19" Type="http://schemas.openxmlformats.org/officeDocument/2006/relationships/tags" Target="../tags/tag105.xml"/><Relationship Id="rId18" Type="http://schemas.openxmlformats.org/officeDocument/2006/relationships/tags" Target="../tags/tag104.xml"/><Relationship Id="rId17" Type="http://schemas.openxmlformats.org/officeDocument/2006/relationships/tags" Target="../tags/tag103.xml"/><Relationship Id="rId16" Type="http://schemas.openxmlformats.org/officeDocument/2006/relationships/tags" Target="../tags/tag102.xml"/><Relationship Id="rId15" Type="http://schemas.openxmlformats.org/officeDocument/2006/relationships/tags" Target="../tags/tag101.xml"/><Relationship Id="rId14" Type="http://schemas.openxmlformats.org/officeDocument/2006/relationships/tags" Target="../tags/tag100.xml"/><Relationship Id="rId13" Type="http://schemas.openxmlformats.org/officeDocument/2006/relationships/tags" Target="../tags/tag99.xml"/><Relationship Id="rId12" Type="http://schemas.openxmlformats.org/officeDocument/2006/relationships/tags" Target="../tags/tag98.xml"/><Relationship Id="rId11" Type="http://schemas.openxmlformats.org/officeDocument/2006/relationships/tags" Target="../tags/tag97.xml"/><Relationship Id="rId10" Type="http://schemas.openxmlformats.org/officeDocument/2006/relationships/tags" Target="../tags/tag96.xml"/><Relationship Id="rId1" Type="http://schemas.openxmlformats.org/officeDocument/2006/relationships/tags" Target="../tags/tag88.xml"/></Relationships>
</file>

<file path=ppt/slides/_rels/slide18.xml.rels><?xml version="1.0" encoding="UTF-8" standalone="yes"?>
<Relationships xmlns="http://schemas.openxmlformats.org/package/2006/relationships"><Relationship Id="rId9" Type="http://schemas.openxmlformats.org/officeDocument/2006/relationships/tags" Target="../tags/tag131.xml"/><Relationship Id="rId8" Type="http://schemas.openxmlformats.org/officeDocument/2006/relationships/tags" Target="../tags/tag130.xml"/><Relationship Id="rId7" Type="http://schemas.openxmlformats.org/officeDocument/2006/relationships/tags" Target="../tags/tag129.xml"/><Relationship Id="rId6" Type="http://schemas.openxmlformats.org/officeDocument/2006/relationships/tags" Target="../tags/tag128.xml"/><Relationship Id="rId5" Type="http://schemas.openxmlformats.org/officeDocument/2006/relationships/image" Target="../media/image8.png"/><Relationship Id="rId4" Type="http://schemas.openxmlformats.org/officeDocument/2006/relationships/tags" Target="../tags/tag127.xml"/><Relationship Id="rId30" Type="http://schemas.openxmlformats.org/officeDocument/2006/relationships/notesSlide" Target="../notesSlides/notesSlide18.xml"/><Relationship Id="rId3" Type="http://schemas.openxmlformats.org/officeDocument/2006/relationships/tags" Target="../tags/tag126.xml"/><Relationship Id="rId29" Type="http://schemas.openxmlformats.org/officeDocument/2006/relationships/slideLayout" Target="../slideLayouts/slideLayout1.xml"/><Relationship Id="rId28" Type="http://schemas.openxmlformats.org/officeDocument/2006/relationships/tags" Target="../tags/tag147.xml"/><Relationship Id="rId27" Type="http://schemas.openxmlformats.org/officeDocument/2006/relationships/tags" Target="../tags/tag146.xml"/><Relationship Id="rId26" Type="http://schemas.openxmlformats.org/officeDocument/2006/relationships/image" Target="../media/image5.png"/><Relationship Id="rId25" Type="http://schemas.openxmlformats.org/officeDocument/2006/relationships/tags" Target="../tags/tag145.xml"/><Relationship Id="rId24" Type="http://schemas.openxmlformats.org/officeDocument/2006/relationships/tags" Target="../tags/tag144.xml"/><Relationship Id="rId23" Type="http://schemas.openxmlformats.org/officeDocument/2006/relationships/tags" Target="../tags/tag143.xml"/><Relationship Id="rId22" Type="http://schemas.openxmlformats.org/officeDocument/2006/relationships/tags" Target="../tags/tag142.xml"/><Relationship Id="rId21" Type="http://schemas.openxmlformats.org/officeDocument/2006/relationships/tags" Target="../tags/tag141.xml"/><Relationship Id="rId20" Type="http://schemas.openxmlformats.org/officeDocument/2006/relationships/tags" Target="../tags/tag140.xml"/><Relationship Id="rId2" Type="http://schemas.openxmlformats.org/officeDocument/2006/relationships/tags" Target="../tags/tag125.xml"/><Relationship Id="rId19" Type="http://schemas.openxmlformats.org/officeDocument/2006/relationships/image" Target="../media/image20.png"/><Relationship Id="rId18" Type="http://schemas.openxmlformats.org/officeDocument/2006/relationships/tags" Target="../tags/tag139.xml"/><Relationship Id="rId17" Type="http://schemas.openxmlformats.org/officeDocument/2006/relationships/tags" Target="../tags/tag138.xml"/><Relationship Id="rId16" Type="http://schemas.openxmlformats.org/officeDocument/2006/relationships/tags" Target="../tags/tag137.xml"/><Relationship Id="rId15" Type="http://schemas.openxmlformats.org/officeDocument/2006/relationships/tags" Target="../tags/tag136.xml"/><Relationship Id="rId14" Type="http://schemas.openxmlformats.org/officeDocument/2006/relationships/tags" Target="../tags/tag135.xml"/><Relationship Id="rId13" Type="http://schemas.openxmlformats.org/officeDocument/2006/relationships/tags" Target="../tags/tag134.xml"/><Relationship Id="rId12" Type="http://schemas.openxmlformats.org/officeDocument/2006/relationships/image" Target="../media/image2.png"/><Relationship Id="rId11" Type="http://schemas.openxmlformats.org/officeDocument/2006/relationships/tags" Target="../tags/tag133.xml"/><Relationship Id="rId10" Type="http://schemas.openxmlformats.org/officeDocument/2006/relationships/tags" Target="../tags/tag132.xml"/><Relationship Id="rId1" Type="http://schemas.openxmlformats.org/officeDocument/2006/relationships/tags" Target="../tags/tag1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B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0" y="-1371600"/>
            <a:ext cx="5486400" cy="5486400"/>
          </a:xfrm>
          <a:prstGeom prst="ellipse">
            <a:avLst/>
          </a:prstGeom>
          <a:solidFill>
            <a:srgbClr val="065A82">
              <a:alpha val="30000"/>
            </a:srgbClr>
          </a:solidFill>
        </p:spPr>
      </p:sp>
      <p:sp>
        <p:nvSpPr>
          <p:cNvPr id="3" name="Shape 1"/>
          <p:cNvSpPr/>
          <p:nvPr/>
        </p:nvSpPr>
        <p:spPr>
          <a:xfrm>
            <a:off x="7772400" y="2286000"/>
            <a:ext cx="3657600" cy="3657600"/>
          </a:xfrm>
          <a:prstGeom prst="ellipse">
            <a:avLst/>
          </a:prstGeom>
          <a:solidFill>
            <a:srgbClr val="1C7293">
              <a:alpha val="20000"/>
            </a:srgbClr>
          </a:solidFill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914400"/>
            <a:ext cx="731520" cy="7315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31520" y="1828800"/>
            <a:ext cx="6858000" cy="1645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海上风电历史数据分析</a:t>
            </a:r>
            <a:endParaRPr lang="en-US" sz="40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与多算法智能体系统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731520" y="3657600"/>
            <a:ext cx="1828800" cy="36576"/>
          </a:xfrm>
          <a:prstGeom prst="rect">
            <a:avLst/>
          </a:prstGeom>
          <a:solidFill>
            <a:srgbClr val="14B8A6"/>
          </a:solidFill>
        </p:spPr>
      </p:sp>
      <p:sp>
        <p:nvSpPr>
          <p:cNvPr id="7" name="Text 4"/>
          <p:cNvSpPr/>
          <p:nvPr/>
        </p:nvSpPr>
        <p:spPr>
          <a:xfrm>
            <a:off x="731520" y="3840480"/>
            <a:ext cx="64008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EEA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基于2022-2023年福建海上风电数据 · 功率预测 · 风险评估 · 强化学习调度 · 智能问答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731520" y="4297680"/>
            <a:ext cx="64008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Offshore Wind Power Forecasting &amp; RL Dispatch Agent System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365760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目录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028700"/>
            <a:ext cx="347472" cy="347472"/>
          </a:xfrm>
          <a:prstGeom prst="ellipse">
            <a:avLst/>
          </a:prstGeom>
          <a:solidFill>
            <a:srgbClr val="F0F9FF"/>
          </a:solidFill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0761" y="1080821"/>
            <a:ext cx="243230" cy="24323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51560" y="98298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B8A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01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051560" y="1211580"/>
            <a:ext cx="34747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项目背景与问题定义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4754880" y="1028700"/>
            <a:ext cx="347472" cy="347472"/>
          </a:xfrm>
          <a:prstGeom prst="ellipse">
            <a:avLst/>
          </a:prstGeom>
          <a:solidFill>
            <a:srgbClr val="F0F9FF"/>
          </a:solidFill>
        </p:spPr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7001" y="1080821"/>
            <a:ext cx="243230" cy="24323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257800" y="98298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B8A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02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5257800" y="1211580"/>
            <a:ext cx="34747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数据概况与时间线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548640" y="1943100"/>
            <a:ext cx="347472" cy="347472"/>
          </a:xfrm>
          <a:prstGeom prst="ellipse">
            <a:avLst/>
          </a:prstGeom>
          <a:solidFill>
            <a:srgbClr val="F0F9FF"/>
          </a:solidFill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761" y="1995221"/>
            <a:ext cx="243230" cy="24323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051560" y="189738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B8A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03</a:t>
            </a:r>
            <a:endParaRPr lang="en-US" sz="1100" dirty="0"/>
          </a:p>
        </p:txBody>
      </p:sp>
      <p:sp>
        <p:nvSpPr>
          <p:cNvPr id="14" name="Text 9"/>
          <p:cNvSpPr/>
          <p:nvPr/>
        </p:nvSpPr>
        <p:spPr>
          <a:xfrm>
            <a:off x="1051560" y="2125980"/>
            <a:ext cx="34747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系统技术架构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4754880" y="1943100"/>
            <a:ext cx="347472" cy="347472"/>
          </a:xfrm>
          <a:prstGeom prst="ellipse">
            <a:avLst/>
          </a:prstGeom>
          <a:solidFill>
            <a:srgbClr val="F0F9FF"/>
          </a:solidFill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7001" y="1995221"/>
            <a:ext cx="243230" cy="24323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5257800" y="189738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B8A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04</a:t>
            </a:r>
            <a:endParaRPr lang="en-US" sz="1100" dirty="0"/>
          </a:p>
        </p:txBody>
      </p:sp>
      <p:sp>
        <p:nvSpPr>
          <p:cNvPr id="18" name="Text 12"/>
          <p:cNvSpPr/>
          <p:nvPr/>
        </p:nvSpPr>
        <p:spPr>
          <a:xfrm>
            <a:off x="5257800" y="2125980"/>
            <a:ext cx="34747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特征工程（38维气象+时序特征）</a:t>
            </a:r>
            <a:endParaRPr lang="en-US" sz="1500" dirty="0"/>
          </a:p>
        </p:txBody>
      </p:sp>
      <p:sp>
        <p:nvSpPr>
          <p:cNvPr id="19" name="Shape 13"/>
          <p:cNvSpPr/>
          <p:nvPr/>
        </p:nvSpPr>
        <p:spPr>
          <a:xfrm>
            <a:off x="548640" y="2857500"/>
            <a:ext cx="347472" cy="347472"/>
          </a:xfrm>
          <a:prstGeom prst="ellipse">
            <a:avLst/>
          </a:prstGeom>
          <a:solidFill>
            <a:srgbClr val="F0F9FF"/>
          </a:solidFill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0761" y="2909621"/>
            <a:ext cx="243230" cy="24323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1051560" y="281178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B8A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05</a:t>
            </a:r>
            <a:endParaRPr lang="en-US" sz="1100" dirty="0"/>
          </a:p>
        </p:txBody>
      </p:sp>
      <p:sp>
        <p:nvSpPr>
          <p:cNvPr id="22" name="Text 15"/>
          <p:cNvSpPr/>
          <p:nvPr/>
        </p:nvSpPr>
        <p:spPr>
          <a:xfrm>
            <a:off x="1051560" y="3040380"/>
            <a:ext cx="34747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功率预测：梯度提升树双模型对比</a:t>
            </a:r>
            <a:endParaRPr lang="en-US" sz="1500" dirty="0"/>
          </a:p>
        </p:txBody>
      </p:sp>
      <p:sp>
        <p:nvSpPr>
          <p:cNvPr id="23" name="Shape 16"/>
          <p:cNvSpPr/>
          <p:nvPr/>
        </p:nvSpPr>
        <p:spPr>
          <a:xfrm>
            <a:off x="4754880" y="2857500"/>
            <a:ext cx="347472" cy="347472"/>
          </a:xfrm>
          <a:prstGeom prst="ellipse">
            <a:avLst/>
          </a:prstGeom>
          <a:solidFill>
            <a:srgbClr val="F0F9FF"/>
          </a:solidFill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07001" y="2909621"/>
            <a:ext cx="243230" cy="24323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5257800" y="281178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B8A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06</a:t>
            </a:r>
            <a:endParaRPr lang="en-US" sz="1100" dirty="0"/>
          </a:p>
        </p:txBody>
      </p:sp>
      <p:sp>
        <p:nvSpPr>
          <p:cNvPr id="26" name="Text 18"/>
          <p:cNvSpPr/>
          <p:nvPr/>
        </p:nvSpPr>
        <p:spPr>
          <a:xfrm>
            <a:off x="5257800" y="3040380"/>
            <a:ext cx="34747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风险评分：7因素加权融合</a:t>
            </a:r>
            <a:endParaRPr lang="en-US" sz="1500" dirty="0"/>
          </a:p>
        </p:txBody>
      </p:sp>
      <p:sp>
        <p:nvSpPr>
          <p:cNvPr id="27" name="Shape 19"/>
          <p:cNvSpPr/>
          <p:nvPr/>
        </p:nvSpPr>
        <p:spPr>
          <a:xfrm>
            <a:off x="548640" y="3771900"/>
            <a:ext cx="347472" cy="347472"/>
          </a:xfrm>
          <a:prstGeom prst="ellipse">
            <a:avLst/>
          </a:prstGeom>
          <a:solidFill>
            <a:srgbClr val="F0F9FF"/>
          </a:solidFill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0761" y="3824021"/>
            <a:ext cx="243230" cy="24323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1051560" y="372618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B8A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07</a:t>
            </a:r>
            <a:endParaRPr lang="en-US" sz="1100" dirty="0"/>
          </a:p>
        </p:txBody>
      </p:sp>
      <p:sp>
        <p:nvSpPr>
          <p:cNvPr id="30" name="Text 21"/>
          <p:cNvSpPr/>
          <p:nvPr/>
        </p:nvSpPr>
        <p:spPr>
          <a:xfrm>
            <a:off x="1051560" y="3954780"/>
            <a:ext cx="34747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强化学习调度策略</a:t>
            </a:r>
            <a:endParaRPr lang="en-US" sz="1500" dirty="0"/>
          </a:p>
        </p:txBody>
      </p:sp>
      <p:sp>
        <p:nvSpPr>
          <p:cNvPr id="31" name="Shape 22"/>
          <p:cNvSpPr/>
          <p:nvPr/>
        </p:nvSpPr>
        <p:spPr>
          <a:xfrm>
            <a:off x="4754880" y="3771900"/>
            <a:ext cx="347472" cy="347472"/>
          </a:xfrm>
          <a:prstGeom prst="ellipse">
            <a:avLst/>
          </a:prstGeom>
          <a:solidFill>
            <a:srgbClr val="F0F9FF"/>
          </a:solidFill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07001" y="3824021"/>
            <a:ext cx="243230" cy="24323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257800" y="372618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B8A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08</a:t>
            </a:r>
            <a:endParaRPr lang="en-US" sz="1100" dirty="0"/>
          </a:p>
        </p:txBody>
      </p:sp>
      <p:sp>
        <p:nvSpPr>
          <p:cNvPr id="34" name="Text 24"/>
          <p:cNvSpPr/>
          <p:nvPr/>
        </p:nvSpPr>
        <p:spPr>
          <a:xfrm>
            <a:off x="5257800" y="3954780"/>
            <a:ext cx="34747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系统演示（前端大屏截图）</a:t>
            </a:r>
            <a:endParaRPr lang="en-US" sz="1500" dirty="0"/>
          </a:p>
        </p:txBody>
      </p:sp>
      <p:sp>
        <p:nvSpPr>
          <p:cNvPr id="35" name="Shape 25"/>
          <p:cNvSpPr/>
          <p:nvPr/>
        </p:nvSpPr>
        <p:spPr>
          <a:xfrm>
            <a:off x="548640" y="4686300"/>
            <a:ext cx="347472" cy="347472"/>
          </a:xfrm>
          <a:prstGeom prst="ellipse">
            <a:avLst/>
          </a:prstGeom>
          <a:solidFill>
            <a:srgbClr val="F0F9FF"/>
          </a:solidFill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0761" y="4738421"/>
            <a:ext cx="243230" cy="24323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1051560" y="464058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B8A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09</a:t>
            </a:r>
            <a:endParaRPr lang="en-US" sz="1100" dirty="0"/>
          </a:p>
        </p:txBody>
      </p:sp>
      <p:sp>
        <p:nvSpPr>
          <p:cNvPr id="38" name="Text 27"/>
          <p:cNvSpPr/>
          <p:nvPr/>
        </p:nvSpPr>
        <p:spPr>
          <a:xfrm>
            <a:off x="1051560" y="4869180"/>
            <a:ext cx="34747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总结与展望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731520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项目背景与问题定义</a:t>
            </a:r>
            <a:endParaRPr lang="en-US" sz="3200" dirty="0"/>
          </a:p>
        </p:txBody>
      </p:sp>
      <p:sp>
        <p:nvSpPr>
          <p:cNvPr id="3" name="Shape 1"/>
          <p:cNvSpPr/>
          <p:nvPr>
            <p:custDataLst>
              <p:tags r:id="rId1"/>
            </p:custDataLst>
          </p:nvPr>
        </p:nvSpPr>
        <p:spPr>
          <a:xfrm>
            <a:off x="457200" y="1188720"/>
            <a:ext cx="4389120" cy="1051560"/>
          </a:xfrm>
          <a:prstGeom prst="rect">
            <a:avLst/>
          </a:prstGeom>
          <a:solidFill>
            <a:srgbClr val="FFFFFF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4" name="Shape 2"/>
          <p:cNvSpPr/>
          <p:nvPr>
            <p:custDataLst>
              <p:tags r:id="rId2"/>
            </p:custDataLst>
          </p:nvPr>
        </p:nvSpPr>
        <p:spPr>
          <a:xfrm>
            <a:off x="457200" y="1188720"/>
            <a:ext cx="54864" cy="1051560"/>
          </a:xfrm>
          <a:prstGeom prst="rect">
            <a:avLst/>
          </a:prstGeom>
          <a:solidFill>
            <a:srgbClr val="14B8A6"/>
          </a:solidFill>
        </p:spPr>
        <p:txBody>
          <a:bodyPr/>
          <a:p/>
        </p:txBody>
      </p:sp>
      <p:sp>
        <p:nvSpPr>
          <p:cNvPr id="5" name="Shape 3"/>
          <p:cNvSpPr/>
          <p:nvPr>
            <p:custDataLst>
              <p:tags r:id="rId3"/>
            </p:custDataLst>
          </p:nvPr>
        </p:nvSpPr>
        <p:spPr>
          <a:xfrm>
            <a:off x="640080" y="1417320"/>
            <a:ext cx="384048" cy="384048"/>
          </a:xfrm>
          <a:prstGeom prst="ellipse">
            <a:avLst/>
          </a:prstGeom>
          <a:solidFill>
            <a:srgbClr val="F0F9FF"/>
          </a:solidFill>
        </p:spPr>
        <p:txBody>
          <a:bodyPr/>
          <a:p/>
        </p:txBody>
      </p:sp>
      <p:pic>
        <p:nvPicPr>
          <p:cNvPr id="6" name="Image 0" descr="preencoded.png"/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5"/>
          <a:stretch>
            <a:fillRect/>
          </a:stretch>
        </p:blipFill>
        <p:spPr>
          <a:xfrm>
            <a:off x="697687" y="1474927"/>
            <a:ext cx="268834" cy="268834"/>
          </a:xfrm>
          <a:prstGeom prst="rect">
            <a:avLst/>
          </a:prstGeom>
        </p:spPr>
      </p:pic>
      <p:sp>
        <p:nvSpPr>
          <p:cNvPr id="7" name="Text 4"/>
          <p:cNvSpPr/>
          <p:nvPr>
            <p:custDataLst>
              <p:tags r:id="rId6"/>
            </p:custDataLst>
          </p:nvPr>
        </p:nvSpPr>
        <p:spPr>
          <a:xfrm>
            <a:off x="1188720" y="1325880"/>
            <a:ext cx="34747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风电出力波动大</a:t>
            </a:r>
            <a:endParaRPr lang="en-US" sz="1600" dirty="0"/>
          </a:p>
        </p:txBody>
      </p:sp>
      <p:sp>
        <p:nvSpPr>
          <p:cNvPr id="8" name="Text 5"/>
          <p:cNvSpPr/>
          <p:nvPr>
            <p:custDataLst>
              <p:tags r:id="rId7"/>
            </p:custDataLst>
          </p:nvPr>
        </p:nvSpPr>
        <p:spPr>
          <a:xfrm>
            <a:off x="1188720" y="1645920"/>
            <a:ext cx="34747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风速变化导致功率在0~满负荷之间剧烈波动，15分钟间隔的预测难度极高</a:t>
            </a:r>
            <a:endParaRPr lang="en-US" sz="1200" dirty="0"/>
          </a:p>
        </p:txBody>
      </p:sp>
      <p:sp>
        <p:nvSpPr>
          <p:cNvPr id="9" name="Shape 6"/>
          <p:cNvSpPr/>
          <p:nvPr>
            <p:custDataLst>
              <p:tags r:id="rId8"/>
            </p:custDataLst>
          </p:nvPr>
        </p:nvSpPr>
        <p:spPr>
          <a:xfrm>
            <a:off x="457200" y="2423160"/>
            <a:ext cx="4389120" cy="1051560"/>
          </a:xfrm>
          <a:prstGeom prst="rect">
            <a:avLst/>
          </a:prstGeom>
          <a:solidFill>
            <a:srgbClr val="FFFFFF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0" name="Shape 7"/>
          <p:cNvSpPr/>
          <p:nvPr>
            <p:custDataLst>
              <p:tags r:id="rId9"/>
            </p:custDataLst>
          </p:nvPr>
        </p:nvSpPr>
        <p:spPr>
          <a:xfrm>
            <a:off x="457200" y="2423160"/>
            <a:ext cx="54864" cy="1051560"/>
          </a:xfrm>
          <a:prstGeom prst="rect">
            <a:avLst/>
          </a:prstGeom>
          <a:solidFill>
            <a:srgbClr val="14B8A6"/>
          </a:solidFill>
        </p:spPr>
        <p:txBody>
          <a:bodyPr/>
          <a:p/>
        </p:txBody>
      </p:sp>
      <p:sp>
        <p:nvSpPr>
          <p:cNvPr id="11" name="Shape 8"/>
          <p:cNvSpPr/>
          <p:nvPr>
            <p:custDataLst>
              <p:tags r:id="rId10"/>
            </p:custDataLst>
          </p:nvPr>
        </p:nvSpPr>
        <p:spPr>
          <a:xfrm>
            <a:off x="640080" y="2651760"/>
            <a:ext cx="384048" cy="384048"/>
          </a:xfrm>
          <a:prstGeom prst="ellipse">
            <a:avLst/>
          </a:prstGeom>
          <a:solidFill>
            <a:srgbClr val="F0F9FF"/>
          </a:solidFill>
        </p:spPr>
        <p:txBody>
          <a:bodyPr/>
          <a:p/>
        </p:txBody>
      </p:sp>
      <p:pic>
        <p:nvPicPr>
          <p:cNvPr id="12" name="Image 1" descr="preencoded.png"/>
          <p:cNvPicPr>
            <a:picLocks noChangeAspect="1"/>
          </p:cNvPicPr>
          <p:nvPr>
            <p:custDataLst>
              <p:tags r:id="rId11"/>
            </p:custDataLst>
          </p:nvPr>
        </p:nvPicPr>
        <p:blipFill>
          <a:blip r:embed="rId12"/>
          <a:stretch>
            <a:fillRect/>
          </a:stretch>
        </p:blipFill>
        <p:spPr>
          <a:xfrm>
            <a:off x="697687" y="2709367"/>
            <a:ext cx="268834" cy="268834"/>
          </a:xfrm>
          <a:prstGeom prst="rect">
            <a:avLst/>
          </a:prstGeom>
        </p:spPr>
      </p:pic>
      <p:sp>
        <p:nvSpPr>
          <p:cNvPr id="13" name="Text 9"/>
          <p:cNvSpPr/>
          <p:nvPr>
            <p:custDataLst>
              <p:tags r:id="rId13"/>
            </p:custDataLst>
          </p:nvPr>
        </p:nvSpPr>
        <p:spPr>
          <a:xfrm>
            <a:off x="1188720" y="2560320"/>
            <a:ext cx="34747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调度风险高</a:t>
            </a:r>
            <a:endParaRPr lang="en-US" sz="1600" dirty="0"/>
          </a:p>
        </p:txBody>
      </p:sp>
      <p:sp>
        <p:nvSpPr>
          <p:cNvPr id="14" name="Text 10"/>
          <p:cNvSpPr/>
          <p:nvPr>
            <p:custDataLst>
              <p:tags r:id="rId14"/>
            </p:custDataLst>
          </p:nvPr>
        </p:nvSpPr>
        <p:spPr>
          <a:xfrm>
            <a:off x="1188720" y="2880360"/>
            <a:ext cx="34747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功率预测偏差可能导致供电缺口，影响电网稳定性与设备安全</a:t>
            </a:r>
            <a:endParaRPr lang="en-US" sz="1200" dirty="0"/>
          </a:p>
        </p:txBody>
      </p:sp>
      <p:sp>
        <p:nvSpPr>
          <p:cNvPr id="15" name="Shape 11"/>
          <p:cNvSpPr/>
          <p:nvPr>
            <p:custDataLst>
              <p:tags r:id="rId15"/>
            </p:custDataLst>
          </p:nvPr>
        </p:nvSpPr>
        <p:spPr>
          <a:xfrm>
            <a:off x="457200" y="3657600"/>
            <a:ext cx="4389120" cy="1051560"/>
          </a:xfrm>
          <a:prstGeom prst="rect">
            <a:avLst/>
          </a:prstGeom>
          <a:solidFill>
            <a:srgbClr val="FFFFFF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6" name="Shape 12"/>
          <p:cNvSpPr/>
          <p:nvPr>
            <p:custDataLst>
              <p:tags r:id="rId16"/>
            </p:custDataLst>
          </p:nvPr>
        </p:nvSpPr>
        <p:spPr>
          <a:xfrm>
            <a:off x="457200" y="3657600"/>
            <a:ext cx="54864" cy="1051560"/>
          </a:xfrm>
          <a:prstGeom prst="rect">
            <a:avLst/>
          </a:prstGeom>
          <a:solidFill>
            <a:srgbClr val="14B8A6"/>
          </a:solidFill>
        </p:spPr>
        <p:txBody>
          <a:bodyPr/>
          <a:p/>
        </p:txBody>
      </p:sp>
      <p:sp>
        <p:nvSpPr>
          <p:cNvPr id="17" name="Shape 13"/>
          <p:cNvSpPr/>
          <p:nvPr>
            <p:custDataLst>
              <p:tags r:id="rId17"/>
            </p:custDataLst>
          </p:nvPr>
        </p:nvSpPr>
        <p:spPr>
          <a:xfrm>
            <a:off x="640080" y="3886200"/>
            <a:ext cx="384048" cy="384048"/>
          </a:xfrm>
          <a:prstGeom prst="ellipse">
            <a:avLst/>
          </a:prstGeom>
          <a:solidFill>
            <a:srgbClr val="F0F9FF"/>
          </a:solidFill>
        </p:spPr>
        <p:txBody>
          <a:bodyPr/>
          <a:p/>
        </p:txBody>
      </p:sp>
      <p:pic>
        <p:nvPicPr>
          <p:cNvPr id="18" name="Image 2" descr="preencoded.png"/>
          <p:cNvPicPr>
            <a:picLocks noChangeAspect="1"/>
          </p:cNvPicPr>
          <p:nvPr>
            <p:custDataLst>
              <p:tags r:id="rId18"/>
            </p:custDataLst>
          </p:nvPr>
        </p:nvPicPr>
        <p:blipFill>
          <a:blip r:embed="rId19"/>
          <a:stretch>
            <a:fillRect/>
          </a:stretch>
        </p:blipFill>
        <p:spPr>
          <a:xfrm>
            <a:off x="697687" y="3943807"/>
            <a:ext cx="268834" cy="268834"/>
          </a:xfrm>
          <a:prstGeom prst="rect">
            <a:avLst/>
          </a:prstGeom>
        </p:spPr>
      </p:pic>
      <p:sp>
        <p:nvSpPr>
          <p:cNvPr id="19" name="Text 14"/>
          <p:cNvSpPr/>
          <p:nvPr>
            <p:custDataLst>
              <p:tags r:id="rId20"/>
            </p:custDataLst>
          </p:nvPr>
        </p:nvSpPr>
        <p:spPr>
          <a:xfrm>
            <a:off x="1188720" y="3794760"/>
            <a:ext cx="34747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收益与安全矛盾</a:t>
            </a:r>
            <a:endParaRPr lang="en-US" sz="1600" dirty="0"/>
          </a:p>
        </p:txBody>
      </p:sp>
      <p:sp>
        <p:nvSpPr>
          <p:cNvPr id="20" name="Text 15"/>
          <p:cNvSpPr/>
          <p:nvPr>
            <p:custDataLst>
              <p:tags r:id="rId21"/>
            </p:custDataLst>
          </p:nvPr>
        </p:nvSpPr>
        <p:spPr>
          <a:xfrm>
            <a:off x="1188720" y="4114800"/>
            <a:ext cx="34747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激进的并网策略追求收益，保守策略保障安全——如何取得最优平衡？</a:t>
            </a:r>
            <a:endParaRPr lang="en-US" sz="1200" dirty="0"/>
          </a:p>
        </p:txBody>
      </p:sp>
      <p:sp>
        <p:nvSpPr>
          <p:cNvPr id="21" name="Shape 16"/>
          <p:cNvSpPr/>
          <p:nvPr/>
        </p:nvSpPr>
        <p:spPr>
          <a:xfrm>
            <a:off x="5212080" y="1188720"/>
            <a:ext cx="3474720" cy="3657600"/>
          </a:xfrm>
          <a:prstGeom prst="rect">
            <a:avLst/>
          </a:prstGeom>
          <a:solidFill>
            <a:srgbClr val="FFFFFF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2" name="Shape 17"/>
          <p:cNvSpPr/>
          <p:nvPr/>
        </p:nvSpPr>
        <p:spPr>
          <a:xfrm>
            <a:off x="5212080" y="1188720"/>
            <a:ext cx="54864" cy="3657600"/>
          </a:xfrm>
          <a:prstGeom prst="rect">
            <a:avLst/>
          </a:prstGeom>
          <a:solidFill>
            <a:srgbClr val="065A82"/>
          </a:solidFill>
        </p:spPr>
        <p:txBody>
          <a:bodyPr/>
          <a:p/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5394960" y="1371600"/>
            <a:ext cx="411480" cy="41148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5943600" y="1371600"/>
            <a:ext cx="256032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数据来源</a:t>
            </a:r>
            <a:endParaRPr lang="en-US" sz="1600" dirty="0"/>
          </a:p>
          <a:p>
            <a:r>
              <a:rPr sz="900">
                <a:solidFill>
                  <a:srgbClr val="A0C8DC"/>
                </a:solidFill>
              </a:rPr>
              <a:t>数据总量: 训练集约30万条, 验证集约8万条 (15分钟间隔×5站点×16个月)</a:t>
            </a:r>
            <a:endParaRPr sz="900">
              <a:solidFill>
                <a:srgbClr val="A0C8DC"/>
              </a:solidFill>
            </a:endParaRPr>
          </a:p>
        </p:txBody>
      </p:sp>
      <p:sp>
        <p:nvSpPr>
          <p:cNvPr id="25" name="Text 19"/>
          <p:cNvSpPr/>
          <p:nvPr/>
        </p:nvSpPr>
        <p:spPr>
          <a:xfrm>
            <a:off x="5394960" y="1965960"/>
            <a:ext cx="3108960" cy="27432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zh-CN" altLang="en-US" sz="1300" b="1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数字中国创新大赛</a:t>
            </a:r>
            <a:r>
              <a:rPr lang="en-US" sz="1300" b="1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数据集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区域：福建省海上风电场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站点：5个风电场（f1-f5）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时间：15分钟分辨率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训练集：2022-01 ~ 2023-04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气象特征：11维传感器数据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核心目标：准确预测功率 + 优化调度策略，在收益最大化与风险最小化之间取得平衡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731520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数据概况与时间线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914400" y="1920240"/>
            <a:ext cx="228600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563E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训练集 (前80%)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2563E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2022-01 ~ 2023-01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474720" y="1920240"/>
            <a:ext cx="201168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5966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验证集 (后20%)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05966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有真实功率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583680" y="1920240"/>
            <a:ext cx="182880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9770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推演期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D9770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2023-05 ~ 07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D9770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无真实功率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48640" y="2834640"/>
            <a:ext cx="8046720" cy="36576"/>
          </a:xfrm>
          <a:prstGeom prst="rect">
            <a:avLst/>
          </a:prstGeom>
          <a:solidFill>
            <a:srgbClr val="14B8A6">
              <a:alpha val="60000"/>
            </a:srgbClr>
          </a:solidFill>
        </p:spPr>
      </p:sp>
      <p:sp>
        <p:nvSpPr>
          <p:cNvPr id="11" name="Shape 9"/>
          <p:cNvSpPr/>
          <p:nvPr/>
        </p:nvSpPr>
        <p:spPr>
          <a:xfrm>
            <a:off x="548640" y="3108960"/>
            <a:ext cx="457200" cy="457200"/>
          </a:xfrm>
          <a:prstGeom prst="ellipse">
            <a:avLst/>
          </a:prstGeom>
          <a:solidFill>
            <a:srgbClr val="F0F9FF"/>
          </a:solidFill>
        </p:spPr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7220" y="3177540"/>
            <a:ext cx="320040" cy="32004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097280" y="3017520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65A8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1097280" y="3383280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海上风电场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2651760" y="3108960"/>
            <a:ext cx="457200" cy="457200"/>
          </a:xfrm>
          <a:prstGeom prst="ellipse">
            <a:avLst/>
          </a:prstGeom>
          <a:solidFill>
            <a:srgbClr val="F0F9FF"/>
          </a:solidFill>
        </p:spPr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20340" y="3177540"/>
            <a:ext cx="320040" cy="32004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3200400" y="3017520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65A8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15min</a:t>
            </a:r>
            <a:endParaRPr lang="en-US" sz="2200" dirty="0"/>
          </a:p>
        </p:txBody>
      </p:sp>
      <p:sp>
        <p:nvSpPr>
          <p:cNvPr id="18" name="Text 14"/>
          <p:cNvSpPr/>
          <p:nvPr/>
        </p:nvSpPr>
        <p:spPr>
          <a:xfrm>
            <a:off x="3200400" y="3383280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数据分辨率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4754880" y="3108960"/>
            <a:ext cx="457200" cy="457200"/>
          </a:xfrm>
          <a:prstGeom prst="ellipse">
            <a:avLst/>
          </a:prstGeom>
          <a:solidFill>
            <a:srgbClr val="F0F9FF"/>
          </a:solidFill>
        </p:spPr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3460" y="3177540"/>
            <a:ext cx="320040" cy="32004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5303520" y="3017520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65A8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</a:t>
            </a:r>
            <a:endParaRPr lang="en-US" sz="2200" dirty="0"/>
          </a:p>
        </p:txBody>
      </p:sp>
      <p:sp>
        <p:nvSpPr>
          <p:cNvPr id="22" name="Text 17"/>
          <p:cNvSpPr/>
          <p:nvPr/>
        </p:nvSpPr>
        <p:spPr>
          <a:xfrm>
            <a:off x="5303520" y="3383280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原始气象特征</a:t>
            </a:r>
            <a:endParaRPr lang="en-US" sz="1100" dirty="0"/>
          </a:p>
        </p:txBody>
      </p:sp>
      <p:sp>
        <p:nvSpPr>
          <p:cNvPr id="23" name="Shape 18"/>
          <p:cNvSpPr/>
          <p:nvPr/>
        </p:nvSpPr>
        <p:spPr>
          <a:xfrm>
            <a:off x="6858000" y="3108960"/>
            <a:ext cx="457200" cy="457200"/>
          </a:xfrm>
          <a:prstGeom prst="ellipse">
            <a:avLst/>
          </a:prstGeom>
          <a:solidFill>
            <a:srgbClr val="F0F9FF"/>
          </a:solidFill>
        </p:spPr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26580" y="3177540"/>
            <a:ext cx="320040" cy="32004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7406640" y="3017520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65A8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38</a:t>
            </a:r>
            <a:endParaRPr lang="en-US" sz="2200" dirty="0"/>
          </a:p>
        </p:txBody>
      </p:sp>
      <p:sp>
        <p:nvSpPr>
          <p:cNvPr id="26" name="Text 20"/>
          <p:cNvSpPr/>
          <p:nvPr/>
        </p:nvSpPr>
        <p:spPr>
          <a:xfrm>
            <a:off x="7406640" y="3383280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工程特征维度</a:t>
            </a:r>
            <a:endParaRPr lang="en-US" sz="1100" dirty="0"/>
          </a:p>
        </p:txBody>
      </p:sp>
      <p:sp>
        <p:nvSpPr>
          <p:cNvPr id="27" name="Shape 21"/>
          <p:cNvSpPr/>
          <p:nvPr/>
        </p:nvSpPr>
        <p:spPr>
          <a:xfrm>
            <a:off x="548640" y="3931920"/>
            <a:ext cx="8046720" cy="1005840"/>
          </a:xfrm>
          <a:prstGeom prst="rect">
            <a:avLst/>
          </a:prstGeom>
          <a:solidFill>
            <a:srgbClr val="FFFFFF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548640" y="3931920"/>
            <a:ext cx="54864" cy="1005840"/>
          </a:xfrm>
          <a:prstGeom prst="rect">
            <a:avLst/>
          </a:prstGeom>
          <a:solidFill>
            <a:srgbClr val="065A82"/>
          </a:solidFill>
        </p:spPr>
      </p:sp>
      <p:pic>
        <p:nvPicPr>
          <p:cNvPr id="29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4114800"/>
            <a:ext cx="320040" cy="320040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1188720" y="4023360"/>
            <a:ext cx="7223760" cy="82296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数据划分原则</a:t>
            </a:r>
            <a:endParaRPr lang="en-US" sz="1400" dirty="0"/>
          </a:p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按站点内时间顺序划分（非随机），避免未来信息泄露。验证集后20%含真实功率，精度可量化评估。推演期为A榜测试集，无真实值，仅展示模型推演能力。</a:t>
            </a:r>
            <a:endParaRPr lang="en-US" sz="1400" dirty="0"/>
          </a:p>
        </p:txBody>
      </p:sp>
      <p:sp>
        <p:nvSpPr>
          <p:cNvPr id="33" name="Shape 1"/>
          <p:cNvSpPr/>
          <p:nvPr/>
        </p:nvSpPr>
        <p:spPr>
          <a:xfrm>
            <a:off x="914400" y="1645920"/>
            <a:ext cx="7315200" cy="54864"/>
          </a:xfrm>
          <a:prstGeom prst="rect">
            <a:avLst/>
          </a:prstGeom>
          <a:solidFill>
            <a:srgbClr val="64748B"/>
          </a:solidFill>
        </p:spPr>
      </p:sp>
      <p:sp>
        <p:nvSpPr>
          <p:cNvPr id="34" name="Shape 2"/>
          <p:cNvSpPr/>
          <p:nvPr/>
        </p:nvSpPr>
        <p:spPr>
          <a:xfrm>
            <a:off x="914400" y="1600200"/>
            <a:ext cx="4846320" cy="146304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35" name="Shape 3"/>
          <p:cNvSpPr/>
          <p:nvPr/>
        </p:nvSpPr>
        <p:spPr>
          <a:xfrm>
            <a:off x="5760720" y="1600200"/>
            <a:ext cx="1188720" cy="146304"/>
          </a:xfrm>
          <a:prstGeom prst="rect">
            <a:avLst/>
          </a:prstGeom>
          <a:solidFill>
            <a:srgbClr val="059669"/>
          </a:solidFill>
        </p:spPr>
      </p:sp>
      <p:sp>
        <p:nvSpPr>
          <p:cNvPr id="36" name="Shape 4"/>
          <p:cNvSpPr/>
          <p:nvPr/>
        </p:nvSpPr>
        <p:spPr>
          <a:xfrm>
            <a:off x="6949440" y="1600200"/>
            <a:ext cx="1280160" cy="146304"/>
          </a:xfrm>
          <a:prstGeom prst="rect">
            <a:avLst/>
          </a:prstGeom>
          <a:solidFill>
            <a:srgbClr val="D97706"/>
          </a:solidFill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731520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系统技术架构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274320" y="1280160"/>
            <a:ext cx="1325880" cy="2011680"/>
          </a:xfrm>
          <a:prstGeom prst="rect">
            <a:avLst/>
          </a:prstGeom>
          <a:solidFill>
            <a:srgbClr val="2563EB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85800" y="1463040"/>
            <a:ext cx="457200" cy="457200"/>
          </a:xfrm>
          <a:prstGeom prst="ellipse">
            <a:avLst/>
          </a:prstGeom>
          <a:solidFill>
            <a:srgbClr val="FFFFFF"/>
          </a:solidFill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" y="1531620"/>
            <a:ext cx="320040" cy="3200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74320" y="2057400"/>
            <a:ext cx="13258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数据层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274320" y="2377440"/>
            <a:ext cx="1325880" cy="8229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CSV清洗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多编码回退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站点合并</a:t>
            </a:r>
            <a:endParaRPr lang="en-US" sz="900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0200" y="2148840"/>
            <a:ext cx="182880" cy="18288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1737360" y="1280160"/>
            <a:ext cx="1325880" cy="2011680"/>
          </a:xfrm>
          <a:prstGeom prst="rect">
            <a:avLst/>
          </a:prstGeom>
          <a:solidFill>
            <a:srgbClr val="1C7293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2148840" y="1463040"/>
            <a:ext cx="457200" cy="457200"/>
          </a:xfrm>
          <a:prstGeom prst="ellipse">
            <a:avLst/>
          </a:prstGeom>
          <a:solidFill>
            <a:srgbClr val="FFFFFF"/>
          </a:solidFill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7420" y="1531620"/>
            <a:ext cx="320040" cy="32004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737360" y="2057400"/>
            <a:ext cx="13258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特征工程</a:t>
            </a:r>
            <a:endParaRPr lang="en-US" sz="1400" dirty="0"/>
          </a:p>
        </p:txBody>
      </p:sp>
      <p:sp>
        <p:nvSpPr>
          <p:cNvPr id="13" name="Text 8"/>
          <p:cNvSpPr/>
          <p:nvPr/>
        </p:nvSpPr>
        <p:spPr>
          <a:xfrm>
            <a:off x="1737360" y="2377440"/>
            <a:ext cx="1325880" cy="8229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38维特征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循环编码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风向分解</a:t>
            </a:r>
            <a:endParaRPr lang="en-US" sz="900" dirty="0"/>
          </a:p>
          <a:p>
            <a:endParaRPr sz="900"/>
          </a:p>
          <a:p>
            <a:endParaRPr sz="900">
              <a:solidFill>
                <a:srgbClr val="A0C8DC"/>
              </a:solidFill>
            </a:endParaRPr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3240" y="2148840"/>
            <a:ext cx="182880" cy="182880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3200400" y="1280160"/>
            <a:ext cx="1325880" cy="2011680"/>
          </a:xfrm>
          <a:prstGeom prst="rect">
            <a:avLst/>
          </a:prstGeom>
          <a:solidFill>
            <a:srgbClr val="059669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6" name="Shape 10"/>
          <p:cNvSpPr/>
          <p:nvPr/>
        </p:nvSpPr>
        <p:spPr>
          <a:xfrm>
            <a:off x="3611880" y="1463040"/>
            <a:ext cx="457200" cy="457200"/>
          </a:xfrm>
          <a:prstGeom prst="ellipse">
            <a:avLst/>
          </a:prstGeom>
          <a:solidFill>
            <a:srgbClr val="FFFFFF"/>
          </a:solidFill>
        </p:spPr>
      </p:sp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80460" y="1531620"/>
            <a:ext cx="320040" cy="320040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3200400" y="2057400"/>
            <a:ext cx="13258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功率预测</a:t>
            </a:r>
            <a:endParaRPr lang="en-US" sz="1400" dirty="0"/>
          </a:p>
        </p:txBody>
      </p:sp>
      <p:sp>
        <p:nvSpPr>
          <p:cNvPr id="19" name="Text 12"/>
          <p:cNvSpPr/>
          <p:nvPr/>
        </p:nvSpPr>
        <p:spPr>
          <a:xfrm>
            <a:off x="3200400" y="2377440"/>
            <a:ext cx="1325880" cy="8229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HistGBR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LightGBM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双模型对比</a:t>
            </a:r>
            <a:endParaRPr lang="en-US" sz="900" dirty="0"/>
          </a:p>
        </p:txBody>
      </p:sp>
      <p:pic>
        <p:nvPicPr>
          <p:cNvPr id="20" name="Image 5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0" y="2148840"/>
            <a:ext cx="182880" cy="182880"/>
          </a:xfrm>
          <a:prstGeom prst="rect">
            <a:avLst/>
          </a:prstGeom>
        </p:spPr>
      </p:pic>
      <p:sp>
        <p:nvSpPr>
          <p:cNvPr id="21" name="Shape 13"/>
          <p:cNvSpPr/>
          <p:nvPr/>
        </p:nvSpPr>
        <p:spPr>
          <a:xfrm>
            <a:off x="4663440" y="1280160"/>
            <a:ext cx="1325880" cy="2011680"/>
          </a:xfrm>
          <a:prstGeom prst="rect">
            <a:avLst/>
          </a:prstGeom>
          <a:solidFill>
            <a:srgbClr val="D97706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2" name="Shape 14"/>
          <p:cNvSpPr/>
          <p:nvPr/>
        </p:nvSpPr>
        <p:spPr>
          <a:xfrm>
            <a:off x="5074920" y="1463040"/>
            <a:ext cx="457200" cy="457200"/>
          </a:xfrm>
          <a:prstGeom prst="ellipse">
            <a:avLst/>
          </a:prstGeom>
          <a:solidFill>
            <a:srgbClr val="FFFFFF"/>
          </a:solidFill>
        </p:spPr>
      </p:sp>
      <p:pic>
        <p:nvPicPr>
          <p:cNvPr id="23" name="Image 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43500" y="1531620"/>
            <a:ext cx="320040" cy="320040"/>
          </a:xfrm>
          <a:prstGeom prst="rect">
            <a:avLst/>
          </a:prstGeom>
        </p:spPr>
      </p:pic>
      <p:sp>
        <p:nvSpPr>
          <p:cNvPr id="24" name="Text 15"/>
          <p:cNvSpPr/>
          <p:nvPr/>
        </p:nvSpPr>
        <p:spPr>
          <a:xfrm>
            <a:off x="4663440" y="2057400"/>
            <a:ext cx="13258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风险评分</a:t>
            </a:r>
            <a:endParaRPr lang="en-US" sz="1400" dirty="0"/>
          </a:p>
        </p:txBody>
      </p:sp>
      <p:sp>
        <p:nvSpPr>
          <p:cNvPr id="25" name="Text 16"/>
          <p:cNvSpPr/>
          <p:nvPr/>
        </p:nvSpPr>
        <p:spPr>
          <a:xfrm>
            <a:off x="4663440" y="2377440"/>
            <a:ext cx="1325880" cy="8229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7因素加权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0-1归一化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风险分档</a:t>
            </a:r>
            <a:endParaRPr lang="en-US" sz="900" dirty="0"/>
          </a:p>
        </p:txBody>
      </p:sp>
      <p:pic>
        <p:nvPicPr>
          <p:cNvPr id="26" name="Image 7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148840"/>
            <a:ext cx="182880" cy="182880"/>
          </a:xfrm>
          <a:prstGeom prst="rect">
            <a:avLst/>
          </a:prstGeom>
        </p:spPr>
      </p:pic>
      <p:sp>
        <p:nvSpPr>
          <p:cNvPr id="27" name="Shape 17"/>
          <p:cNvSpPr/>
          <p:nvPr/>
        </p:nvSpPr>
        <p:spPr>
          <a:xfrm>
            <a:off x="6126480" y="1280160"/>
            <a:ext cx="1325880" cy="2011680"/>
          </a:xfrm>
          <a:prstGeom prst="rect">
            <a:avLst/>
          </a:prstGeom>
          <a:solidFill>
            <a:srgbClr val="7C3AED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8" name="Shape 18"/>
          <p:cNvSpPr/>
          <p:nvPr/>
        </p:nvSpPr>
        <p:spPr>
          <a:xfrm>
            <a:off x="6537960" y="1463040"/>
            <a:ext cx="457200" cy="457200"/>
          </a:xfrm>
          <a:prstGeom prst="ellipse">
            <a:avLst/>
          </a:prstGeom>
          <a:solidFill>
            <a:srgbClr val="FFFFFF"/>
          </a:solidFill>
        </p:spPr>
      </p:sp>
      <p:pic>
        <p:nvPicPr>
          <p:cNvPr id="29" name="Image 8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06540" y="1531620"/>
            <a:ext cx="320040" cy="320040"/>
          </a:xfrm>
          <a:prstGeom prst="rect">
            <a:avLst/>
          </a:prstGeom>
        </p:spPr>
      </p:pic>
      <p:sp>
        <p:nvSpPr>
          <p:cNvPr id="30" name="Text 19"/>
          <p:cNvSpPr/>
          <p:nvPr/>
        </p:nvSpPr>
        <p:spPr>
          <a:xfrm>
            <a:off x="6126480" y="2057400"/>
            <a:ext cx="13258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RL调度</a:t>
            </a:r>
            <a:endParaRPr lang="en-US" sz="1400" dirty="0"/>
          </a:p>
        </p:txBody>
      </p:sp>
      <p:sp>
        <p:nvSpPr>
          <p:cNvPr id="31" name="Text 20"/>
          <p:cNvSpPr/>
          <p:nvPr/>
        </p:nvSpPr>
        <p:spPr>
          <a:xfrm>
            <a:off x="6126480" y="2377440"/>
            <a:ext cx="1325880" cy="8229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Q-Learning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DQN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GA/启发式</a:t>
            </a:r>
            <a:endParaRPr lang="en-US" sz="900" dirty="0"/>
          </a:p>
        </p:txBody>
      </p:sp>
      <p:pic>
        <p:nvPicPr>
          <p:cNvPr id="32" name="Image 9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2148840"/>
            <a:ext cx="182880" cy="18288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7589520" y="1280160"/>
            <a:ext cx="1325880" cy="2011680"/>
          </a:xfrm>
          <a:prstGeom prst="rect">
            <a:avLst/>
          </a:prstGeom>
          <a:solidFill>
            <a:srgbClr val="DC2626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34" name="Shape 22"/>
          <p:cNvSpPr/>
          <p:nvPr/>
        </p:nvSpPr>
        <p:spPr>
          <a:xfrm>
            <a:off x="8001000" y="1463040"/>
            <a:ext cx="457200" cy="457200"/>
          </a:xfrm>
          <a:prstGeom prst="ellipse">
            <a:avLst/>
          </a:prstGeom>
          <a:solidFill>
            <a:srgbClr val="FFFFFF"/>
          </a:solidFill>
        </p:spPr>
      </p:sp>
      <p:pic>
        <p:nvPicPr>
          <p:cNvPr id="35" name="Image 10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69580" y="1531620"/>
            <a:ext cx="320040" cy="320040"/>
          </a:xfrm>
          <a:prstGeom prst="rect">
            <a:avLst/>
          </a:prstGeom>
        </p:spPr>
      </p:pic>
      <p:sp>
        <p:nvSpPr>
          <p:cNvPr id="36" name="Text 23"/>
          <p:cNvSpPr/>
          <p:nvPr/>
        </p:nvSpPr>
        <p:spPr>
          <a:xfrm>
            <a:off x="7589520" y="2057400"/>
            <a:ext cx="13258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API+前端</a:t>
            </a:r>
            <a:endParaRPr lang="en-US" sz="1400" dirty="0"/>
          </a:p>
        </p:txBody>
      </p:sp>
      <p:sp>
        <p:nvSpPr>
          <p:cNvPr id="37" name="Text 24"/>
          <p:cNvSpPr/>
          <p:nvPr/>
        </p:nvSpPr>
        <p:spPr>
          <a:xfrm>
            <a:off x="7589520" y="2377440"/>
            <a:ext cx="1325880" cy="8229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Flask REST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Vue 3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ECharts</a:t>
            </a:r>
            <a:endParaRPr lang="en-US" sz="900" dirty="0"/>
          </a:p>
        </p:txBody>
      </p:sp>
      <p:sp>
        <p:nvSpPr>
          <p:cNvPr id="38" name="Text 25"/>
          <p:cNvSpPr/>
          <p:nvPr/>
        </p:nvSpPr>
        <p:spPr>
          <a:xfrm>
            <a:off x="548640" y="356616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端到端闭环：原始气象数据 → 特征构建 → 双模型预测 → 风险量化 → 多策略调度优化 → Web可视化大屏</a:t>
            </a:r>
            <a:endParaRPr lang="en-US" sz="1200" dirty="0"/>
          </a:p>
        </p:txBody>
      </p:sp>
      <p:sp>
        <p:nvSpPr>
          <p:cNvPr id="39" name="Shape 26"/>
          <p:cNvSpPr/>
          <p:nvPr/>
        </p:nvSpPr>
        <p:spPr>
          <a:xfrm>
            <a:off x="548640" y="4023360"/>
            <a:ext cx="8046720" cy="914400"/>
          </a:xfrm>
          <a:prstGeom prst="rect">
            <a:avLst/>
          </a:prstGeom>
          <a:solidFill>
            <a:srgbClr val="FFFFFF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40" name="Shape 27"/>
          <p:cNvSpPr/>
          <p:nvPr/>
        </p:nvSpPr>
        <p:spPr>
          <a:xfrm>
            <a:off x="548640" y="4023360"/>
            <a:ext cx="54864" cy="914400"/>
          </a:xfrm>
          <a:prstGeom prst="rect">
            <a:avLst/>
          </a:prstGeom>
          <a:solidFill>
            <a:srgbClr val="14B8A6"/>
          </a:solidFill>
        </p:spPr>
      </p:sp>
      <p:sp>
        <p:nvSpPr>
          <p:cNvPr id="41" name="Text 28"/>
          <p:cNvSpPr/>
          <p:nvPr/>
        </p:nvSpPr>
        <p:spPr>
          <a:xfrm>
            <a:off x="731520" y="4114800"/>
            <a:ext cx="18288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HistGBR + LightGBM</a:t>
            </a:r>
            <a:endParaRPr lang="en-US" sz="1400" dirty="0"/>
          </a:p>
        </p:txBody>
      </p:sp>
      <p:sp>
        <p:nvSpPr>
          <p:cNvPr id="42" name="Text 29"/>
          <p:cNvSpPr/>
          <p:nvPr/>
        </p:nvSpPr>
        <p:spPr>
          <a:xfrm>
            <a:off x="731520" y="4434840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预测模型</a:t>
            </a:r>
            <a:endParaRPr lang="en-US" sz="1000" dirty="0"/>
          </a:p>
        </p:txBody>
      </p:sp>
      <p:sp>
        <p:nvSpPr>
          <p:cNvPr id="43" name="Text 30"/>
          <p:cNvSpPr/>
          <p:nvPr/>
        </p:nvSpPr>
        <p:spPr>
          <a:xfrm>
            <a:off x="2743200" y="4114800"/>
            <a:ext cx="18288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Q-Learning + DQN</a:t>
            </a:r>
            <a:endParaRPr lang="en-US" sz="1400" dirty="0"/>
          </a:p>
        </p:txBody>
      </p:sp>
      <p:sp>
        <p:nvSpPr>
          <p:cNvPr id="44" name="Text 31"/>
          <p:cNvSpPr/>
          <p:nvPr/>
        </p:nvSpPr>
        <p:spPr>
          <a:xfrm>
            <a:off x="2743200" y="4434840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RL调度算法</a:t>
            </a:r>
            <a:endParaRPr lang="en-US" sz="1000" dirty="0"/>
          </a:p>
        </p:txBody>
      </p:sp>
      <p:sp>
        <p:nvSpPr>
          <p:cNvPr id="45" name="Text 32"/>
          <p:cNvSpPr/>
          <p:nvPr/>
        </p:nvSpPr>
        <p:spPr>
          <a:xfrm>
            <a:off x="4754880" y="4114800"/>
            <a:ext cx="18288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启发式 + GA</a:t>
            </a:r>
            <a:endParaRPr lang="en-US" sz="1400" dirty="0"/>
          </a:p>
        </p:txBody>
      </p:sp>
      <p:sp>
        <p:nvSpPr>
          <p:cNvPr id="46" name="Text 33"/>
          <p:cNvSpPr/>
          <p:nvPr/>
        </p:nvSpPr>
        <p:spPr>
          <a:xfrm>
            <a:off x="4754880" y="4434840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对比基线</a:t>
            </a:r>
            <a:endParaRPr lang="en-US" sz="1000" dirty="0"/>
          </a:p>
        </p:txBody>
      </p:sp>
      <p:sp>
        <p:nvSpPr>
          <p:cNvPr id="47" name="Text 34"/>
          <p:cNvSpPr/>
          <p:nvPr/>
        </p:nvSpPr>
        <p:spPr>
          <a:xfrm>
            <a:off x="6766560" y="4114800"/>
            <a:ext cx="18288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Flask + Vue 3</a:t>
            </a:r>
            <a:endParaRPr lang="en-US" sz="1400" dirty="0"/>
          </a:p>
        </p:txBody>
      </p:sp>
      <p:sp>
        <p:nvSpPr>
          <p:cNvPr id="48" name="Text 35"/>
          <p:cNvSpPr/>
          <p:nvPr/>
        </p:nvSpPr>
        <p:spPr>
          <a:xfrm>
            <a:off x="6766560" y="4434840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前后端技术栈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Shape 22"/>
          <p:cNvSpPr/>
          <p:nvPr/>
        </p:nvSpPr>
        <p:spPr>
          <a:xfrm>
            <a:off x="4846320" y="2460625"/>
            <a:ext cx="4114800" cy="871855"/>
          </a:xfrm>
          <a:prstGeom prst="rect">
            <a:avLst/>
          </a:prstGeom>
          <a:solidFill>
            <a:srgbClr val="FFFFFF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35" name="Rectangle 34"/>
          <p:cNvSpPr/>
          <p:nvPr/>
        </p:nvSpPr>
        <p:spPr>
          <a:xfrm>
            <a:off x="499745" y="3305175"/>
            <a:ext cx="4114800" cy="1566545"/>
          </a:xfrm>
          <a:prstGeom prst="rect">
            <a:avLst/>
          </a:prstGeom>
          <a:solidFill>
            <a:srgbClr val="FFFFFF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" name="Text 0"/>
          <p:cNvSpPr/>
          <p:nvPr/>
        </p:nvSpPr>
        <p:spPr>
          <a:xfrm>
            <a:off x="548640" y="274320"/>
            <a:ext cx="777240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特征工程 — 从原始气象到38维特征矩阵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4114800" cy="1097280"/>
          </a:xfrm>
          <a:prstGeom prst="rect">
            <a:avLst/>
          </a:prstGeom>
          <a:solidFill>
            <a:srgbClr val="FFFFFF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4" name="Shape 2"/>
          <p:cNvSpPr/>
          <p:nvPr>
            <p:custDataLst>
              <p:tags r:id="rId1"/>
            </p:custDataLst>
          </p:nvPr>
        </p:nvSpPr>
        <p:spPr>
          <a:xfrm>
            <a:off x="457200" y="1143000"/>
            <a:ext cx="54864" cy="1737360"/>
          </a:xfrm>
          <a:prstGeom prst="rect">
            <a:avLst/>
          </a:prstGeom>
          <a:solidFill>
            <a:srgbClr val="14B8A6"/>
          </a:solidFill>
        </p:spPr>
      </p:sp>
      <p:sp>
        <p:nvSpPr>
          <p:cNvPr id="7" name="Text 4"/>
          <p:cNvSpPr/>
          <p:nvPr>
            <p:custDataLst>
              <p:tags r:id="rId2"/>
            </p:custDataLst>
          </p:nvPr>
        </p:nvSpPr>
        <p:spPr>
          <a:xfrm>
            <a:off x="1097280" y="1280160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algn="ctr">
              <a:buClrTx/>
              <a:buSzTx/>
              <a:buFontTx/>
              <a:buNone/>
            </a:pPr>
            <a:r>
              <a:rPr lang="en-US" sz="1400" b="1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循环编码（时间特征）</a:t>
            </a:r>
            <a:endParaRPr lang="en-US" sz="1400" b="1" dirty="0">
              <a:solidFill>
                <a:srgbClr val="1E293B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8" name="Text 5"/>
          <p:cNvSpPr/>
          <p:nvPr/>
        </p:nvSpPr>
        <p:spPr>
          <a:xfrm>
            <a:off x="640080" y="1691640"/>
            <a:ext cx="374904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小时/年天用 sin(2π·h/24) 和 cos 编码，保留23时与0时相邻关系，消除角度跳变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777240" y="2258568"/>
            <a:ext cx="347472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4846320" y="1143000"/>
            <a:ext cx="4114800" cy="1168400"/>
          </a:xfrm>
          <a:prstGeom prst="rect">
            <a:avLst/>
          </a:prstGeom>
          <a:solidFill>
            <a:srgbClr val="FFFFFF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846320" y="1143000"/>
            <a:ext cx="54864" cy="1737360"/>
          </a:xfrm>
          <a:prstGeom prst="rect">
            <a:avLst/>
          </a:prstGeom>
          <a:solidFill>
            <a:srgbClr val="14B8A6"/>
          </a:solidFill>
        </p:spPr>
      </p:sp>
      <p:sp>
        <p:nvSpPr>
          <p:cNvPr id="15" name="Text 11"/>
          <p:cNvSpPr/>
          <p:nvPr>
            <p:custDataLst>
              <p:tags r:id="rId3"/>
            </p:custDataLst>
          </p:nvPr>
        </p:nvSpPr>
        <p:spPr>
          <a:xfrm>
            <a:off x="5486400" y="1280160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algn="ctr">
              <a:buClrTx/>
              <a:buSzTx/>
              <a:buFontTx/>
              <a:buNone/>
            </a:pPr>
            <a:r>
              <a:rPr lang="en-US" sz="1400" b="1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风向量分解（U/V分量）</a:t>
            </a:r>
            <a:endParaRPr lang="en-US" sz="1400" b="1" dirty="0">
              <a:solidFill>
                <a:srgbClr val="1E293B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6" name="Text 12"/>
          <p:cNvSpPr/>
          <p:nvPr>
            <p:custDataLst>
              <p:tags r:id="rId4"/>
            </p:custDataLst>
          </p:nvPr>
        </p:nvSpPr>
        <p:spPr>
          <a:xfrm>
            <a:off x="5029200" y="1691640"/>
            <a:ext cx="374904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风向角度0°和360°指向同方向但数值差360。U = speed×cos(θ), V = speed×sin(θ) 消除跳变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457200" y="3017520"/>
            <a:ext cx="4114800" cy="312420"/>
          </a:xfrm>
          <a:prstGeom prst="rect">
            <a:avLst/>
          </a:prstGeom>
          <a:solidFill>
            <a:srgbClr val="FFFFFF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0" name="Shape 16"/>
          <p:cNvSpPr/>
          <p:nvPr>
            <p:custDataLst>
              <p:tags r:id="rId5"/>
            </p:custDataLst>
          </p:nvPr>
        </p:nvSpPr>
        <p:spPr>
          <a:xfrm>
            <a:off x="457200" y="2880360"/>
            <a:ext cx="54864" cy="1737360"/>
          </a:xfrm>
          <a:prstGeom prst="rect">
            <a:avLst/>
          </a:prstGeom>
          <a:solidFill>
            <a:srgbClr val="14B8A6"/>
          </a:solidFill>
        </p:spPr>
      </p:sp>
      <p:sp>
        <p:nvSpPr>
          <p:cNvPr id="23" name="Text 18"/>
          <p:cNvSpPr/>
          <p:nvPr/>
        </p:nvSpPr>
        <p:spPr>
          <a:xfrm>
            <a:off x="1106170" y="2310130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滚动统计 + 差分特征</a:t>
            </a:r>
            <a:endParaRPr lang="en-US" sz="1400" dirty="0"/>
          </a:p>
        </p:txBody>
      </p:sp>
      <p:sp>
        <p:nvSpPr>
          <p:cNvPr id="24" name="Text 19"/>
          <p:cNvSpPr/>
          <p:nvPr>
            <p:custDataLst>
              <p:tags r:id="rId6"/>
            </p:custDataLst>
          </p:nvPr>
        </p:nvSpPr>
        <p:spPr>
          <a:xfrm>
            <a:off x="648970" y="2304415"/>
            <a:ext cx="3749040" cy="1005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4步(1h)/8步(2h)/12步(3h)滑动均值捕捉趋势；一阶差分捕捉风速/湿度突变信号</a:t>
            </a:r>
            <a:endParaRPr lang="en-US" sz="1100" dirty="0"/>
          </a:p>
        </p:txBody>
      </p:sp>
      <p:sp>
        <p:nvSpPr>
          <p:cNvPr id="26" name="Text 21"/>
          <p:cNvSpPr/>
          <p:nvPr/>
        </p:nvSpPr>
        <p:spPr>
          <a:xfrm>
            <a:off x="802640" y="3871468"/>
            <a:ext cx="347472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00" dirty="0"/>
          </a:p>
        </p:txBody>
      </p:sp>
      <p:sp>
        <p:nvSpPr>
          <p:cNvPr id="31" name="Text 25"/>
          <p:cNvSpPr/>
          <p:nvPr>
            <p:custDataLst>
              <p:tags r:id="rId7"/>
            </p:custDataLst>
          </p:nvPr>
        </p:nvSpPr>
        <p:spPr>
          <a:xfrm>
            <a:off x="5449570" y="2311400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algn="ctr">
              <a:buClrTx/>
              <a:buSzTx/>
              <a:buFontTx/>
              <a:buNone/>
            </a:pPr>
            <a:r>
              <a:rPr lang="en-US" sz="1400" b="1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滞后功率特征（精度核心）</a:t>
            </a:r>
            <a:endParaRPr lang="en-US" sz="1400" b="1" dirty="0">
              <a:solidFill>
                <a:srgbClr val="1E293B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" name="Text 26"/>
          <p:cNvSpPr/>
          <p:nvPr>
            <p:custDataLst>
              <p:tags r:id="rId8"/>
            </p:custDataLst>
          </p:nvPr>
        </p:nvSpPr>
        <p:spPr>
          <a:xfrm>
            <a:off x="4983480" y="2642870"/>
            <a:ext cx="3749040" cy="482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前15min/1h/2h/6h的功率比作为输入，利用风机惯性——15分钟前功率是预测当前功率的最强信号</a:t>
            </a:r>
            <a:endParaRPr lang="en-US" sz="1100" dirty="0"/>
          </a:p>
        </p:txBody>
      </p:sp>
      <p:sp>
        <p:nvSpPr>
          <p:cNvPr id="34" name="Text 28"/>
          <p:cNvSpPr/>
          <p:nvPr/>
        </p:nvSpPr>
        <p:spPr>
          <a:xfrm>
            <a:off x="5120640" y="3289808"/>
            <a:ext cx="347472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00" dirty="0"/>
          </a:p>
        </p:txBody>
      </p:sp>
      <p:sp>
        <p:nvSpPr>
          <p:cNvPr id="37" name="Rectangle 36"/>
          <p:cNvSpPr/>
          <p:nvPr/>
        </p:nvSpPr>
        <p:spPr>
          <a:xfrm>
            <a:off x="674345" y="3360745"/>
            <a:ext cx="3714800" cy="3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物理计算与空气动力学</a:t>
            </a:r>
            <a:r>
              <a:rPr lang="zh-CN" altLang="en-US" sz="1400" b="1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特征</a:t>
            </a:r>
            <a:endParaRPr lang="zh-CN" altLang="en-US" sz="1400" b="1" dirty="0">
              <a:solidFill>
                <a:srgbClr val="1E293B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779745" y="3751860"/>
            <a:ext cx="3554800" cy="24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• 风切变(wind_shear) = 100m风速 − 10m风速，反映风速随高度变化梯度</a:t>
            </a:r>
            <a:endParaRPr lang="en-US" sz="1100" dirty="0">
              <a:solidFill>
                <a:srgbClr val="64748B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779745" y="4044880"/>
            <a:ext cx="3554800" cy="24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• 空气密度(air_density) = P/(R·T)，由气压和温度通过理想气体定律推导</a:t>
            </a:r>
            <a:endParaRPr lang="en-US" sz="1100" dirty="0">
              <a:solidFill>
                <a:srgbClr val="64748B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40" name="Rectangle 39"/>
          <p:cNvSpPr/>
          <p:nvPr/>
        </p:nvSpPr>
        <p:spPr>
          <a:xfrm>
            <a:off x="779745" y="4304880"/>
            <a:ext cx="3554800" cy="24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B4C8D7"/>
                </a:solidFill>
              </a:rPr>
              <a:t>• </a:t>
            </a:r>
            <a:r>
              <a:rPr lang="en-US" sz="11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风功率密度 = 0.5×ρ×v³，衡量单位面积风能资源潜力</a:t>
            </a:r>
            <a:endParaRPr lang="en-US" sz="1100" dirty="0">
              <a:solidFill>
                <a:srgbClr val="64748B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779745" y="4564880"/>
            <a:ext cx="3554800" cy="24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• 湍流强度 = 风速标准差/均值，量化风的稳定性与间歇性</a:t>
            </a:r>
            <a:endParaRPr lang="en-US" sz="1100" dirty="0">
              <a:solidFill>
                <a:srgbClr val="64748B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4846320" y="3539830"/>
            <a:ext cx="4114800" cy="1700000"/>
          </a:xfrm>
          <a:prstGeom prst="rect">
            <a:avLst/>
          </a:prstGeom>
          <a:noFill/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046320" y="3367095"/>
            <a:ext cx="3714800" cy="3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站点独热编码与原始气象特</a:t>
            </a:r>
            <a:r>
              <a:rPr lang="zh-CN" altLang="en-US" sz="1400" b="1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征</a:t>
            </a:r>
            <a:endParaRPr lang="zh-CN" altLang="en-US" sz="1400" b="1" dirty="0">
              <a:solidFill>
                <a:srgbClr val="1E293B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45" name="Rectangle 44"/>
          <p:cNvSpPr/>
          <p:nvPr/>
        </p:nvSpPr>
        <p:spPr>
          <a:xfrm>
            <a:off x="5126320" y="3815995"/>
            <a:ext cx="3554800" cy="24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• 5个风场(f1~f5) 各分配一列独热编码(site_f1..f5)，让模型感知站点差异</a:t>
            </a:r>
            <a:endParaRPr lang="en-US" sz="1100" dirty="0">
              <a:solidFill>
                <a:srgbClr val="64748B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46" name="Rectangle 45"/>
          <p:cNvSpPr/>
          <p:nvPr/>
        </p:nvSpPr>
        <p:spPr>
          <a:xfrm>
            <a:off x="5126320" y="4173785"/>
            <a:ext cx="3554800" cy="24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• 原始气象特征(10维): 气压、湿度、云量、降水量、辐照度、10m/100m风速风向</a:t>
            </a:r>
            <a:endParaRPr lang="en-US" sz="1100" dirty="0">
              <a:solidFill>
                <a:srgbClr val="64748B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5126320" y="4464265"/>
            <a:ext cx="3554800" cy="24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• 摄氏温度 = 开尔文温度 − 273.15，便于模型理解</a:t>
            </a:r>
            <a:endParaRPr lang="en-US" sz="1100" dirty="0">
              <a:solidFill>
                <a:srgbClr val="64748B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49" name="Shape 9"/>
          <p:cNvSpPr/>
          <p:nvPr/>
        </p:nvSpPr>
        <p:spPr>
          <a:xfrm>
            <a:off x="4846320" y="2872105"/>
            <a:ext cx="54864" cy="1737360"/>
          </a:xfrm>
          <a:prstGeom prst="rect">
            <a:avLst/>
          </a:prstGeom>
          <a:solidFill>
            <a:srgbClr val="14B8A6"/>
          </a:solidFill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777240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功率预测 — 梯度提升树双模型对比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4389120" cy="2377440"/>
          </a:xfrm>
          <a:prstGeom prst="rect">
            <a:avLst/>
          </a:prstGeom>
          <a:solidFill>
            <a:srgbClr val="FFFFFF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143000"/>
            <a:ext cx="54864" cy="2377440"/>
          </a:xfrm>
          <a:prstGeom prst="rect">
            <a:avLst/>
          </a:prstGeom>
          <a:solidFill>
            <a:srgbClr val="065A82"/>
          </a:solidFill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80160"/>
            <a:ext cx="320040" cy="3200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97280" y="1280160"/>
            <a:ext cx="34747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梯度提升（Gradient Boosting）原理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40080" y="1783080"/>
            <a:ext cx="3931920" cy="164592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第1棵树: 预测功率 ≈ 40 MW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DC262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误差 = 实际52 - 预测40 = +12 MW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第2棵树: 学习修正这个 +12 误差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第3棵树: 修正第2棵树剩下的误差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……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05966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最终预测 = 树1 + 树2 + 树3 + … ≈ 52 MW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核心思想：后一棵树专门学习前面所有树的总误差，逐棵累加逼近真实值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212080" y="1143000"/>
            <a:ext cx="3474720" cy="2377440"/>
          </a:xfrm>
          <a:prstGeom prst="rect">
            <a:avLst/>
          </a:prstGeom>
          <a:solidFill>
            <a:srgbClr val="FFFFFF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212080" y="1143000"/>
            <a:ext cx="54864" cy="2377440"/>
          </a:xfrm>
          <a:prstGeom prst="rect">
            <a:avLst/>
          </a:prstGeom>
          <a:solidFill>
            <a:srgbClr val="059669"/>
          </a:solidFill>
        </p:spPr>
      </p:sp>
      <p:sp>
        <p:nvSpPr>
          <p:cNvPr id="10" name="Text 7"/>
          <p:cNvSpPr/>
          <p:nvPr/>
        </p:nvSpPr>
        <p:spPr>
          <a:xfrm>
            <a:off x="5394960" y="1280160"/>
            <a:ext cx="31089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双模型对比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5394960" y="1783080"/>
            <a:ext cx="3108960" cy="164592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HistGBR (sklearn)</a:t>
            </a:r>
            <a:endParaRPr lang="en-US" sz="12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直方图加速 · 原生处理缺失值</a:t>
            </a:r>
            <a:endParaRPr lang="en-US" sz="12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lr=0.05, depth=8, iter=200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LightGBM (微软)</a:t>
            </a:r>
            <a:endParaRPr lang="en-US" sz="12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GOSS+EFB采样 </a:t>
            </a:r>
            <a:endParaRPr lang="en-US" sz="12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lr=0.03, depth=10, iter=300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两者同属GBDT，工程优化手段不同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57200" y="3749040"/>
            <a:ext cx="8229600" cy="1188720"/>
          </a:xfrm>
          <a:prstGeom prst="rect">
            <a:avLst/>
          </a:prstGeom>
          <a:solidFill>
            <a:srgbClr val="FFFFFF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57200" y="3749040"/>
            <a:ext cx="54864" cy="1188720"/>
          </a:xfrm>
          <a:prstGeom prst="rect">
            <a:avLst/>
          </a:prstGeom>
          <a:solidFill>
            <a:srgbClr val="14B8A6"/>
          </a:solidFill>
        </p:spPr>
      </p:sp>
      <p:sp>
        <p:nvSpPr>
          <p:cNvPr id="14" name="Text 11"/>
          <p:cNvSpPr/>
          <p:nvPr/>
        </p:nvSpPr>
        <p:spPr>
          <a:xfrm>
            <a:off x="640080" y="3840480"/>
            <a:ext cx="77724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验证集精度评估 (训练集后20%时间段, 有真实功率可对比) — R²=0.99, 模型可解释99%以上功率变化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40080" y="4206240"/>
            <a:ext cx="320040" cy="320040"/>
          </a:xfrm>
          <a:prstGeom prst="ellipse">
            <a:avLst/>
          </a:prstGeom>
          <a:solidFill>
            <a:srgbClr val="F0F9FF"/>
          </a:solidFill>
        </p:spPr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086" y="4254246"/>
            <a:ext cx="224028" cy="224028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1051560" y="4160520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5A8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MAE</a:t>
            </a:r>
            <a:endParaRPr lang="en-US" sz="1300" dirty="0"/>
          </a:p>
        </p:txBody>
      </p:sp>
      <p:sp>
        <p:nvSpPr>
          <p:cNvPr id="18" name="Text 14"/>
          <p:cNvSpPr/>
          <p:nvPr/>
        </p:nvSpPr>
        <p:spPr>
          <a:xfrm>
            <a:off x="1051560" y="4389120"/>
            <a:ext cx="146304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B47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HistGBR: 2.51 MW</a:t>
            </a:r>
            <a:endParaRPr lang="en-US" sz="900" dirty="0"/>
          </a:p>
        </p:txBody>
      </p:sp>
      <p:sp>
        <p:nvSpPr>
          <p:cNvPr id="19" name="Shape 15"/>
          <p:cNvSpPr/>
          <p:nvPr/>
        </p:nvSpPr>
        <p:spPr>
          <a:xfrm>
            <a:off x="2697480" y="4206240"/>
            <a:ext cx="320040" cy="320040"/>
          </a:xfrm>
          <a:prstGeom prst="ellipse">
            <a:avLst/>
          </a:prstGeom>
          <a:solidFill>
            <a:srgbClr val="F0F9FF"/>
          </a:solidFill>
        </p:spPr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5486" y="4254246"/>
            <a:ext cx="224028" cy="224028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3108960" y="4160520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5A8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RMSE</a:t>
            </a:r>
            <a:endParaRPr lang="en-US" sz="1300" dirty="0"/>
          </a:p>
        </p:txBody>
      </p:sp>
      <p:sp>
        <p:nvSpPr>
          <p:cNvPr id="22" name="Text 17"/>
          <p:cNvSpPr/>
          <p:nvPr/>
        </p:nvSpPr>
        <p:spPr>
          <a:xfrm>
            <a:off x="3108960" y="4389120"/>
            <a:ext cx="146304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5.73 MW</a:t>
            </a:r>
            <a:endParaRPr lang="en-US" sz="900" dirty="0"/>
          </a:p>
        </p:txBody>
      </p:sp>
      <p:sp>
        <p:nvSpPr>
          <p:cNvPr id="23" name="Shape 18"/>
          <p:cNvSpPr/>
          <p:nvPr/>
        </p:nvSpPr>
        <p:spPr>
          <a:xfrm>
            <a:off x="4754880" y="4206240"/>
            <a:ext cx="320040" cy="320040"/>
          </a:xfrm>
          <a:prstGeom prst="ellipse">
            <a:avLst/>
          </a:prstGeom>
          <a:solidFill>
            <a:srgbClr val="F0F9FF"/>
          </a:solidFill>
        </p:spPr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2886" y="4254246"/>
            <a:ext cx="224028" cy="224028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5166360" y="4160520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5A8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MAPE</a:t>
            </a:r>
            <a:endParaRPr lang="en-US" sz="1300" dirty="0"/>
          </a:p>
        </p:txBody>
      </p:sp>
      <p:sp>
        <p:nvSpPr>
          <p:cNvPr id="26" name="Text 20"/>
          <p:cNvSpPr/>
          <p:nvPr/>
        </p:nvSpPr>
        <p:spPr>
          <a:xfrm>
            <a:off x="5166360" y="4389120"/>
            <a:ext cx="146304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-- %</a:t>
            </a:r>
            <a:endParaRPr lang="en-US" sz="900" dirty="0"/>
          </a:p>
        </p:txBody>
      </p:sp>
      <p:sp>
        <p:nvSpPr>
          <p:cNvPr id="27" name="Shape 21"/>
          <p:cNvSpPr/>
          <p:nvPr/>
        </p:nvSpPr>
        <p:spPr>
          <a:xfrm>
            <a:off x="6812280" y="4206240"/>
            <a:ext cx="320040" cy="320040"/>
          </a:xfrm>
          <a:prstGeom prst="ellipse">
            <a:avLst/>
          </a:prstGeom>
          <a:solidFill>
            <a:srgbClr val="F0F9FF"/>
          </a:solidFill>
        </p:spPr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0286" y="4254246"/>
            <a:ext cx="224028" cy="224028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7223760" y="4160520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65A8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R²</a:t>
            </a:r>
            <a:endParaRPr lang="en-US" sz="1300" dirty="0"/>
          </a:p>
        </p:txBody>
      </p:sp>
      <p:sp>
        <p:nvSpPr>
          <p:cNvPr id="30" name="Text 23"/>
          <p:cNvSpPr/>
          <p:nvPr/>
        </p:nvSpPr>
        <p:spPr>
          <a:xfrm>
            <a:off x="7223760" y="4389120"/>
            <a:ext cx="146304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0.99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777240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风险评分系统 — 7因素加权量化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8229600" cy="1097280"/>
          </a:xfrm>
          <a:prstGeom prst="rect">
            <a:avLst/>
          </a:prstGeom>
          <a:solidFill>
            <a:srgbClr val="FFFFFF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097280"/>
            <a:ext cx="54864" cy="1097280"/>
          </a:xfrm>
          <a:prstGeom prst="rect">
            <a:avLst/>
          </a:prstGeom>
          <a:solidFill>
            <a:srgbClr val="D97706"/>
          </a:solidFill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320040" cy="3200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97280" y="1234440"/>
            <a:ext cx="740664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C2626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风险评分 = 0.28×风速突变 + 0.18×降水 + 0.14×高风速 + 0.12×密度异常 + 0.08×云量 + 0.12×站点历史误差 + 0.08×高出力压力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1097280" y="1691640"/>
            <a:ext cx="74066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各项先用 P95 分位数归一化到 [0,1]，再按权重求和。分数越高 → 调度风险越大 → 建议保守策略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57200" y="2423160"/>
            <a:ext cx="1965960" cy="1188720"/>
          </a:xfrm>
          <a:prstGeom prst="rect">
            <a:avLst/>
          </a:prstGeom>
          <a:solidFill>
            <a:srgbClr val="FFFFFF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57200" y="2423160"/>
            <a:ext cx="54864" cy="1188720"/>
          </a:xfrm>
          <a:prstGeom prst="rect">
            <a:avLst/>
          </a:prstGeom>
          <a:solidFill>
            <a:srgbClr val="D97706"/>
          </a:solidFill>
        </p:spPr>
      </p:sp>
      <p:sp>
        <p:nvSpPr>
          <p:cNvPr id="10" name="Shape 7"/>
          <p:cNvSpPr/>
          <p:nvPr/>
        </p:nvSpPr>
        <p:spPr>
          <a:xfrm>
            <a:off x="548640" y="2514600"/>
            <a:ext cx="292608" cy="292608"/>
          </a:xfrm>
          <a:prstGeom prst="ellipse">
            <a:avLst/>
          </a:prstGeom>
          <a:solidFill>
            <a:srgbClr val="F0F9FF"/>
          </a:solidFill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531" y="2558491"/>
            <a:ext cx="204826" cy="20482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914400" y="2468880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C262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28%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548640" y="2880360"/>
            <a:ext cx="17830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风速突变 (ramp)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548640" y="3154680"/>
            <a:ext cx="17830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15分钟风速变化幅度</a:t>
            </a:r>
            <a:endParaRPr lang="en-US" sz="900" dirty="0"/>
          </a:p>
        </p:txBody>
      </p:sp>
      <p:sp>
        <p:nvSpPr>
          <p:cNvPr id="15" name="Shape 11"/>
          <p:cNvSpPr/>
          <p:nvPr/>
        </p:nvSpPr>
        <p:spPr>
          <a:xfrm>
            <a:off x="2606040" y="2423160"/>
            <a:ext cx="1965960" cy="1188720"/>
          </a:xfrm>
          <a:prstGeom prst="rect">
            <a:avLst/>
          </a:prstGeom>
          <a:solidFill>
            <a:srgbClr val="FFFFFF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2606040" y="2423160"/>
            <a:ext cx="54864" cy="1188720"/>
          </a:xfrm>
          <a:prstGeom prst="rect">
            <a:avLst/>
          </a:prstGeom>
          <a:solidFill>
            <a:srgbClr val="D97706"/>
          </a:solidFill>
        </p:spPr>
      </p:sp>
      <p:sp>
        <p:nvSpPr>
          <p:cNvPr id="17" name="Shape 13"/>
          <p:cNvSpPr/>
          <p:nvPr/>
        </p:nvSpPr>
        <p:spPr>
          <a:xfrm>
            <a:off x="2697480" y="2514600"/>
            <a:ext cx="292608" cy="292608"/>
          </a:xfrm>
          <a:prstGeom prst="ellipse">
            <a:avLst/>
          </a:prstGeom>
          <a:solidFill>
            <a:srgbClr val="F0F9FF"/>
          </a:solidFill>
        </p:spPr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1371" y="2558491"/>
            <a:ext cx="204826" cy="204826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3063240" y="2468880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C262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18%</a:t>
            </a:r>
            <a:endParaRPr lang="en-US" sz="1600" dirty="0"/>
          </a:p>
        </p:txBody>
      </p:sp>
      <p:sp>
        <p:nvSpPr>
          <p:cNvPr id="20" name="Text 15"/>
          <p:cNvSpPr/>
          <p:nvPr/>
        </p:nvSpPr>
        <p:spPr>
          <a:xfrm>
            <a:off x="2697480" y="2880360"/>
            <a:ext cx="17830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降水极端值</a:t>
            </a:r>
            <a:endParaRPr lang="en-US" sz="1200" dirty="0"/>
          </a:p>
        </p:txBody>
      </p:sp>
      <p:sp>
        <p:nvSpPr>
          <p:cNvPr id="21" name="Text 16"/>
          <p:cNvSpPr/>
          <p:nvPr/>
        </p:nvSpPr>
        <p:spPr>
          <a:xfrm>
            <a:off x="2697480" y="3154680"/>
            <a:ext cx="17830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暴雨淹没风险</a:t>
            </a:r>
            <a:endParaRPr lang="en-US" sz="900" dirty="0"/>
          </a:p>
        </p:txBody>
      </p:sp>
      <p:sp>
        <p:nvSpPr>
          <p:cNvPr id="22" name="Shape 17"/>
          <p:cNvSpPr/>
          <p:nvPr/>
        </p:nvSpPr>
        <p:spPr>
          <a:xfrm>
            <a:off x="4754880" y="2423160"/>
            <a:ext cx="1965960" cy="1188720"/>
          </a:xfrm>
          <a:prstGeom prst="rect">
            <a:avLst/>
          </a:prstGeom>
          <a:solidFill>
            <a:srgbClr val="FFFFFF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4754880" y="2423160"/>
            <a:ext cx="54864" cy="1188720"/>
          </a:xfrm>
          <a:prstGeom prst="rect">
            <a:avLst/>
          </a:prstGeom>
          <a:solidFill>
            <a:srgbClr val="D97706"/>
          </a:solidFill>
        </p:spPr>
      </p:sp>
      <p:sp>
        <p:nvSpPr>
          <p:cNvPr id="24" name="Shape 19"/>
          <p:cNvSpPr/>
          <p:nvPr/>
        </p:nvSpPr>
        <p:spPr>
          <a:xfrm>
            <a:off x="4846320" y="2514600"/>
            <a:ext cx="292608" cy="292608"/>
          </a:xfrm>
          <a:prstGeom prst="ellipse">
            <a:avLst/>
          </a:prstGeom>
          <a:solidFill>
            <a:srgbClr val="F0F9FF"/>
          </a:solidFill>
        </p:spPr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0211" y="2558491"/>
            <a:ext cx="204826" cy="204826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5212080" y="2468880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C262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14%</a:t>
            </a:r>
            <a:endParaRPr lang="en-US" sz="1600" dirty="0"/>
          </a:p>
        </p:txBody>
      </p:sp>
      <p:sp>
        <p:nvSpPr>
          <p:cNvPr id="27" name="Text 21"/>
          <p:cNvSpPr/>
          <p:nvPr/>
        </p:nvSpPr>
        <p:spPr>
          <a:xfrm>
            <a:off x="4846320" y="2880360"/>
            <a:ext cx="17830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100m高风速</a:t>
            </a:r>
            <a:endParaRPr lang="en-US" sz="1200" dirty="0"/>
          </a:p>
        </p:txBody>
      </p:sp>
      <p:sp>
        <p:nvSpPr>
          <p:cNvPr id="28" name="Text 22"/>
          <p:cNvSpPr/>
          <p:nvPr/>
        </p:nvSpPr>
        <p:spPr>
          <a:xfrm>
            <a:off x="4846320" y="3154680"/>
            <a:ext cx="17830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超额定风速风险</a:t>
            </a:r>
            <a:endParaRPr lang="en-US" sz="900" dirty="0"/>
          </a:p>
        </p:txBody>
      </p:sp>
      <p:sp>
        <p:nvSpPr>
          <p:cNvPr id="29" name="Shape 23"/>
          <p:cNvSpPr/>
          <p:nvPr/>
        </p:nvSpPr>
        <p:spPr>
          <a:xfrm>
            <a:off x="6903720" y="2423160"/>
            <a:ext cx="1965960" cy="1188720"/>
          </a:xfrm>
          <a:prstGeom prst="rect">
            <a:avLst/>
          </a:prstGeom>
          <a:solidFill>
            <a:srgbClr val="FFFFFF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30" name="Shape 24"/>
          <p:cNvSpPr/>
          <p:nvPr/>
        </p:nvSpPr>
        <p:spPr>
          <a:xfrm>
            <a:off x="6903720" y="2423160"/>
            <a:ext cx="54864" cy="1188720"/>
          </a:xfrm>
          <a:prstGeom prst="rect">
            <a:avLst/>
          </a:prstGeom>
          <a:solidFill>
            <a:srgbClr val="D97706"/>
          </a:solidFill>
        </p:spPr>
      </p:sp>
      <p:sp>
        <p:nvSpPr>
          <p:cNvPr id="31" name="Shape 25"/>
          <p:cNvSpPr/>
          <p:nvPr/>
        </p:nvSpPr>
        <p:spPr>
          <a:xfrm>
            <a:off x="6995160" y="2514600"/>
            <a:ext cx="292608" cy="292608"/>
          </a:xfrm>
          <a:prstGeom prst="ellipse">
            <a:avLst/>
          </a:prstGeom>
          <a:solidFill>
            <a:srgbClr val="F0F9FF"/>
          </a:solidFill>
        </p:spPr>
      </p:sp>
      <p:pic>
        <p:nvPicPr>
          <p:cNvPr id="32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39051" y="2558491"/>
            <a:ext cx="204826" cy="204826"/>
          </a:xfrm>
          <a:prstGeom prst="rect">
            <a:avLst/>
          </a:prstGeom>
        </p:spPr>
      </p:pic>
      <p:sp>
        <p:nvSpPr>
          <p:cNvPr id="33" name="Text 26"/>
          <p:cNvSpPr/>
          <p:nvPr/>
        </p:nvSpPr>
        <p:spPr>
          <a:xfrm>
            <a:off x="7360920" y="2468880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C262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12%</a:t>
            </a:r>
            <a:endParaRPr lang="en-US" sz="1600" dirty="0"/>
          </a:p>
        </p:txBody>
      </p:sp>
      <p:sp>
        <p:nvSpPr>
          <p:cNvPr id="34" name="Text 27"/>
          <p:cNvSpPr/>
          <p:nvPr/>
        </p:nvSpPr>
        <p:spPr>
          <a:xfrm>
            <a:off x="6995160" y="2880360"/>
            <a:ext cx="17830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空气密度异常</a:t>
            </a:r>
            <a:endParaRPr lang="en-US" sz="1200" dirty="0"/>
          </a:p>
        </p:txBody>
      </p:sp>
      <p:sp>
        <p:nvSpPr>
          <p:cNvPr id="35" name="Text 28"/>
          <p:cNvSpPr/>
          <p:nvPr/>
        </p:nvSpPr>
        <p:spPr>
          <a:xfrm>
            <a:off x="6995160" y="3154680"/>
            <a:ext cx="17830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大气不稳定度</a:t>
            </a:r>
            <a:endParaRPr lang="en-US" sz="900" dirty="0"/>
          </a:p>
        </p:txBody>
      </p:sp>
      <p:sp>
        <p:nvSpPr>
          <p:cNvPr id="36" name="Shape 29"/>
          <p:cNvSpPr/>
          <p:nvPr/>
        </p:nvSpPr>
        <p:spPr>
          <a:xfrm>
            <a:off x="457200" y="3749040"/>
            <a:ext cx="1965960" cy="1188720"/>
          </a:xfrm>
          <a:prstGeom prst="rect">
            <a:avLst/>
          </a:prstGeom>
          <a:solidFill>
            <a:srgbClr val="FFFFFF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37" name="Shape 30"/>
          <p:cNvSpPr/>
          <p:nvPr/>
        </p:nvSpPr>
        <p:spPr>
          <a:xfrm>
            <a:off x="457200" y="3749040"/>
            <a:ext cx="54864" cy="1188720"/>
          </a:xfrm>
          <a:prstGeom prst="rect">
            <a:avLst/>
          </a:prstGeom>
          <a:solidFill>
            <a:srgbClr val="D97706"/>
          </a:solidFill>
        </p:spPr>
      </p:sp>
      <p:sp>
        <p:nvSpPr>
          <p:cNvPr id="38" name="Shape 31"/>
          <p:cNvSpPr/>
          <p:nvPr/>
        </p:nvSpPr>
        <p:spPr>
          <a:xfrm>
            <a:off x="548640" y="3840480"/>
            <a:ext cx="292608" cy="292608"/>
          </a:xfrm>
          <a:prstGeom prst="ellipse">
            <a:avLst/>
          </a:prstGeom>
          <a:solidFill>
            <a:srgbClr val="F0F9FF"/>
          </a:solidFill>
        </p:spPr>
      </p:sp>
      <p:pic>
        <p:nvPicPr>
          <p:cNvPr id="39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2531" y="3884371"/>
            <a:ext cx="204826" cy="204826"/>
          </a:xfrm>
          <a:prstGeom prst="rect">
            <a:avLst/>
          </a:prstGeom>
        </p:spPr>
      </p:pic>
      <p:sp>
        <p:nvSpPr>
          <p:cNvPr id="40" name="Text 32"/>
          <p:cNvSpPr/>
          <p:nvPr/>
        </p:nvSpPr>
        <p:spPr>
          <a:xfrm>
            <a:off x="914400" y="3794760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C262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8%</a:t>
            </a:r>
            <a:endParaRPr lang="en-US" sz="1600" dirty="0"/>
          </a:p>
        </p:txBody>
      </p:sp>
      <p:sp>
        <p:nvSpPr>
          <p:cNvPr id="41" name="Text 33"/>
          <p:cNvSpPr/>
          <p:nvPr/>
        </p:nvSpPr>
        <p:spPr>
          <a:xfrm>
            <a:off x="548640" y="4206240"/>
            <a:ext cx="17830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云量</a:t>
            </a:r>
            <a:endParaRPr lang="en-US" sz="1200" dirty="0"/>
          </a:p>
        </p:txBody>
      </p:sp>
      <p:sp>
        <p:nvSpPr>
          <p:cNvPr id="42" name="Text 34"/>
          <p:cNvSpPr/>
          <p:nvPr/>
        </p:nvSpPr>
        <p:spPr>
          <a:xfrm>
            <a:off x="548640" y="4480560"/>
            <a:ext cx="17830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天气阴晴程度</a:t>
            </a:r>
            <a:endParaRPr lang="en-US" sz="900" dirty="0"/>
          </a:p>
        </p:txBody>
      </p:sp>
      <p:sp>
        <p:nvSpPr>
          <p:cNvPr id="43" name="Shape 35"/>
          <p:cNvSpPr/>
          <p:nvPr/>
        </p:nvSpPr>
        <p:spPr>
          <a:xfrm>
            <a:off x="2606040" y="3749040"/>
            <a:ext cx="1965960" cy="1188720"/>
          </a:xfrm>
          <a:prstGeom prst="rect">
            <a:avLst/>
          </a:prstGeom>
          <a:solidFill>
            <a:srgbClr val="FFFFFF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44" name="Shape 36"/>
          <p:cNvSpPr/>
          <p:nvPr/>
        </p:nvSpPr>
        <p:spPr>
          <a:xfrm>
            <a:off x="2606040" y="3749040"/>
            <a:ext cx="54864" cy="1188720"/>
          </a:xfrm>
          <a:prstGeom prst="rect">
            <a:avLst/>
          </a:prstGeom>
          <a:solidFill>
            <a:srgbClr val="D97706"/>
          </a:solidFill>
        </p:spPr>
      </p:sp>
      <p:sp>
        <p:nvSpPr>
          <p:cNvPr id="45" name="Shape 37"/>
          <p:cNvSpPr/>
          <p:nvPr/>
        </p:nvSpPr>
        <p:spPr>
          <a:xfrm>
            <a:off x="2697480" y="3840480"/>
            <a:ext cx="292608" cy="292608"/>
          </a:xfrm>
          <a:prstGeom prst="ellipse">
            <a:avLst/>
          </a:prstGeom>
          <a:solidFill>
            <a:srgbClr val="F0F9FF"/>
          </a:solidFill>
        </p:spPr>
      </p:sp>
      <p:pic>
        <p:nvPicPr>
          <p:cNvPr id="46" name="Image 6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1371" y="3884371"/>
            <a:ext cx="204826" cy="204826"/>
          </a:xfrm>
          <a:prstGeom prst="rect">
            <a:avLst/>
          </a:prstGeom>
        </p:spPr>
      </p:pic>
      <p:sp>
        <p:nvSpPr>
          <p:cNvPr id="47" name="Text 38"/>
          <p:cNvSpPr/>
          <p:nvPr/>
        </p:nvSpPr>
        <p:spPr>
          <a:xfrm>
            <a:off x="3063240" y="3794760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C262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12%</a:t>
            </a:r>
            <a:endParaRPr lang="en-US" sz="1600" dirty="0"/>
          </a:p>
        </p:txBody>
      </p:sp>
      <p:sp>
        <p:nvSpPr>
          <p:cNvPr id="48" name="Text 39"/>
          <p:cNvSpPr/>
          <p:nvPr/>
        </p:nvSpPr>
        <p:spPr>
          <a:xfrm>
            <a:off x="2697480" y="4206240"/>
            <a:ext cx="17830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站点历史误差</a:t>
            </a:r>
            <a:endParaRPr lang="en-US" sz="1200" dirty="0"/>
          </a:p>
        </p:txBody>
      </p:sp>
      <p:sp>
        <p:nvSpPr>
          <p:cNvPr id="49" name="Text 40"/>
          <p:cNvSpPr/>
          <p:nvPr/>
        </p:nvSpPr>
        <p:spPr>
          <a:xfrm>
            <a:off x="2697480" y="4480560"/>
            <a:ext cx="17830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模型不可靠区域</a:t>
            </a:r>
            <a:endParaRPr lang="en-US" sz="900" dirty="0"/>
          </a:p>
        </p:txBody>
      </p:sp>
      <p:sp>
        <p:nvSpPr>
          <p:cNvPr id="50" name="Shape 41"/>
          <p:cNvSpPr/>
          <p:nvPr/>
        </p:nvSpPr>
        <p:spPr>
          <a:xfrm>
            <a:off x="4754880" y="3749040"/>
            <a:ext cx="1965960" cy="1188720"/>
          </a:xfrm>
          <a:prstGeom prst="rect">
            <a:avLst/>
          </a:prstGeom>
          <a:solidFill>
            <a:srgbClr val="FFFFFF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51" name="Shape 42"/>
          <p:cNvSpPr/>
          <p:nvPr/>
        </p:nvSpPr>
        <p:spPr>
          <a:xfrm>
            <a:off x="4754880" y="3749040"/>
            <a:ext cx="54864" cy="1188720"/>
          </a:xfrm>
          <a:prstGeom prst="rect">
            <a:avLst/>
          </a:prstGeom>
          <a:solidFill>
            <a:srgbClr val="D97706"/>
          </a:solidFill>
        </p:spPr>
      </p:sp>
      <p:sp>
        <p:nvSpPr>
          <p:cNvPr id="52" name="Shape 43"/>
          <p:cNvSpPr/>
          <p:nvPr/>
        </p:nvSpPr>
        <p:spPr>
          <a:xfrm>
            <a:off x="4846320" y="3840480"/>
            <a:ext cx="292608" cy="292608"/>
          </a:xfrm>
          <a:prstGeom prst="ellipse">
            <a:avLst/>
          </a:prstGeom>
          <a:solidFill>
            <a:srgbClr val="F0F9FF"/>
          </a:solidFill>
        </p:spPr>
      </p:sp>
      <p:pic>
        <p:nvPicPr>
          <p:cNvPr id="53" name="Image 7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90211" y="3884371"/>
            <a:ext cx="204826" cy="204826"/>
          </a:xfrm>
          <a:prstGeom prst="rect">
            <a:avLst/>
          </a:prstGeom>
        </p:spPr>
      </p:pic>
      <p:sp>
        <p:nvSpPr>
          <p:cNvPr id="54" name="Text 44"/>
          <p:cNvSpPr/>
          <p:nvPr/>
        </p:nvSpPr>
        <p:spPr>
          <a:xfrm>
            <a:off x="5212080" y="3794760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C262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8%</a:t>
            </a:r>
            <a:endParaRPr lang="en-US" sz="1600" dirty="0"/>
          </a:p>
        </p:txBody>
      </p:sp>
      <p:sp>
        <p:nvSpPr>
          <p:cNvPr id="55" name="Text 45"/>
          <p:cNvSpPr/>
          <p:nvPr/>
        </p:nvSpPr>
        <p:spPr>
          <a:xfrm>
            <a:off x="4846320" y="4206240"/>
            <a:ext cx="17830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高出力压力</a:t>
            </a:r>
            <a:endParaRPr lang="en-US" sz="1200" dirty="0"/>
          </a:p>
        </p:txBody>
      </p:sp>
      <p:sp>
        <p:nvSpPr>
          <p:cNvPr id="56" name="Text 46"/>
          <p:cNvSpPr/>
          <p:nvPr/>
        </p:nvSpPr>
        <p:spPr>
          <a:xfrm>
            <a:off x="4846320" y="4480560"/>
            <a:ext cx="17830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&gt;55%容量时的并网压力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777240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强化学习调度 — 动作空间与奖励函数</a:t>
            </a:r>
            <a:endParaRPr lang="en-US" sz="2800" dirty="0"/>
          </a:p>
        </p:txBody>
      </p:sp>
      <p:sp>
        <p:nvSpPr>
          <p:cNvPr id="3" name="Shape 1"/>
          <p:cNvSpPr/>
          <p:nvPr>
            <p:custDataLst>
              <p:tags r:id="rId1"/>
            </p:custDataLst>
          </p:nvPr>
        </p:nvSpPr>
        <p:spPr>
          <a:xfrm>
            <a:off x="365760" y="1097280"/>
            <a:ext cx="1965960" cy="2194560"/>
          </a:xfrm>
          <a:prstGeom prst="rect">
            <a:avLst/>
          </a:prstGeom>
          <a:solidFill>
            <a:srgbClr val="FFFFFF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4" name="Shape 2"/>
          <p:cNvSpPr/>
          <p:nvPr>
            <p:custDataLst>
              <p:tags r:id="rId2"/>
            </p:custDataLst>
          </p:nvPr>
        </p:nvSpPr>
        <p:spPr>
          <a:xfrm>
            <a:off x="365760" y="1097280"/>
            <a:ext cx="54864" cy="2194560"/>
          </a:xfrm>
          <a:prstGeom prst="rect">
            <a:avLst/>
          </a:prstGeom>
          <a:solidFill>
            <a:srgbClr val="059669"/>
          </a:solidFill>
        </p:spPr>
      </p:sp>
      <p:sp>
        <p:nvSpPr>
          <p:cNvPr id="5" name="Shape 3"/>
          <p:cNvSpPr/>
          <p:nvPr>
            <p:custDataLst>
              <p:tags r:id="rId3"/>
            </p:custDataLst>
          </p:nvPr>
        </p:nvSpPr>
        <p:spPr>
          <a:xfrm>
            <a:off x="365760" y="1097280"/>
            <a:ext cx="1965960" cy="502920"/>
          </a:xfrm>
          <a:prstGeom prst="rect">
            <a:avLst/>
          </a:prstGeom>
          <a:solidFill>
            <a:srgbClr val="059669"/>
          </a:solidFill>
        </p:spPr>
      </p:sp>
      <p:sp>
        <p:nvSpPr>
          <p:cNvPr id="6" name="Text 4"/>
          <p:cNvSpPr/>
          <p:nvPr>
            <p:custDataLst>
              <p:tags r:id="rId4"/>
            </p:custDataLst>
          </p:nvPr>
        </p:nvSpPr>
        <p:spPr>
          <a:xfrm>
            <a:off x="365760" y="1097280"/>
            <a:ext cx="196596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积极并网</a:t>
            </a:r>
            <a:endParaRPr lang="en-US" sz="1600" dirty="0"/>
          </a:p>
        </p:txBody>
      </p:sp>
      <p:sp>
        <p:nvSpPr>
          <p:cNvPr id="7" name="Text 5"/>
          <p:cNvSpPr/>
          <p:nvPr>
            <p:custDataLst>
              <p:tags r:id="rId5"/>
            </p:custDataLst>
          </p:nvPr>
        </p:nvSpPr>
        <p:spPr>
          <a:xfrm>
            <a:off x="640080" y="1783080"/>
            <a:ext cx="14173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5966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×1.04</a:t>
            </a:r>
            <a:endParaRPr lang="en-US" sz="2400" dirty="0"/>
          </a:p>
        </p:txBody>
      </p:sp>
      <p:sp>
        <p:nvSpPr>
          <p:cNvPr id="8" name="Text 6"/>
          <p:cNvSpPr/>
          <p:nvPr>
            <p:custDataLst>
              <p:tags r:id="rId6"/>
            </p:custDataLst>
          </p:nvPr>
        </p:nvSpPr>
        <p:spPr>
          <a:xfrm>
            <a:off x="502920" y="2286000"/>
            <a:ext cx="16916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低风险时追求最大收益</a:t>
            </a:r>
            <a:endParaRPr lang="en-US" sz="1000" dirty="0"/>
          </a:p>
        </p:txBody>
      </p:sp>
      <p:sp>
        <p:nvSpPr>
          <p:cNvPr id="9" name="Text 7"/>
          <p:cNvSpPr/>
          <p:nvPr>
            <p:custDataLst>
              <p:tags r:id="rId7"/>
            </p:custDataLst>
          </p:nvPr>
        </p:nvSpPr>
        <p:spPr>
          <a:xfrm>
            <a:off x="502920" y="2560320"/>
            <a:ext cx="1691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预留3% · 维护2%</a:t>
            </a:r>
            <a:endParaRPr lang="en-US" sz="900" dirty="0"/>
          </a:p>
        </p:txBody>
      </p:sp>
      <p:sp>
        <p:nvSpPr>
          <p:cNvPr id="10" name="Shape 8"/>
          <p:cNvSpPr/>
          <p:nvPr>
            <p:custDataLst>
              <p:tags r:id="rId8"/>
            </p:custDataLst>
          </p:nvPr>
        </p:nvSpPr>
        <p:spPr>
          <a:xfrm>
            <a:off x="2514600" y="1097280"/>
            <a:ext cx="1965960" cy="2194560"/>
          </a:xfrm>
          <a:prstGeom prst="rect">
            <a:avLst/>
          </a:prstGeom>
          <a:solidFill>
            <a:srgbClr val="FFFFFF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>
            <p:custDataLst>
              <p:tags r:id="rId9"/>
            </p:custDataLst>
          </p:nvPr>
        </p:nvSpPr>
        <p:spPr>
          <a:xfrm>
            <a:off x="2514600" y="1097280"/>
            <a:ext cx="54864" cy="219456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12" name="Shape 10"/>
          <p:cNvSpPr/>
          <p:nvPr>
            <p:custDataLst>
              <p:tags r:id="rId10"/>
            </p:custDataLst>
          </p:nvPr>
        </p:nvSpPr>
        <p:spPr>
          <a:xfrm>
            <a:off x="2514600" y="1097280"/>
            <a:ext cx="1965960" cy="50292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13" name="Text 11"/>
          <p:cNvSpPr/>
          <p:nvPr>
            <p:custDataLst>
              <p:tags r:id="rId11"/>
            </p:custDataLst>
          </p:nvPr>
        </p:nvSpPr>
        <p:spPr>
          <a:xfrm>
            <a:off x="2514600" y="1097280"/>
            <a:ext cx="196596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平衡调度</a:t>
            </a:r>
            <a:endParaRPr lang="en-US" sz="1600" dirty="0"/>
          </a:p>
        </p:txBody>
      </p:sp>
      <p:sp>
        <p:nvSpPr>
          <p:cNvPr id="14" name="Text 12"/>
          <p:cNvSpPr/>
          <p:nvPr>
            <p:custDataLst>
              <p:tags r:id="rId12"/>
            </p:custDataLst>
          </p:nvPr>
        </p:nvSpPr>
        <p:spPr>
          <a:xfrm>
            <a:off x="2788920" y="1783080"/>
            <a:ext cx="14173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2563E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×0.96</a:t>
            </a:r>
            <a:endParaRPr lang="en-US" sz="2400" dirty="0"/>
          </a:p>
        </p:txBody>
      </p:sp>
      <p:sp>
        <p:nvSpPr>
          <p:cNvPr id="15" name="Text 13"/>
          <p:cNvSpPr/>
          <p:nvPr>
            <p:custDataLst>
              <p:tags r:id="rId13"/>
            </p:custDataLst>
          </p:nvPr>
        </p:nvSpPr>
        <p:spPr>
          <a:xfrm>
            <a:off x="2651760" y="2286000"/>
            <a:ext cx="16916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收益与安全的均衡点</a:t>
            </a:r>
            <a:endParaRPr lang="en-US" sz="1000" dirty="0"/>
          </a:p>
        </p:txBody>
      </p:sp>
      <p:sp>
        <p:nvSpPr>
          <p:cNvPr id="16" name="Text 14"/>
          <p:cNvSpPr/>
          <p:nvPr>
            <p:custDataLst>
              <p:tags r:id="rId14"/>
            </p:custDataLst>
          </p:nvPr>
        </p:nvSpPr>
        <p:spPr>
          <a:xfrm>
            <a:off x="2651760" y="2560320"/>
            <a:ext cx="1691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预留8% · 维护3%</a:t>
            </a:r>
            <a:endParaRPr lang="en-US" sz="900" dirty="0"/>
          </a:p>
        </p:txBody>
      </p:sp>
      <p:sp>
        <p:nvSpPr>
          <p:cNvPr id="17" name="Shape 15"/>
          <p:cNvSpPr/>
          <p:nvPr>
            <p:custDataLst>
              <p:tags r:id="rId15"/>
            </p:custDataLst>
          </p:nvPr>
        </p:nvSpPr>
        <p:spPr>
          <a:xfrm>
            <a:off x="4663440" y="1097280"/>
            <a:ext cx="1965960" cy="2194560"/>
          </a:xfrm>
          <a:prstGeom prst="rect">
            <a:avLst/>
          </a:prstGeom>
          <a:solidFill>
            <a:srgbClr val="FFFFFF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>
            <p:custDataLst>
              <p:tags r:id="rId16"/>
            </p:custDataLst>
          </p:nvPr>
        </p:nvSpPr>
        <p:spPr>
          <a:xfrm>
            <a:off x="4663440" y="1097280"/>
            <a:ext cx="54864" cy="2194560"/>
          </a:xfrm>
          <a:prstGeom prst="rect">
            <a:avLst/>
          </a:prstGeom>
          <a:solidFill>
            <a:srgbClr val="D97706"/>
          </a:solidFill>
        </p:spPr>
      </p:sp>
      <p:sp>
        <p:nvSpPr>
          <p:cNvPr id="19" name="Shape 17"/>
          <p:cNvSpPr/>
          <p:nvPr>
            <p:custDataLst>
              <p:tags r:id="rId17"/>
            </p:custDataLst>
          </p:nvPr>
        </p:nvSpPr>
        <p:spPr>
          <a:xfrm>
            <a:off x="4663440" y="1097280"/>
            <a:ext cx="1965960" cy="502920"/>
          </a:xfrm>
          <a:prstGeom prst="rect">
            <a:avLst/>
          </a:prstGeom>
          <a:solidFill>
            <a:srgbClr val="D97706"/>
          </a:solidFill>
        </p:spPr>
      </p:sp>
      <p:sp>
        <p:nvSpPr>
          <p:cNvPr id="20" name="Text 18"/>
          <p:cNvSpPr/>
          <p:nvPr>
            <p:custDataLst>
              <p:tags r:id="rId18"/>
            </p:custDataLst>
          </p:nvPr>
        </p:nvSpPr>
        <p:spPr>
          <a:xfrm>
            <a:off x="4663440" y="1097280"/>
            <a:ext cx="196596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保守预留</a:t>
            </a:r>
            <a:endParaRPr lang="en-US" sz="1600" dirty="0"/>
          </a:p>
        </p:txBody>
      </p:sp>
      <p:sp>
        <p:nvSpPr>
          <p:cNvPr id="21" name="Text 19"/>
          <p:cNvSpPr/>
          <p:nvPr>
            <p:custDataLst>
              <p:tags r:id="rId19"/>
            </p:custDataLst>
          </p:nvPr>
        </p:nvSpPr>
        <p:spPr>
          <a:xfrm>
            <a:off x="4937760" y="1783080"/>
            <a:ext cx="14173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D9770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×0.86</a:t>
            </a:r>
            <a:endParaRPr lang="en-US" sz="2400" dirty="0"/>
          </a:p>
        </p:txBody>
      </p:sp>
      <p:sp>
        <p:nvSpPr>
          <p:cNvPr id="22" name="Text 20"/>
          <p:cNvSpPr/>
          <p:nvPr>
            <p:custDataLst>
              <p:tags r:id="rId20"/>
            </p:custDataLst>
          </p:nvPr>
        </p:nvSpPr>
        <p:spPr>
          <a:xfrm>
            <a:off x="4800600" y="2286000"/>
            <a:ext cx="16916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波动增强时保留裕度</a:t>
            </a:r>
            <a:endParaRPr lang="en-US" sz="1000" dirty="0"/>
          </a:p>
        </p:txBody>
      </p:sp>
      <p:sp>
        <p:nvSpPr>
          <p:cNvPr id="23" name="Text 21"/>
          <p:cNvSpPr/>
          <p:nvPr>
            <p:custDataLst>
              <p:tags r:id="rId21"/>
            </p:custDataLst>
          </p:nvPr>
        </p:nvSpPr>
        <p:spPr>
          <a:xfrm>
            <a:off x="4800600" y="2560320"/>
            <a:ext cx="1691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预留18% · 维护5%</a:t>
            </a:r>
            <a:endParaRPr lang="en-US" sz="900" dirty="0"/>
          </a:p>
        </p:txBody>
      </p:sp>
      <p:sp>
        <p:nvSpPr>
          <p:cNvPr id="24" name="Shape 22"/>
          <p:cNvSpPr/>
          <p:nvPr>
            <p:custDataLst>
              <p:tags r:id="rId22"/>
            </p:custDataLst>
          </p:nvPr>
        </p:nvSpPr>
        <p:spPr>
          <a:xfrm>
            <a:off x="6812280" y="1097280"/>
            <a:ext cx="1965960" cy="2194560"/>
          </a:xfrm>
          <a:prstGeom prst="rect">
            <a:avLst/>
          </a:prstGeom>
          <a:solidFill>
            <a:srgbClr val="FFFFFF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5" name="Shape 23"/>
          <p:cNvSpPr/>
          <p:nvPr>
            <p:custDataLst>
              <p:tags r:id="rId23"/>
            </p:custDataLst>
          </p:nvPr>
        </p:nvSpPr>
        <p:spPr>
          <a:xfrm>
            <a:off x="6812280" y="1097280"/>
            <a:ext cx="54864" cy="2194560"/>
          </a:xfrm>
          <a:prstGeom prst="rect">
            <a:avLst/>
          </a:prstGeom>
          <a:solidFill>
            <a:srgbClr val="DC2626"/>
          </a:solidFill>
        </p:spPr>
      </p:sp>
      <p:sp>
        <p:nvSpPr>
          <p:cNvPr id="26" name="Shape 24"/>
          <p:cNvSpPr/>
          <p:nvPr>
            <p:custDataLst>
              <p:tags r:id="rId24"/>
            </p:custDataLst>
          </p:nvPr>
        </p:nvSpPr>
        <p:spPr>
          <a:xfrm>
            <a:off x="6812280" y="1097280"/>
            <a:ext cx="1965960" cy="502920"/>
          </a:xfrm>
          <a:prstGeom prst="rect">
            <a:avLst/>
          </a:prstGeom>
          <a:solidFill>
            <a:srgbClr val="DC2626"/>
          </a:solidFill>
        </p:spPr>
      </p:sp>
      <p:sp>
        <p:nvSpPr>
          <p:cNvPr id="27" name="Text 25"/>
          <p:cNvSpPr/>
          <p:nvPr>
            <p:custDataLst>
              <p:tags r:id="rId25"/>
            </p:custDataLst>
          </p:nvPr>
        </p:nvSpPr>
        <p:spPr>
          <a:xfrm>
            <a:off x="6812280" y="1097280"/>
            <a:ext cx="196596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风险巡检</a:t>
            </a:r>
            <a:endParaRPr lang="en-US" sz="1600" dirty="0"/>
          </a:p>
        </p:txBody>
      </p:sp>
      <p:sp>
        <p:nvSpPr>
          <p:cNvPr id="28" name="Text 26"/>
          <p:cNvSpPr/>
          <p:nvPr>
            <p:custDataLst>
              <p:tags r:id="rId26"/>
            </p:custDataLst>
          </p:nvPr>
        </p:nvSpPr>
        <p:spPr>
          <a:xfrm>
            <a:off x="7086600" y="1783080"/>
            <a:ext cx="14173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DC262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×0.78</a:t>
            </a:r>
            <a:endParaRPr lang="en-US" sz="2400" dirty="0"/>
          </a:p>
        </p:txBody>
      </p:sp>
      <p:sp>
        <p:nvSpPr>
          <p:cNvPr id="29" name="Text 27"/>
          <p:cNvSpPr/>
          <p:nvPr>
            <p:custDataLst>
              <p:tags r:id="rId27"/>
            </p:custDataLst>
          </p:nvPr>
        </p:nvSpPr>
        <p:spPr>
          <a:xfrm>
            <a:off x="6949440" y="2286000"/>
            <a:ext cx="16916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极端天气保障设备安全</a:t>
            </a:r>
            <a:endParaRPr lang="en-US" sz="1000" dirty="0"/>
          </a:p>
        </p:txBody>
      </p:sp>
      <p:sp>
        <p:nvSpPr>
          <p:cNvPr id="30" name="Text 28"/>
          <p:cNvSpPr/>
          <p:nvPr>
            <p:custDataLst>
              <p:tags r:id="rId28"/>
            </p:custDataLst>
          </p:nvPr>
        </p:nvSpPr>
        <p:spPr>
          <a:xfrm>
            <a:off x="6949440" y="2560320"/>
            <a:ext cx="1691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预留25% · 维护12%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365760" y="3566160"/>
            <a:ext cx="2425065" cy="1417320"/>
          </a:xfrm>
          <a:prstGeom prst="rect">
            <a:avLst/>
          </a:prstGeom>
          <a:solidFill>
            <a:srgbClr val="FFFFFF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365760" y="3566160"/>
            <a:ext cx="54864" cy="1417320"/>
          </a:xfrm>
          <a:prstGeom prst="rect">
            <a:avLst/>
          </a:prstGeom>
          <a:solidFill>
            <a:srgbClr val="7C3AED"/>
          </a:solidFill>
        </p:spPr>
      </p:sp>
      <p:pic>
        <p:nvPicPr>
          <p:cNvPr id="33" name="Image 0" descr="preencoded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548640" y="3657600"/>
            <a:ext cx="320040" cy="320040"/>
          </a:xfrm>
          <a:prstGeom prst="rect">
            <a:avLst/>
          </a:prstGeom>
        </p:spPr>
      </p:pic>
      <p:sp>
        <p:nvSpPr>
          <p:cNvPr id="34" name="Text 31"/>
          <p:cNvSpPr/>
          <p:nvPr/>
        </p:nvSpPr>
        <p:spPr>
          <a:xfrm>
            <a:off x="1005840" y="3657600"/>
            <a:ext cx="38404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分时电价机制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731520" y="4023360"/>
            <a:ext cx="4023360" cy="82296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DC262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尖峰 (8-11, 18-21时): 1.20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平段 (6-7, 12-17时): 1.00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低谷 (22-7时): 0.75</a:t>
            </a:r>
            <a:endParaRPr lang="en-US" sz="1300" dirty="0"/>
          </a:p>
        </p:txBody>
      </p:sp>
      <p:sp>
        <p:nvSpPr>
          <p:cNvPr id="36" name="Shape 33"/>
          <p:cNvSpPr/>
          <p:nvPr/>
        </p:nvSpPr>
        <p:spPr>
          <a:xfrm>
            <a:off x="2926080" y="3566160"/>
            <a:ext cx="5852160" cy="1417320"/>
          </a:xfrm>
          <a:prstGeom prst="rect">
            <a:avLst/>
          </a:prstGeom>
          <a:solidFill>
            <a:srgbClr val="FFFFFF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2926080" y="3566160"/>
            <a:ext cx="54864" cy="1417320"/>
          </a:xfrm>
          <a:prstGeom prst="rect">
            <a:avLst/>
          </a:prstGeom>
          <a:solidFill>
            <a:srgbClr val="059669"/>
          </a:solidFill>
        </p:spPr>
      </p:sp>
      <p:sp>
        <p:nvSpPr>
          <p:cNvPr id="38" name="Text 35"/>
          <p:cNvSpPr/>
          <p:nvPr/>
        </p:nvSpPr>
        <p:spPr>
          <a:xfrm>
            <a:off x="3108960" y="3566160"/>
            <a:ext cx="29260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奖励函数 (6部分)</a:t>
            </a:r>
            <a:endParaRPr lang="en-US" sz="1400" dirty="0"/>
          </a:p>
        </p:txBody>
      </p:sp>
      <p:sp>
        <p:nvSpPr>
          <p:cNvPr id="39" name="Text 36"/>
          <p:cNvSpPr/>
          <p:nvPr/>
        </p:nvSpPr>
        <p:spPr>
          <a:xfrm>
            <a:off x="3108960" y="3840480"/>
            <a:ext cx="2926080" cy="86868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① 售电收入 = delivered × 电价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② 缺口惩罚 = shortfall × (1.4 + 3×风险)</a:t>
            </a:r>
            <a:endParaRPr lang="en-US" sz="1400" dirty="0">
              <a:solidFill>
                <a:srgbClr val="1E293B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③ 弃风惩罚 = curtailment × 0.55</a:t>
            </a:r>
            <a:endParaRPr lang="en-US" sz="1400" dirty="0"/>
          </a:p>
          <a:p>
            <a:pPr marL="0" indent="0">
              <a:buNone/>
            </a:pPr>
            <a:endParaRPr lang="en-US" sz="1200" dirty="0"/>
          </a:p>
        </p:txBody>
      </p:sp>
      <p:sp>
        <p:nvSpPr>
          <p:cNvPr id="41" name="Text 36"/>
          <p:cNvSpPr/>
          <p:nvPr/>
        </p:nvSpPr>
        <p:spPr>
          <a:xfrm>
            <a:off x="6069330" y="3840480"/>
            <a:ext cx="2926080" cy="86868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④ 不稳定惩罚 ∝ 容量 × 敞口 × 风险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⑤ 维护成本 = 容量 × 维护系数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⑥ 预留奖励 ∝ 容量 × 预留 × (风险-0.35)</a:t>
            </a:r>
            <a:endParaRPr lang="en-US" sz="1400" dirty="0"/>
          </a:p>
          <a:p>
            <a:pPr marL="0" indent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777240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Q-Learning — 表格型强化学习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4114800" cy="1554480"/>
          </a:xfrm>
          <a:prstGeom prst="rect">
            <a:avLst/>
          </a:prstGeom>
          <a:solidFill>
            <a:srgbClr val="FFFFFF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097280"/>
            <a:ext cx="54864" cy="1554480"/>
          </a:xfrm>
          <a:prstGeom prst="rect">
            <a:avLst/>
          </a:prstGeom>
          <a:solidFill>
            <a:srgbClr val="2563EB"/>
          </a:solidFill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320040" cy="3200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97280" y="1234440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状态离散化（5维 → Q表索引）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640080" y="1645920"/>
            <a:ext cx="3749040" cy="9144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站点编号: 0~4 (5个风场)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预测功率档: dig[0.20, 0.45, 0.70] → 0~3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风险档: dig[0.20, 0.45, 0.70] → 0~3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风速突变档: dig[0.6, 1.5] → 0~2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时段档: hour // 6 → 0~3 (凌晨/上午/下午/夜间)</a:t>
            </a:r>
            <a:endParaRPr lang="en-US" sz="1100" dirty="0"/>
          </a:p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状态总数 ≈ 5×4×4×3×4 = 960种组合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846320" y="1097280"/>
            <a:ext cx="3840480" cy="1554480"/>
          </a:xfrm>
          <a:prstGeom prst="rect">
            <a:avLst/>
          </a:prstGeom>
          <a:solidFill>
            <a:srgbClr val="FFFFFF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846320" y="1097280"/>
            <a:ext cx="54864" cy="1554480"/>
          </a:xfrm>
          <a:prstGeom prst="rect">
            <a:avLst/>
          </a:prstGeom>
          <a:solidFill>
            <a:srgbClr val="7C3AED"/>
          </a:solidFill>
        </p:spPr>
      </p:sp>
      <p:sp>
        <p:nvSpPr>
          <p:cNvPr id="10" name="Text 7"/>
          <p:cNvSpPr/>
          <p:nvPr/>
        </p:nvSpPr>
        <p:spPr>
          <a:xfrm>
            <a:off x="5029200" y="1234440"/>
            <a:ext cx="34747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Q表示例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5029200" y="1645920"/>
            <a:ext cx="3474720" cy="9144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状态                        | 积极 | 平衡 | 保守 | 巡检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059669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(f1, 高功率, 低风险, 平缓, 上午) | 5200 | 4800 | 4100 | 3200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DC2626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(f1, 中功率, 高风险, 突变, 下午) | -800 | 1200 | 3500 | 4100</a:t>
            </a:r>
            <a:endParaRPr lang="en-US" sz="800" dirty="0"/>
          </a:p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→ 低风险选积极并网，高风险选风险巡检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>
            <a:off x="457200" y="3040380"/>
            <a:ext cx="5486400" cy="1097280"/>
          </a:xfrm>
          <a:prstGeom prst="rect">
            <a:avLst/>
          </a:prstGeom>
          <a:solidFill>
            <a:srgbClr val="FFFFFF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57200" y="3040380"/>
            <a:ext cx="54864" cy="1097280"/>
          </a:xfrm>
          <a:prstGeom prst="rect">
            <a:avLst/>
          </a:prstGeom>
          <a:solidFill>
            <a:srgbClr val="14B8A6"/>
          </a:solidFill>
        </p:spPr>
      </p:sp>
      <p:sp>
        <p:nvSpPr>
          <p:cNvPr id="14" name="Text 11"/>
          <p:cNvSpPr/>
          <p:nvPr/>
        </p:nvSpPr>
        <p:spPr>
          <a:xfrm>
            <a:off x="640080" y="3131820"/>
            <a:ext cx="5029200" cy="86868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65A82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Q(s,a) ← Q(s,a) + α × [ r + γ × max Q(s',a') − Q(s,a) ]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旧Q值 + 学习率α × (即时奖励r + 折扣γ×未来最优值 − 旧Q值)</a:t>
            </a:r>
            <a:endParaRPr lang="en-US" sz="1300" dirty="0"/>
          </a:p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→ 实际奖励比预期好就提高Q值，比预期差就降低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217920" y="3040380"/>
            <a:ext cx="2468880" cy="1097280"/>
          </a:xfrm>
          <a:prstGeom prst="rect">
            <a:avLst/>
          </a:prstGeom>
          <a:solidFill>
            <a:srgbClr val="FFFFFF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217920" y="3040380"/>
            <a:ext cx="54864" cy="1097280"/>
          </a:xfrm>
          <a:prstGeom prst="rect">
            <a:avLst/>
          </a:prstGeom>
          <a:solidFill>
            <a:srgbClr val="D97706"/>
          </a:solidFill>
        </p:spPr>
      </p:sp>
      <p:sp>
        <p:nvSpPr>
          <p:cNvPr id="17" name="Text 14"/>
          <p:cNvSpPr/>
          <p:nvPr/>
        </p:nvSpPr>
        <p:spPr>
          <a:xfrm>
            <a:off x="6400800" y="3131820"/>
            <a:ext cx="21031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ε-贪心策略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6400800" y="3497580"/>
            <a:ext cx="2103120" cy="5486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ε概率: 随机尝试新动作（探索）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1-ε概率: 选Q值最高的（利用）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ε从0.30衰减到0.05</a:t>
            </a:r>
            <a:endParaRPr lang="en-US" sz="1000" dirty="0"/>
          </a:p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先多探索找好策略，后多利用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777240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DQN — 深度Q网络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4114800" cy="1582420"/>
          </a:xfrm>
          <a:prstGeom prst="rect">
            <a:avLst/>
          </a:prstGeom>
          <a:solidFill>
            <a:srgbClr val="FFFFFF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48310" y="1199515"/>
            <a:ext cx="54864" cy="1371600"/>
          </a:xfrm>
          <a:prstGeom prst="rect">
            <a:avLst/>
          </a:prstGeom>
          <a:solidFill>
            <a:srgbClr val="7C3AED"/>
          </a:solidFill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320040" cy="3200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97280" y="1234440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为什么需要 DQN？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640080" y="1645920"/>
            <a:ext cx="3749040" cy="73152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Q-Learning 用表格存Q值 → 状态多了表格爆炸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很多状态从未见过 → 查表时全是0 → 无法泛化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DQN方案：用神经网络替代Q表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输入：状态(one-hot编码) → MLP → 输出：4个Q值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846320" y="1097280"/>
            <a:ext cx="3840480" cy="1582420"/>
          </a:xfrm>
          <a:prstGeom prst="rect">
            <a:avLst/>
          </a:prstGeom>
          <a:solidFill>
            <a:srgbClr val="FFFFFF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846320" y="1148080"/>
            <a:ext cx="54864" cy="1371600"/>
          </a:xfrm>
          <a:prstGeom prst="rect">
            <a:avLst/>
          </a:prstGeom>
          <a:solidFill>
            <a:srgbClr val="1C7293"/>
          </a:solidFill>
        </p:spPr>
      </p:sp>
      <p:sp>
        <p:nvSpPr>
          <p:cNvPr id="10" name="Text 7"/>
          <p:cNvSpPr/>
          <p:nvPr/>
        </p:nvSpPr>
        <p:spPr>
          <a:xfrm>
            <a:off x="5029200" y="1234440"/>
            <a:ext cx="34747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网络架构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5029200" y="1554480"/>
            <a:ext cx="3474720" cy="73152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输入层: one-hot状态 (N站+15维)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隐藏层1: 128维 + ReLU激活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隐藏层2: 128维 + ReLU激活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输出层: 4维 (4个动作的Q值)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损失函数: SmoothL1 (Huber Loss)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优化器: Adam (lr=0.0003)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57200" y="3063240"/>
            <a:ext cx="2651760" cy="1463040"/>
          </a:xfrm>
          <a:prstGeom prst="rect">
            <a:avLst/>
          </a:prstGeom>
          <a:solidFill>
            <a:srgbClr val="FFFFFF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57200" y="3063240"/>
            <a:ext cx="54864" cy="1463040"/>
          </a:xfrm>
          <a:prstGeom prst="rect">
            <a:avLst/>
          </a:prstGeom>
          <a:solidFill>
            <a:srgbClr val="14B8A6"/>
          </a:solidFill>
        </p:spPr>
      </p:sp>
      <p:sp>
        <p:nvSpPr>
          <p:cNvPr id="14" name="Shape 11"/>
          <p:cNvSpPr/>
          <p:nvPr/>
        </p:nvSpPr>
        <p:spPr>
          <a:xfrm>
            <a:off x="594360" y="3108960"/>
            <a:ext cx="320040" cy="320040"/>
          </a:xfrm>
          <a:prstGeom prst="ellipse">
            <a:avLst/>
          </a:prstGeom>
          <a:solidFill>
            <a:srgbClr val="F0F9FF"/>
          </a:solidFill>
        </p:spPr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366" y="3156966"/>
            <a:ext cx="224028" cy="224028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1005840" y="3108960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Double DQN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594360" y="3474720"/>
            <a:ext cx="237744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策略网络选动作，目标网络打分。两人分权，防止'自我欺骗'——Q值高估是DQN的老毛病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3291840" y="3063240"/>
            <a:ext cx="2651760" cy="1463040"/>
          </a:xfrm>
          <a:prstGeom prst="rect">
            <a:avLst/>
          </a:prstGeom>
          <a:solidFill>
            <a:srgbClr val="FFFFFF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3291840" y="3063240"/>
            <a:ext cx="54864" cy="1463040"/>
          </a:xfrm>
          <a:prstGeom prst="rect">
            <a:avLst/>
          </a:prstGeom>
          <a:solidFill>
            <a:srgbClr val="14B8A6"/>
          </a:solidFill>
        </p:spPr>
      </p:sp>
      <p:sp>
        <p:nvSpPr>
          <p:cNvPr id="20" name="Shape 16"/>
          <p:cNvSpPr/>
          <p:nvPr/>
        </p:nvSpPr>
        <p:spPr>
          <a:xfrm>
            <a:off x="3429000" y="3108960"/>
            <a:ext cx="320040" cy="320040"/>
          </a:xfrm>
          <a:prstGeom prst="ellipse">
            <a:avLst/>
          </a:prstGeom>
          <a:solidFill>
            <a:srgbClr val="F0F9FF"/>
          </a:solidFill>
        </p:spPr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7006" y="3156966"/>
            <a:ext cx="224028" cy="224028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3840480" y="3108960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软更新 (Soft Update)</a:t>
            </a:r>
            <a:endParaRPr lang="en-US" sz="1400" dirty="0"/>
          </a:p>
        </p:txBody>
      </p:sp>
      <p:sp>
        <p:nvSpPr>
          <p:cNvPr id="23" name="Text 18"/>
          <p:cNvSpPr/>
          <p:nvPr/>
        </p:nvSpPr>
        <p:spPr>
          <a:xfrm>
            <a:off x="3429000" y="3474720"/>
            <a:ext cx="237744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θ_target ← 0.005×θ_policy + 0.995×θ_target。舵不一把打满，慢慢转，训练更稳定</a:t>
            </a:r>
            <a:endParaRPr lang="en-US" sz="1000" dirty="0"/>
          </a:p>
        </p:txBody>
      </p:sp>
      <p:sp>
        <p:nvSpPr>
          <p:cNvPr id="24" name="Shape 19"/>
          <p:cNvSpPr/>
          <p:nvPr/>
        </p:nvSpPr>
        <p:spPr>
          <a:xfrm>
            <a:off x="6126480" y="3063240"/>
            <a:ext cx="2651760" cy="1463040"/>
          </a:xfrm>
          <a:prstGeom prst="rect">
            <a:avLst/>
          </a:prstGeom>
          <a:solidFill>
            <a:srgbClr val="FFFFFF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5" name="Shape 20"/>
          <p:cNvSpPr/>
          <p:nvPr/>
        </p:nvSpPr>
        <p:spPr>
          <a:xfrm>
            <a:off x="6126480" y="3063240"/>
            <a:ext cx="54864" cy="1463040"/>
          </a:xfrm>
          <a:prstGeom prst="rect">
            <a:avLst/>
          </a:prstGeom>
          <a:solidFill>
            <a:srgbClr val="14B8A6"/>
          </a:solidFill>
        </p:spPr>
      </p:sp>
      <p:sp>
        <p:nvSpPr>
          <p:cNvPr id="26" name="Shape 21"/>
          <p:cNvSpPr/>
          <p:nvPr/>
        </p:nvSpPr>
        <p:spPr>
          <a:xfrm>
            <a:off x="6263640" y="3108960"/>
            <a:ext cx="320040" cy="320040"/>
          </a:xfrm>
          <a:prstGeom prst="ellipse">
            <a:avLst/>
          </a:prstGeom>
          <a:solidFill>
            <a:srgbClr val="F0F9FF"/>
          </a:solidFill>
        </p:spPr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11646" y="3156966"/>
            <a:ext cx="224028" cy="224028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6675120" y="3108960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经验回放 (Experience Replay)</a:t>
            </a:r>
            <a:endParaRPr lang="en-US" sz="1400" dirty="0"/>
          </a:p>
        </p:txBody>
      </p:sp>
      <p:sp>
        <p:nvSpPr>
          <p:cNvPr id="29" name="Text 23"/>
          <p:cNvSpPr/>
          <p:nvPr/>
        </p:nvSpPr>
        <p:spPr>
          <a:xfrm>
            <a:off x="6263640" y="3474720"/>
            <a:ext cx="237744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缓存50,000条经验，随机采样学习。不按时间顺序刷题，随机抽各章节的题，知识更牢固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777240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多算法调度策略对比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1051560"/>
            <a:ext cx="2697480" cy="1691640"/>
          </a:xfrm>
          <a:prstGeom prst="rect">
            <a:avLst/>
          </a:prstGeom>
          <a:solidFill>
            <a:srgbClr val="FFFFFF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365760" y="1051560"/>
            <a:ext cx="54864" cy="169164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5" name="Shape 3"/>
          <p:cNvSpPr/>
          <p:nvPr/>
        </p:nvSpPr>
        <p:spPr>
          <a:xfrm>
            <a:off x="365760" y="1051560"/>
            <a:ext cx="2697480" cy="41148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6" name="Text 4"/>
          <p:cNvSpPr/>
          <p:nvPr/>
        </p:nvSpPr>
        <p:spPr>
          <a:xfrm>
            <a:off x="365760" y="1051560"/>
            <a:ext cx="269748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Q-Learning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02920" y="1554480"/>
            <a:ext cx="242316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实验24 · 表格型RL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02920" y="1828800"/>
            <a:ext cx="2423160" cy="777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从数据学习最优Q表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ε-贪心平衡探索与利用</a:t>
            </a:r>
            <a:endParaRPr lang="en-US" sz="1100" dirty="0"/>
          </a:p>
          <a:p>
            <a:r>
              <a:rPr sz="900" b="1">
                <a:solidFill>
                  <a:srgbClr val="FFB43C"/>
                </a:solidFill>
              </a:rPr>
              <a:t>avg_reward: 2,139.98</a:t>
            </a:r>
            <a:endParaRPr sz="900" b="1">
              <a:solidFill>
                <a:srgbClr val="FFB43C"/>
              </a:solidFill>
            </a:endParaRPr>
          </a:p>
        </p:txBody>
      </p:sp>
      <p:sp>
        <p:nvSpPr>
          <p:cNvPr id="9" name="Shape 7"/>
          <p:cNvSpPr/>
          <p:nvPr/>
        </p:nvSpPr>
        <p:spPr>
          <a:xfrm>
            <a:off x="3246120" y="1051560"/>
            <a:ext cx="2697480" cy="1691640"/>
          </a:xfrm>
          <a:prstGeom prst="rect">
            <a:avLst/>
          </a:prstGeom>
          <a:solidFill>
            <a:srgbClr val="FFFFFF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46120" y="1051560"/>
            <a:ext cx="54864" cy="1691640"/>
          </a:xfrm>
          <a:prstGeom prst="rect">
            <a:avLst/>
          </a:prstGeom>
          <a:solidFill>
            <a:srgbClr val="7C3AED"/>
          </a:solidFill>
        </p:spPr>
      </p:sp>
      <p:sp>
        <p:nvSpPr>
          <p:cNvPr id="11" name="Shape 9"/>
          <p:cNvSpPr/>
          <p:nvPr/>
        </p:nvSpPr>
        <p:spPr>
          <a:xfrm>
            <a:off x="3246120" y="1051560"/>
            <a:ext cx="2697480" cy="411480"/>
          </a:xfrm>
          <a:prstGeom prst="rect">
            <a:avLst/>
          </a:prstGeom>
          <a:solidFill>
            <a:srgbClr val="7C3AED"/>
          </a:solidFill>
        </p:spPr>
      </p:sp>
      <p:sp>
        <p:nvSpPr>
          <p:cNvPr id="12" name="Text 10"/>
          <p:cNvSpPr/>
          <p:nvPr/>
        </p:nvSpPr>
        <p:spPr>
          <a:xfrm>
            <a:off x="3246120" y="1051560"/>
            <a:ext cx="269748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DQN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383280" y="1554480"/>
            <a:ext cx="242316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实验25 · 神经网络RL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383280" y="1828800"/>
            <a:ext cx="2423160" cy="777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Double DQN + 软更新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泛化能力强，训练稳定</a:t>
            </a:r>
            <a:endParaRPr lang="en-US" sz="1100" dirty="0"/>
          </a:p>
          <a:p>
            <a:r>
              <a:rPr sz="900" b="1">
                <a:solidFill>
                  <a:srgbClr val="00C864"/>
                </a:solidFill>
              </a:rPr>
              <a:t>avg_reward: 2,378.79 (最优!)</a:t>
            </a:r>
            <a:endParaRPr sz="900" b="1">
              <a:solidFill>
                <a:srgbClr val="00C864"/>
              </a:solidFill>
            </a:endParaRPr>
          </a:p>
          <a:p>
            <a:r>
              <a:rPr sz="900" b="1">
                <a:solidFill>
                  <a:srgbClr val="00C864"/>
                </a:solidFill>
              </a:rPr>
              <a:t>事故率: 0.39%</a:t>
            </a:r>
            <a:endParaRPr sz="900" b="1">
              <a:solidFill>
                <a:srgbClr val="00C864"/>
              </a:solidFill>
            </a:endParaRPr>
          </a:p>
        </p:txBody>
      </p:sp>
      <p:sp>
        <p:nvSpPr>
          <p:cNvPr id="15" name="Shape 13"/>
          <p:cNvSpPr/>
          <p:nvPr/>
        </p:nvSpPr>
        <p:spPr>
          <a:xfrm>
            <a:off x="6126480" y="1051560"/>
            <a:ext cx="2697480" cy="1691640"/>
          </a:xfrm>
          <a:prstGeom prst="rect">
            <a:avLst/>
          </a:prstGeom>
          <a:solidFill>
            <a:srgbClr val="FFFFFF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126480" y="1051560"/>
            <a:ext cx="54864" cy="1691640"/>
          </a:xfrm>
          <a:prstGeom prst="rect">
            <a:avLst/>
          </a:prstGeom>
          <a:solidFill>
            <a:srgbClr val="059669"/>
          </a:solidFill>
        </p:spPr>
      </p:sp>
      <p:sp>
        <p:nvSpPr>
          <p:cNvPr id="17" name="Shape 15"/>
          <p:cNvSpPr/>
          <p:nvPr/>
        </p:nvSpPr>
        <p:spPr>
          <a:xfrm>
            <a:off x="6126480" y="1051560"/>
            <a:ext cx="2697480" cy="411480"/>
          </a:xfrm>
          <a:prstGeom prst="rect">
            <a:avLst/>
          </a:prstGeom>
          <a:solidFill>
            <a:srgbClr val="059669"/>
          </a:solidFill>
        </p:spPr>
      </p:sp>
      <p:sp>
        <p:nvSpPr>
          <p:cNvPr id="18" name="Text 16"/>
          <p:cNvSpPr/>
          <p:nvPr/>
        </p:nvSpPr>
        <p:spPr>
          <a:xfrm>
            <a:off x="6126480" y="1051560"/>
            <a:ext cx="269748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启发式搜索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263640" y="1554480"/>
            <a:ext cx="242316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实验18 · 规则+局部优化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263640" y="1828800"/>
            <a:ext cx="2423160" cy="777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风险优先原则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低风险时平滑动作切换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65760" y="2926080"/>
            <a:ext cx="2052955" cy="1691640"/>
          </a:xfrm>
          <a:prstGeom prst="rect">
            <a:avLst/>
          </a:prstGeom>
          <a:solidFill>
            <a:srgbClr val="FFFFFF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2926080"/>
            <a:ext cx="76200" cy="1691640"/>
          </a:xfrm>
          <a:prstGeom prst="rect">
            <a:avLst/>
          </a:prstGeom>
          <a:solidFill>
            <a:srgbClr val="D97706"/>
          </a:solidFill>
        </p:spPr>
      </p:sp>
      <p:sp>
        <p:nvSpPr>
          <p:cNvPr id="23" name="Shape 21"/>
          <p:cNvSpPr/>
          <p:nvPr/>
        </p:nvSpPr>
        <p:spPr>
          <a:xfrm>
            <a:off x="365760" y="2926080"/>
            <a:ext cx="2052955" cy="411480"/>
          </a:xfrm>
          <a:prstGeom prst="rect">
            <a:avLst/>
          </a:prstGeom>
          <a:solidFill>
            <a:srgbClr val="D97706"/>
          </a:solidFill>
        </p:spPr>
      </p:sp>
      <p:sp>
        <p:nvSpPr>
          <p:cNvPr id="24" name="Text 22"/>
          <p:cNvSpPr/>
          <p:nvPr/>
        </p:nvSpPr>
        <p:spPr>
          <a:xfrm>
            <a:off x="365760" y="2926080"/>
            <a:ext cx="2052955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遗传算法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02920" y="3429000"/>
            <a:ext cx="1844675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实验19 · 进化搜索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502920" y="3703320"/>
            <a:ext cx="1844675" cy="777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动作序列编码为染色体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选择·交叉·变异·精英保留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2579370" y="2926080"/>
            <a:ext cx="1998345" cy="1691640"/>
          </a:xfrm>
          <a:prstGeom prst="rect">
            <a:avLst/>
          </a:prstGeom>
          <a:solidFill>
            <a:srgbClr val="FFFFFF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2579370" y="2926080"/>
            <a:ext cx="84455" cy="1691640"/>
          </a:xfrm>
          <a:prstGeom prst="rect">
            <a:avLst/>
          </a:prstGeom>
          <a:solidFill>
            <a:srgbClr val="DC2626"/>
          </a:solidFill>
        </p:spPr>
      </p:sp>
      <p:sp>
        <p:nvSpPr>
          <p:cNvPr id="29" name="Shape 27"/>
          <p:cNvSpPr/>
          <p:nvPr/>
        </p:nvSpPr>
        <p:spPr>
          <a:xfrm>
            <a:off x="2579370" y="2926080"/>
            <a:ext cx="1998345" cy="411480"/>
          </a:xfrm>
          <a:prstGeom prst="rect">
            <a:avLst/>
          </a:prstGeom>
          <a:solidFill>
            <a:srgbClr val="DC2626"/>
          </a:solidFill>
        </p:spPr>
      </p:sp>
      <p:sp>
        <p:nvSpPr>
          <p:cNvPr id="30" name="Text 28"/>
          <p:cNvSpPr/>
          <p:nvPr/>
        </p:nvSpPr>
        <p:spPr>
          <a:xfrm>
            <a:off x="2579370" y="2926080"/>
            <a:ext cx="1998345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激进基线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2716530" y="3429000"/>
            <a:ext cx="1795145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基线 · 固定策略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2716530" y="3703320"/>
            <a:ext cx="1795145" cy="777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始终积极并网×1.04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收益最高但事故率也最高</a:t>
            </a:r>
            <a:endParaRPr lang="en-US" sz="1100" dirty="0"/>
          </a:p>
          <a:p>
            <a:r>
              <a:rPr sz="900" b="1">
                <a:solidFill>
                  <a:srgbClr val="FF6464"/>
                </a:solidFill>
              </a:rPr>
              <a:t>avg_reward: 1,179.2</a:t>
            </a:r>
            <a:endParaRPr sz="900" b="1">
              <a:solidFill>
                <a:srgbClr val="FF6464"/>
              </a:solidFill>
            </a:endParaRPr>
          </a:p>
        </p:txBody>
      </p:sp>
      <p:sp>
        <p:nvSpPr>
          <p:cNvPr id="33" name="Shape 31"/>
          <p:cNvSpPr/>
          <p:nvPr/>
        </p:nvSpPr>
        <p:spPr>
          <a:xfrm>
            <a:off x="4759960" y="2926080"/>
            <a:ext cx="1913255" cy="1691640"/>
          </a:xfrm>
          <a:prstGeom prst="rect">
            <a:avLst/>
          </a:prstGeom>
          <a:solidFill>
            <a:srgbClr val="FFFFFF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759960" y="2926080"/>
            <a:ext cx="87630" cy="1691640"/>
          </a:xfrm>
          <a:prstGeom prst="rect">
            <a:avLst/>
          </a:prstGeom>
          <a:solidFill>
            <a:srgbClr val="64748B"/>
          </a:solidFill>
        </p:spPr>
      </p:sp>
      <p:sp>
        <p:nvSpPr>
          <p:cNvPr id="35" name="Shape 33"/>
          <p:cNvSpPr/>
          <p:nvPr/>
        </p:nvSpPr>
        <p:spPr>
          <a:xfrm>
            <a:off x="4759960" y="2926080"/>
            <a:ext cx="1913255" cy="411480"/>
          </a:xfrm>
          <a:prstGeom prst="rect">
            <a:avLst/>
          </a:prstGeom>
          <a:solidFill>
            <a:srgbClr val="64748B"/>
          </a:solidFill>
        </p:spPr>
      </p:sp>
      <p:sp>
        <p:nvSpPr>
          <p:cNvPr id="36" name="Text 34"/>
          <p:cNvSpPr/>
          <p:nvPr/>
        </p:nvSpPr>
        <p:spPr>
          <a:xfrm>
            <a:off x="4759960" y="2926080"/>
            <a:ext cx="1913255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保守基线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4897120" y="3429000"/>
            <a:ext cx="171958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基线 · 固定策略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4897120" y="3703320"/>
            <a:ext cx="1719580" cy="777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风险≥0.45时保守预留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事故率低但收益也低</a:t>
            </a:r>
            <a:endParaRPr lang="en-US" sz="1100" dirty="0"/>
          </a:p>
          <a:p>
            <a:r>
              <a:rPr sz="900" b="1">
                <a:solidFill>
                  <a:srgbClr val="FF9664"/>
                </a:solidFill>
              </a:rPr>
              <a:t>avg_reward: --</a:t>
            </a:r>
            <a:endParaRPr sz="900" b="1">
              <a:solidFill>
                <a:srgbClr val="FF9664"/>
              </a:solidFill>
            </a:endParaRPr>
          </a:p>
        </p:txBody>
      </p:sp>
      <p:sp>
        <p:nvSpPr>
          <p:cNvPr id="39" name="Shape 37"/>
          <p:cNvSpPr/>
          <p:nvPr/>
        </p:nvSpPr>
        <p:spPr>
          <a:xfrm>
            <a:off x="457200" y="4617720"/>
            <a:ext cx="8229600" cy="365760"/>
          </a:xfrm>
          <a:prstGeom prst="rect">
            <a:avLst/>
          </a:prstGeom>
          <a:solidFill>
            <a:srgbClr val="FFFFFF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457200" y="4617720"/>
            <a:ext cx="54864" cy="365760"/>
          </a:xfrm>
          <a:prstGeom prst="rect">
            <a:avLst/>
          </a:prstGeom>
          <a:solidFill>
            <a:srgbClr val="14B8A6"/>
          </a:solidFill>
        </p:spPr>
      </p:sp>
      <p:pic>
        <p:nvPicPr>
          <p:cNvPr id="41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4663440"/>
            <a:ext cx="228600" cy="228600"/>
          </a:xfrm>
          <a:prstGeom prst="rect">
            <a:avLst/>
          </a:prstGeom>
        </p:spPr>
      </p:pic>
      <p:sp>
        <p:nvSpPr>
          <p:cNvPr id="42" name="Text 39"/>
          <p:cNvSpPr/>
          <p:nvPr/>
        </p:nvSpPr>
        <p:spPr>
          <a:xfrm>
            <a:off x="1005840" y="4663440"/>
            <a:ext cx="74980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065A8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算法演进: 固定规则 → 启发式 → 遗传算法 → Q-Learning(2139) → DQN(2378)。DQN较基线(积极并网=1179)提升+101%, 事故率仅0.39%, 实现收益与安全的最佳平衡。</a:t>
            </a:r>
            <a:endParaRPr lang="en-US" sz="1000" dirty="0"/>
          </a:p>
        </p:txBody>
      </p:sp>
      <p:sp>
        <p:nvSpPr>
          <p:cNvPr id="45" name="Shape 31"/>
          <p:cNvSpPr/>
          <p:nvPr/>
        </p:nvSpPr>
        <p:spPr>
          <a:xfrm>
            <a:off x="6910705" y="2926080"/>
            <a:ext cx="1913255" cy="1691640"/>
          </a:xfrm>
          <a:prstGeom prst="rect">
            <a:avLst/>
          </a:prstGeom>
          <a:solidFill>
            <a:srgbClr val="FFFFFF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46" name="Shape 32"/>
          <p:cNvSpPr/>
          <p:nvPr/>
        </p:nvSpPr>
        <p:spPr>
          <a:xfrm>
            <a:off x="6910705" y="2926080"/>
            <a:ext cx="87630" cy="1691640"/>
          </a:xfrm>
          <a:prstGeom prst="rect">
            <a:avLst/>
          </a:prstGeom>
          <a:solidFill>
            <a:schemeClr val="accent1"/>
          </a:solidFill>
        </p:spPr>
      </p:sp>
      <p:sp>
        <p:nvSpPr>
          <p:cNvPr id="47" name="Shape 33"/>
          <p:cNvSpPr/>
          <p:nvPr/>
        </p:nvSpPr>
        <p:spPr>
          <a:xfrm>
            <a:off x="6910705" y="2926080"/>
            <a:ext cx="1913255" cy="411480"/>
          </a:xfrm>
          <a:prstGeom prst="rect">
            <a:avLst/>
          </a:prstGeom>
          <a:solidFill>
            <a:schemeClr val="accent1"/>
          </a:solidFill>
        </p:spPr>
      </p:sp>
      <p:sp>
        <p:nvSpPr>
          <p:cNvPr id="48" name="Text 34"/>
          <p:cNvSpPr/>
          <p:nvPr/>
        </p:nvSpPr>
        <p:spPr>
          <a:xfrm>
            <a:off x="6910705" y="2926080"/>
            <a:ext cx="1913255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始终平衡</a:t>
            </a:r>
            <a:r>
              <a:rPr lang="zh-CN" alt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调度</a:t>
            </a:r>
            <a:endParaRPr lang="zh-CN" altLang="en-US" sz="14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49" name="Text 35"/>
          <p:cNvSpPr/>
          <p:nvPr/>
        </p:nvSpPr>
        <p:spPr>
          <a:xfrm>
            <a:off x="7047865" y="3429000"/>
            <a:ext cx="171958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基线 · 固定策略</a:t>
            </a:r>
            <a:endParaRPr lang="en-US" sz="900" dirty="0"/>
          </a:p>
        </p:txBody>
      </p:sp>
      <p:sp>
        <p:nvSpPr>
          <p:cNvPr id="50" name="Text 36"/>
          <p:cNvSpPr/>
          <p:nvPr/>
        </p:nvSpPr>
        <p:spPr>
          <a:xfrm>
            <a:off x="7047865" y="3703320"/>
            <a:ext cx="1719580" cy="777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>
              <a:buClrTx/>
              <a:buSzTx/>
              <a:buNone/>
            </a:pPr>
            <a:r>
              <a:rPr lang="en-US" sz="11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始终×0.96 平衡调度</a:t>
            </a:r>
            <a:endParaRPr lang="en-US" sz="1100" dirty="0">
              <a:solidFill>
                <a:srgbClr val="1E293B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algn="l">
              <a:buClrTx/>
              <a:buSzTx/>
              <a:buNone/>
            </a:pPr>
            <a:r>
              <a:rPr lang="en-US" sz="11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收益与安全的均衡点</a:t>
            </a:r>
            <a:endParaRPr lang="en-US" sz="1100" dirty="0">
              <a:solidFill>
                <a:srgbClr val="1E293B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r>
              <a:rPr sz="900" b="1">
                <a:solidFill>
                  <a:srgbClr val="FF9664"/>
                </a:solidFill>
              </a:rPr>
              <a:t>avg_reward: --</a:t>
            </a:r>
            <a:endParaRPr sz="900" b="1">
              <a:solidFill>
                <a:srgbClr val="FF9664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图片 4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03020" y="30480"/>
            <a:ext cx="6537960" cy="511302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77724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系统演示 — 总览大屏</a:t>
            </a:r>
            <a:endParaRPr lang="en-US" sz="28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97680" y="2148840"/>
            <a:ext cx="548640" cy="5486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274320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C729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【截图占位】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457200" y="3017520"/>
            <a:ext cx="82296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请截取 Overview 总览大屏全页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包含：汇总卡片 · 验证集精度 · 策略对比矩阵 · 风险热区 · 算法仿真对比 · 数据时间线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457200" y="4160520"/>
            <a:ext cx="8229600" cy="822960"/>
          </a:xfrm>
          <a:prstGeom prst="rect">
            <a:avLst/>
          </a:prstGeom>
          <a:solidFill>
            <a:srgbClr val="FFFFFF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57200" y="4160520"/>
            <a:ext cx="54864" cy="822960"/>
          </a:xfrm>
          <a:prstGeom prst="rect">
            <a:avLst/>
          </a:prstGeom>
          <a:solidFill>
            <a:srgbClr val="1C7293"/>
          </a:solidFill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4297680"/>
            <a:ext cx="274320" cy="2743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051560" y="4297680"/>
            <a:ext cx="740664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总览大屏是系统的核心仪表盘，集中展示验证集精度分析、数据时间线说明、风险热区分布、多策略横向对比矩阵和算法仿真对比结果</a:t>
            </a:r>
            <a:endParaRPr lang="en-US" sz="1100" dirty="0"/>
          </a:p>
        </p:txBody>
      </p:sp>
      <p:pic>
        <p:nvPicPr>
          <p:cNvPr id="13" name="图片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8925" y="804545"/>
            <a:ext cx="5751830" cy="339852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77724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系统演示 — 站点驾驶舱 &amp; 算法实验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/sites</a:t>
            </a:r>
            <a:endParaRPr lang="en-US" sz="1000" dirty="0"/>
          </a:p>
        </p:txBody>
      </p:sp>
      <p:pic>
        <p:nvPicPr>
          <p:cNvPr id="5" name="Image 0" descr="preencoded.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2148840" y="1851660"/>
            <a:ext cx="548640" cy="548640"/>
          </a:xfrm>
          <a:prstGeom prst="rect">
            <a:avLst/>
          </a:prstGeom>
        </p:spPr>
      </p:pic>
      <p:sp>
        <p:nvSpPr>
          <p:cNvPr id="6" name="Text 3"/>
          <p:cNvSpPr/>
          <p:nvPr>
            <p:custDataLst>
              <p:tags r:id="rId3"/>
            </p:custDataLst>
          </p:nvPr>
        </p:nvSpPr>
        <p:spPr>
          <a:xfrm>
            <a:off x="457200" y="2446020"/>
            <a:ext cx="39319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C729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【截图占位】</a:t>
            </a:r>
            <a:endParaRPr lang="en-US" sz="1200" dirty="0"/>
          </a:p>
        </p:txBody>
      </p:sp>
      <p:sp>
        <p:nvSpPr>
          <p:cNvPr id="7" name="Text 4"/>
          <p:cNvSpPr/>
          <p:nvPr>
            <p:custDataLst>
              <p:tags r:id="rId4"/>
            </p:custDataLst>
          </p:nvPr>
        </p:nvSpPr>
        <p:spPr>
          <a:xfrm>
            <a:off x="457200" y="2720340"/>
            <a:ext cx="393192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站点驾驶舱截图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预测vs实际功率曲线 + 风险带 + 日汇总</a:t>
            </a:r>
            <a:endParaRPr lang="en-US" sz="900" dirty="0"/>
          </a:p>
        </p:txBody>
      </p:sp>
      <p:sp>
        <p:nvSpPr>
          <p:cNvPr id="8" name="Shape 5"/>
          <p:cNvSpPr/>
          <p:nvPr>
            <p:custDataLst>
              <p:tags r:id="rId5"/>
            </p:custDataLst>
          </p:nvPr>
        </p:nvSpPr>
        <p:spPr>
          <a:xfrm>
            <a:off x="457200" y="3657600"/>
            <a:ext cx="3931920" cy="1325880"/>
          </a:xfrm>
          <a:prstGeom prst="rect">
            <a:avLst/>
          </a:prstGeom>
          <a:solidFill>
            <a:srgbClr val="FFFFFF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9" name="Shape 6"/>
          <p:cNvSpPr/>
          <p:nvPr>
            <p:custDataLst>
              <p:tags r:id="rId6"/>
            </p:custDataLst>
          </p:nvPr>
        </p:nvSpPr>
        <p:spPr>
          <a:xfrm>
            <a:off x="457200" y="3657600"/>
            <a:ext cx="54864" cy="1325880"/>
          </a:xfrm>
          <a:prstGeom prst="rect">
            <a:avLst/>
          </a:prstGeom>
          <a:solidFill>
            <a:srgbClr val="2563EB"/>
          </a:solidFill>
        </p:spPr>
      </p:sp>
      <p:pic>
        <p:nvPicPr>
          <p:cNvPr id="10" name="Image 1" descr="preencoded.png"/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640080" y="3794760"/>
            <a:ext cx="274320" cy="274320"/>
          </a:xfrm>
          <a:prstGeom prst="rect">
            <a:avLst/>
          </a:prstGeom>
        </p:spPr>
      </p:pic>
      <p:sp>
        <p:nvSpPr>
          <p:cNvPr id="11" name="Text 7"/>
          <p:cNvSpPr/>
          <p:nvPr>
            <p:custDataLst>
              <p:tags r:id="rId9"/>
            </p:custDataLst>
          </p:nvPr>
        </p:nvSpPr>
        <p:spPr>
          <a:xfrm>
            <a:off x="1051560" y="3794760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站点驾驶舱</a:t>
            </a:r>
            <a:endParaRPr lang="en-US" sz="1400" dirty="0"/>
          </a:p>
        </p:txBody>
      </p:sp>
      <p:sp>
        <p:nvSpPr>
          <p:cNvPr id="12" name="Text 8"/>
          <p:cNvSpPr/>
          <p:nvPr>
            <p:custDataLst>
              <p:tags r:id="rId10"/>
            </p:custDataLst>
          </p:nvPr>
        </p:nvSpPr>
        <p:spPr>
          <a:xfrm>
            <a:off x="640080" y="4160520"/>
            <a:ext cx="3566160" cy="73152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· 风场地图 + 站点切换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· 预测 vs 真实功率时序对比曲线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· 风险带 + 日汇总统计表格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· 高风险窗口 Top 10 标注</a:t>
            </a:r>
            <a:endParaRPr lang="en-US" sz="1000" dirty="0"/>
          </a:p>
        </p:txBody>
      </p:sp>
      <p:sp>
        <p:nvSpPr>
          <p:cNvPr id="13" name="Text 9"/>
          <p:cNvSpPr/>
          <p:nvPr/>
        </p:nvSpPr>
        <p:spPr>
          <a:xfrm>
            <a:off x="5029200" y="777240"/>
            <a:ext cx="27432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/experiments</a:t>
            </a:r>
            <a:endParaRPr lang="en-US" sz="1000" dirty="0"/>
          </a:p>
        </p:txBody>
      </p:sp>
      <p:pic>
        <p:nvPicPr>
          <p:cNvPr id="15" name="Image 2" descr="preencoded.png"/>
          <p:cNvPicPr>
            <a:picLocks noChangeAspect="1"/>
          </p:cNvPicPr>
          <p:nvPr>
            <p:custDataLst>
              <p:tags r:id="rId1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6446520" y="1851660"/>
            <a:ext cx="548640" cy="548640"/>
          </a:xfrm>
          <a:prstGeom prst="rect">
            <a:avLst/>
          </a:prstGeom>
        </p:spPr>
      </p:pic>
      <p:sp>
        <p:nvSpPr>
          <p:cNvPr id="16" name="Text 11"/>
          <p:cNvSpPr/>
          <p:nvPr>
            <p:custDataLst>
              <p:tags r:id="rId12"/>
            </p:custDataLst>
          </p:nvPr>
        </p:nvSpPr>
        <p:spPr>
          <a:xfrm>
            <a:off x="4754880" y="2446020"/>
            <a:ext cx="39319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C729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【截图占位】</a:t>
            </a:r>
            <a:endParaRPr lang="en-US" sz="1200" dirty="0"/>
          </a:p>
        </p:txBody>
      </p:sp>
      <p:sp>
        <p:nvSpPr>
          <p:cNvPr id="17" name="Text 12"/>
          <p:cNvSpPr/>
          <p:nvPr>
            <p:custDataLst>
              <p:tags r:id="rId13"/>
            </p:custDataLst>
          </p:nvPr>
        </p:nvSpPr>
        <p:spPr>
          <a:xfrm>
            <a:off x="4754880" y="2720340"/>
            <a:ext cx="393192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算法实验页截图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多策略对比卡片 + 调度功率 vs 实际功率</a:t>
            </a:r>
            <a:endParaRPr lang="en-US" sz="900" dirty="0"/>
          </a:p>
        </p:txBody>
      </p:sp>
      <p:sp>
        <p:nvSpPr>
          <p:cNvPr id="18" name="Shape 13"/>
          <p:cNvSpPr/>
          <p:nvPr>
            <p:custDataLst>
              <p:tags r:id="rId14"/>
            </p:custDataLst>
          </p:nvPr>
        </p:nvSpPr>
        <p:spPr>
          <a:xfrm>
            <a:off x="4754880" y="3657600"/>
            <a:ext cx="3931920" cy="1325880"/>
          </a:xfrm>
          <a:prstGeom prst="rect">
            <a:avLst/>
          </a:prstGeom>
          <a:solidFill>
            <a:srgbClr val="FFFFFF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9" name="Shape 14"/>
          <p:cNvSpPr/>
          <p:nvPr>
            <p:custDataLst>
              <p:tags r:id="rId15"/>
            </p:custDataLst>
          </p:nvPr>
        </p:nvSpPr>
        <p:spPr>
          <a:xfrm>
            <a:off x="4754880" y="3657600"/>
            <a:ext cx="54864" cy="1325880"/>
          </a:xfrm>
          <a:prstGeom prst="rect">
            <a:avLst/>
          </a:prstGeom>
          <a:solidFill>
            <a:srgbClr val="7C3AED"/>
          </a:solidFill>
        </p:spPr>
      </p:sp>
      <p:pic>
        <p:nvPicPr>
          <p:cNvPr id="20" name="Image 3" descr="preencoded.png"/>
          <p:cNvPicPr>
            <a:picLocks noChangeAspect="1"/>
          </p:cNvPicPr>
          <p:nvPr>
            <p:custDataLst>
              <p:tags r:id="rId16"/>
            </p:custDataLst>
          </p:nvPr>
        </p:nvPicPr>
        <p:blipFill>
          <a:blip r:embed="rId17"/>
          <a:stretch>
            <a:fillRect/>
          </a:stretch>
        </p:blipFill>
        <p:spPr>
          <a:xfrm>
            <a:off x="4937760" y="3794760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/>
          <p:nvPr>
            <p:custDataLst>
              <p:tags r:id="rId18"/>
            </p:custDataLst>
          </p:nvPr>
        </p:nvSpPr>
        <p:spPr>
          <a:xfrm>
            <a:off x="5349240" y="3794760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算法实验页</a:t>
            </a:r>
            <a:endParaRPr lang="en-US" sz="1400" dirty="0"/>
          </a:p>
        </p:txBody>
      </p:sp>
      <p:sp>
        <p:nvSpPr>
          <p:cNvPr id="22" name="Text 16"/>
          <p:cNvSpPr/>
          <p:nvPr>
            <p:custDataLst>
              <p:tags r:id="rId19"/>
            </p:custDataLst>
          </p:nvPr>
        </p:nvSpPr>
        <p:spPr>
          <a:xfrm>
            <a:off x="4937760" y="4160520"/>
            <a:ext cx="3566160" cy="73152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· 多策略横向对比矩阵（6种算法）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· 调度功率 vs 实际功率逐点对比图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· 各策略累计收益 / 事故率 / 能量利用率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· 可自定义算法接入的实验框架</a:t>
            </a:r>
            <a:endParaRPr lang="en-US" sz="1000" dirty="0"/>
          </a:p>
        </p:txBody>
      </p:sp>
      <p:pic>
        <p:nvPicPr>
          <p:cNvPr id="23" name="图片 22"/>
          <p:cNvPicPr>
            <a:picLocks noChangeAspect="1"/>
          </p:cNvPicPr>
          <p:nvPr>
            <p:custDataLst>
              <p:tags r:id="rId20"/>
            </p:custDataLst>
          </p:nvPr>
        </p:nvPicPr>
        <p:blipFill>
          <a:blip r:embed="rId21"/>
          <a:stretch>
            <a:fillRect/>
          </a:stretch>
        </p:blipFill>
        <p:spPr>
          <a:xfrm>
            <a:off x="287020" y="1079500"/>
            <a:ext cx="4271645" cy="2413635"/>
          </a:xfrm>
          <a:prstGeom prst="rect">
            <a:avLst/>
          </a:prstGeom>
        </p:spPr>
      </p:pic>
      <p:pic>
        <p:nvPicPr>
          <p:cNvPr id="26" name="图片 25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4736465" y="1072515"/>
            <a:ext cx="4732020" cy="242062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77724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系统演示 — 智能问答 &amp; 预测上传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/agent</a:t>
            </a:r>
            <a:endParaRPr lang="en-US" sz="1000" dirty="0"/>
          </a:p>
        </p:txBody>
      </p:sp>
      <p:pic>
        <p:nvPicPr>
          <p:cNvPr id="5" name="Image 0" descr="preencoded.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2148840" y="1851660"/>
            <a:ext cx="548640" cy="548640"/>
          </a:xfrm>
          <a:prstGeom prst="rect">
            <a:avLst/>
          </a:prstGeom>
        </p:spPr>
      </p:pic>
      <p:sp>
        <p:nvSpPr>
          <p:cNvPr id="6" name="Text 3"/>
          <p:cNvSpPr/>
          <p:nvPr>
            <p:custDataLst>
              <p:tags r:id="rId3"/>
            </p:custDataLst>
          </p:nvPr>
        </p:nvSpPr>
        <p:spPr>
          <a:xfrm>
            <a:off x="457200" y="2446020"/>
            <a:ext cx="39319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C729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【截图占位】</a:t>
            </a:r>
            <a:endParaRPr lang="en-US" sz="1200" dirty="0"/>
          </a:p>
        </p:txBody>
      </p:sp>
      <p:sp>
        <p:nvSpPr>
          <p:cNvPr id="7" name="Text 4"/>
          <p:cNvSpPr/>
          <p:nvPr>
            <p:custDataLst>
              <p:tags r:id="rId4"/>
            </p:custDataLst>
          </p:nvPr>
        </p:nvSpPr>
        <p:spPr>
          <a:xfrm>
            <a:off x="457200" y="2720340"/>
            <a:ext cx="393192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智能体中心截图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Ollama LLM 问答界面 + 快捷提问按钮</a:t>
            </a:r>
            <a:endParaRPr lang="en-US" sz="900" dirty="0"/>
          </a:p>
        </p:txBody>
      </p:sp>
      <p:sp>
        <p:nvSpPr>
          <p:cNvPr id="8" name="Shape 5"/>
          <p:cNvSpPr/>
          <p:nvPr>
            <p:custDataLst>
              <p:tags r:id="rId5"/>
            </p:custDataLst>
          </p:nvPr>
        </p:nvSpPr>
        <p:spPr>
          <a:xfrm>
            <a:off x="457200" y="3657600"/>
            <a:ext cx="3931920" cy="1325880"/>
          </a:xfrm>
          <a:prstGeom prst="rect">
            <a:avLst/>
          </a:prstGeom>
          <a:solidFill>
            <a:srgbClr val="FFFFFF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9" name="Shape 6"/>
          <p:cNvSpPr/>
          <p:nvPr>
            <p:custDataLst>
              <p:tags r:id="rId6"/>
            </p:custDataLst>
          </p:nvPr>
        </p:nvSpPr>
        <p:spPr>
          <a:xfrm>
            <a:off x="457200" y="3657600"/>
            <a:ext cx="54864" cy="1325880"/>
          </a:xfrm>
          <a:prstGeom prst="rect">
            <a:avLst/>
          </a:prstGeom>
          <a:solidFill>
            <a:srgbClr val="059669"/>
          </a:solidFill>
        </p:spPr>
      </p:sp>
      <p:pic>
        <p:nvPicPr>
          <p:cNvPr id="10" name="Image 1" descr="preencoded.png"/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640080" y="3794760"/>
            <a:ext cx="274320" cy="274320"/>
          </a:xfrm>
          <a:prstGeom prst="rect">
            <a:avLst/>
          </a:prstGeom>
        </p:spPr>
      </p:pic>
      <p:sp>
        <p:nvSpPr>
          <p:cNvPr id="11" name="Text 7"/>
          <p:cNvSpPr/>
          <p:nvPr>
            <p:custDataLst>
              <p:tags r:id="rId9"/>
            </p:custDataLst>
          </p:nvPr>
        </p:nvSpPr>
        <p:spPr>
          <a:xfrm>
            <a:off x="1051560" y="3794760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智能体中心</a:t>
            </a:r>
            <a:endParaRPr lang="en-US" sz="1400" dirty="0"/>
          </a:p>
        </p:txBody>
      </p:sp>
      <p:sp>
        <p:nvSpPr>
          <p:cNvPr id="12" name="Text 8"/>
          <p:cNvSpPr/>
          <p:nvPr>
            <p:custDataLst>
              <p:tags r:id="rId10"/>
            </p:custDataLst>
          </p:nvPr>
        </p:nvSpPr>
        <p:spPr>
          <a:xfrm>
            <a:off x="640080" y="4160520"/>
            <a:ext cx="3566160" cy="73152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· Ollama LLM 本地模型优先问答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· 不可用时自动回退内置规则问答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· 支持预测/风险/调度/站点等话题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· 一键导出 CSV / JSON 数据报告</a:t>
            </a:r>
            <a:endParaRPr lang="en-US" sz="1000" dirty="0"/>
          </a:p>
        </p:txBody>
      </p:sp>
      <p:sp>
        <p:nvSpPr>
          <p:cNvPr id="13" name="Text 9"/>
          <p:cNvSpPr/>
          <p:nvPr/>
        </p:nvSpPr>
        <p:spPr>
          <a:xfrm>
            <a:off x="5029200" y="777240"/>
            <a:ext cx="27432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/prediction</a:t>
            </a:r>
            <a:endParaRPr lang="en-US" sz="1000" dirty="0"/>
          </a:p>
        </p:txBody>
      </p:sp>
      <p:pic>
        <p:nvPicPr>
          <p:cNvPr id="15" name="Image 2" descr="preencoded.png"/>
          <p:cNvPicPr>
            <a:picLocks noChangeAspect="1"/>
          </p:cNvPicPr>
          <p:nvPr>
            <p:custDataLst>
              <p:tags r:id="rId1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6446520" y="1851660"/>
            <a:ext cx="548640" cy="548640"/>
          </a:xfrm>
          <a:prstGeom prst="rect">
            <a:avLst/>
          </a:prstGeom>
        </p:spPr>
      </p:pic>
      <p:sp>
        <p:nvSpPr>
          <p:cNvPr id="16" name="Text 11"/>
          <p:cNvSpPr/>
          <p:nvPr>
            <p:custDataLst>
              <p:tags r:id="rId12"/>
            </p:custDataLst>
          </p:nvPr>
        </p:nvSpPr>
        <p:spPr>
          <a:xfrm>
            <a:off x="4754880" y="2446020"/>
            <a:ext cx="39319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C729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【截图占位】</a:t>
            </a:r>
            <a:endParaRPr lang="en-US" sz="1200" dirty="0"/>
          </a:p>
        </p:txBody>
      </p:sp>
      <p:sp>
        <p:nvSpPr>
          <p:cNvPr id="17" name="Text 12"/>
          <p:cNvSpPr/>
          <p:nvPr>
            <p:custDataLst>
              <p:tags r:id="rId13"/>
            </p:custDataLst>
          </p:nvPr>
        </p:nvSpPr>
        <p:spPr>
          <a:xfrm>
            <a:off x="4754880" y="2720340"/>
            <a:ext cx="393192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预测上传页截图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CSV 上传 → 在线预测 → 结果展示</a:t>
            </a:r>
            <a:endParaRPr lang="en-US" sz="900" dirty="0"/>
          </a:p>
        </p:txBody>
      </p:sp>
      <p:sp>
        <p:nvSpPr>
          <p:cNvPr id="18" name="Shape 13"/>
          <p:cNvSpPr/>
          <p:nvPr>
            <p:custDataLst>
              <p:tags r:id="rId14"/>
            </p:custDataLst>
          </p:nvPr>
        </p:nvSpPr>
        <p:spPr>
          <a:xfrm>
            <a:off x="4754880" y="3657600"/>
            <a:ext cx="3931920" cy="1325880"/>
          </a:xfrm>
          <a:prstGeom prst="rect">
            <a:avLst/>
          </a:prstGeom>
          <a:solidFill>
            <a:srgbClr val="FFFFFF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9" name="Shape 14"/>
          <p:cNvSpPr/>
          <p:nvPr>
            <p:custDataLst>
              <p:tags r:id="rId15"/>
            </p:custDataLst>
          </p:nvPr>
        </p:nvSpPr>
        <p:spPr>
          <a:xfrm>
            <a:off x="4754880" y="3657600"/>
            <a:ext cx="54864" cy="1325880"/>
          </a:xfrm>
          <a:prstGeom prst="rect">
            <a:avLst/>
          </a:prstGeom>
          <a:solidFill>
            <a:srgbClr val="000000"/>
          </a:solidFill>
        </p:spPr>
      </p:sp>
      <p:pic>
        <p:nvPicPr>
          <p:cNvPr id="20" name="Image 3" descr="preencoded.png"/>
          <p:cNvPicPr>
            <a:picLocks noChangeAspect="1"/>
          </p:cNvPicPr>
          <p:nvPr>
            <p:custDataLst>
              <p:tags r:id="rId16"/>
            </p:custDataLst>
          </p:nvPr>
        </p:nvPicPr>
        <p:blipFill>
          <a:blip r:embed="rId17"/>
          <a:stretch>
            <a:fillRect/>
          </a:stretch>
        </p:blipFill>
        <p:spPr>
          <a:xfrm>
            <a:off x="4937760" y="3794760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/>
          <p:nvPr>
            <p:custDataLst>
              <p:tags r:id="rId18"/>
            </p:custDataLst>
          </p:nvPr>
        </p:nvSpPr>
        <p:spPr>
          <a:xfrm>
            <a:off x="5349240" y="3794760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预测上传页</a:t>
            </a:r>
            <a:endParaRPr lang="en-US" sz="1400" dirty="0"/>
          </a:p>
        </p:txBody>
      </p:sp>
      <p:sp>
        <p:nvSpPr>
          <p:cNvPr id="22" name="Text 16"/>
          <p:cNvSpPr/>
          <p:nvPr>
            <p:custDataLst>
              <p:tags r:id="rId19"/>
            </p:custDataLst>
          </p:nvPr>
        </p:nvSpPr>
        <p:spPr>
          <a:xfrm>
            <a:off x="4937760" y="4160520"/>
            <a:ext cx="3566160" cy="73152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· 上传新测试集 CSV → 在线预测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· 多站点结果对比 + 调度建议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· 含真实功率时可自动计算精度指标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· 结果 CSV 下载 / 历史上传管理</a:t>
            </a:r>
            <a:endParaRPr lang="en-US" sz="1000" dirty="0"/>
          </a:p>
        </p:txBody>
      </p:sp>
      <p:pic>
        <p:nvPicPr>
          <p:cNvPr id="24" name="图片 23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00660" y="1005840"/>
            <a:ext cx="4445000" cy="2456815"/>
          </a:xfrm>
          <a:prstGeom prst="rect">
            <a:avLst/>
          </a:prstGeom>
        </p:spPr>
      </p:pic>
      <p:pic>
        <p:nvPicPr>
          <p:cNvPr id="25" name="图片 24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4809490" y="1005840"/>
            <a:ext cx="4191635" cy="2456815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77724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项目总结</a:t>
            </a:r>
            <a:endParaRPr lang="en-US" sz="3000" dirty="0"/>
          </a:p>
        </p:txBody>
      </p:sp>
      <p:sp>
        <p:nvSpPr>
          <p:cNvPr id="3" name="Shape 1"/>
          <p:cNvSpPr/>
          <p:nvPr>
            <p:custDataLst>
              <p:tags r:id="rId1"/>
            </p:custDataLst>
          </p:nvPr>
        </p:nvSpPr>
        <p:spPr>
          <a:xfrm>
            <a:off x="457200" y="1051560"/>
            <a:ext cx="4114800" cy="1143000"/>
          </a:xfrm>
          <a:prstGeom prst="rect">
            <a:avLst/>
          </a:prstGeom>
          <a:solidFill>
            <a:srgbClr val="FFFFFF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4" name="Shape 2"/>
          <p:cNvSpPr/>
          <p:nvPr>
            <p:custDataLst>
              <p:tags r:id="rId2"/>
            </p:custDataLst>
          </p:nvPr>
        </p:nvSpPr>
        <p:spPr>
          <a:xfrm>
            <a:off x="457200" y="1051560"/>
            <a:ext cx="54864" cy="1143000"/>
          </a:xfrm>
          <a:prstGeom prst="rect">
            <a:avLst/>
          </a:prstGeom>
          <a:solidFill>
            <a:srgbClr val="059669"/>
          </a:solidFill>
        </p:spPr>
      </p:sp>
      <p:sp>
        <p:nvSpPr>
          <p:cNvPr id="5" name="Shape 3"/>
          <p:cNvSpPr/>
          <p:nvPr>
            <p:custDataLst>
              <p:tags r:id="rId3"/>
            </p:custDataLst>
          </p:nvPr>
        </p:nvSpPr>
        <p:spPr>
          <a:xfrm>
            <a:off x="594360" y="1325880"/>
            <a:ext cx="347472" cy="347472"/>
          </a:xfrm>
          <a:prstGeom prst="ellipse">
            <a:avLst/>
          </a:prstGeom>
          <a:solidFill>
            <a:srgbClr val="F0F9FF"/>
          </a:solidFill>
        </p:spPr>
      </p:sp>
      <p:pic>
        <p:nvPicPr>
          <p:cNvPr id="6" name="Image 0" descr="preencoded.png"/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5"/>
          <a:stretch>
            <a:fillRect/>
          </a:stretch>
        </p:blipFill>
        <p:spPr>
          <a:xfrm>
            <a:off x="646481" y="1378001"/>
            <a:ext cx="243230" cy="243230"/>
          </a:xfrm>
          <a:prstGeom prst="rect">
            <a:avLst/>
          </a:prstGeom>
        </p:spPr>
      </p:pic>
      <p:sp>
        <p:nvSpPr>
          <p:cNvPr id="7" name="Text 4"/>
          <p:cNvSpPr/>
          <p:nvPr>
            <p:custDataLst>
              <p:tags r:id="rId6"/>
            </p:custDataLst>
          </p:nvPr>
        </p:nvSpPr>
        <p:spPr>
          <a:xfrm>
            <a:off x="1051560" y="1234440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端到端分析闭环</a:t>
            </a:r>
            <a:endParaRPr lang="en-US" sz="1400" dirty="0"/>
          </a:p>
        </p:txBody>
      </p:sp>
      <p:sp>
        <p:nvSpPr>
          <p:cNvPr id="8" name="Text 5"/>
          <p:cNvSpPr/>
          <p:nvPr>
            <p:custDataLst>
              <p:tags r:id="rId7"/>
            </p:custDataLst>
          </p:nvPr>
        </p:nvSpPr>
        <p:spPr>
          <a:xfrm>
            <a:off x="1051560" y="1554480"/>
            <a:ext cx="329184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数据清洗→特征工程→功率预测(MAE 2.51MW)→风险评估(7因素加权)→RL调度(DQN avg_reward 2378)→可视化大屏, 全链路贯通</a:t>
            </a:r>
            <a:endParaRPr lang="en-US" sz="1000" dirty="0"/>
          </a:p>
        </p:txBody>
      </p:sp>
      <p:sp>
        <p:nvSpPr>
          <p:cNvPr id="9" name="Shape 6"/>
          <p:cNvSpPr/>
          <p:nvPr>
            <p:custDataLst>
              <p:tags r:id="rId8"/>
            </p:custDataLst>
          </p:nvPr>
        </p:nvSpPr>
        <p:spPr>
          <a:xfrm>
            <a:off x="4846320" y="1051560"/>
            <a:ext cx="4114800" cy="1143000"/>
          </a:xfrm>
          <a:prstGeom prst="rect">
            <a:avLst/>
          </a:prstGeom>
          <a:solidFill>
            <a:srgbClr val="FFFFFF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>
            <p:custDataLst>
              <p:tags r:id="rId9"/>
            </p:custDataLst>
          </p:nvPr>
        </p:nvSpPr>
        <p:spPr>
          <a:xfrm>
            <a:off x="4846320" y="1051560"/>
            <a:ext cx="54864" cy="1143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11" name="Shape 8"/>
          <p:cNvSpPr/>
          <p:nvPr>
            <p:custDataLst>
              <p:tags r:id="rId10"/>
            </p:custDataLst>
          </p:nvPr>
        </p:nvSpPr>
        <p:spPr>
          <a:xfrm>
            <a:off x="4983480" y="1325880"/>
            <a:ext cx="347472" cy="347472"/>
          </a:xfrm>
          <a:prstGeom prst="ellipse">
            <a:avLst/>
          </a:prstGeom>
          <a:solidFill>
            <a:srgbClr val="F0F9FF"/>
          </a:solidFill>
        </p:spPr>
      </p:sp>
      <p:pic>
        <p:nvPicPr>
          <p:cNvPr id="12" name="Image 1" descr="preencoded.png"/>
          <p:cNvPicPr>
            <a:picLocks noChangeAspect="1"/>
          </p:cNvPicPr>
          <p:nvPr>
            <p:custDataLst>
              <p:tags r:id="rId11"/>
            </p:custDataLst>
          </p:nvPr>
        </p:nvPicPr>
        <p:blipFill>
          <a:blip r:embed="rId5"/>
          <a:stretch>
            <a:fillRect/>
          </a:stretch>
        </p:blipFill>
        <p:spPr>
          <a:xfrm>
            <a:off x="5035601" y="1378001"/>
            <a:ext cx="243230" cy="243230"/>
          </a:xfrm>
          <a:prstGeom prst="rect">
            <a:avLst/>
          </a:prstGeom>
        </p:spPr>
      </p:pic>
      <p:sp>
        <p:nvSpPr>
          <p:cNvPr id="13" name="Text 9"/>
          <p:cNvSpPr/>
          <p:nvPr>
            <p:custDataLst>
              <p:tags r:id="rId12"/>
            </p:custDataLst>
          </p:nvPr>
        </p:nvSpPr>
        <p:spPr>
          <a:xfrm>
            <a:off x="5440680" y="1234440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38维特征工程</a:t>
            </a:r>
            <a:endParaRPr lang="en-US" sz="1400" dirty="0"/>
          </a:p>
        </p:txBody>
      </p:sp>
      <p:sp>
        <p:nvSpPr>
          <p:cNvPr id="14" name="Text 10"/>
          <p:cNvSpPr/>
          <p:nvPr>
            <p:custDataLst>
              <p:tags r:id="rId13"/>
            </p:custDataLst>
          </p:nvPr>
        </p:nvSpPr>
        <p:spPr>
          <a:xfrm>
            <a:off x="5440680" y="1554480"/>
            <a:ext cx="329184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循环编码保留时间周期 · 风向U/V分解消除角度跳变 · 滞后功率捕捉时序惯性</a:t>
            </a:r>
            <a:endParaRPr lang="en-US" sz="1000" dirty="0"/>
          </a:p>
          <a:p>
            <a:r>
              <a:rPr sz="900">
                <a:solidFill>
                  <a:srgbClr val="00B4A0"/>
                </a:solidFill>
              </a:rPr>
              <a:t>R²从0.88提升至0.99 (+12.5%), 滞后功率特征是精度核心</a:t>
            </a:r>
            <a:endParaRPr sz="900">
              <a:solidFill>
                <a:srgbClr val="00B4A0"/>
              </a:solidFill>
            </a:endParaRPr>
          </a:p>
        </p:txBody>
      </p:sp>
      <p:sp>
        <p:nvSpPr>
          <p:cNvPr id="15" name="Shape 11"/>
          <p:cNvSpPr/>
          <p:nvPr>
            <p:custDataLst>
              <p:tags r:id="rId14"/>
            </p:custDataLst>
          </p:nvPr>
        </p:nvSpPr>
        <p:spPr>
          <a:xfrm>
            <a:off x="457200" y="2331720"/>
            <a:ext cx="4114800" cy="1143000"/>
          </a:xfrm>
          <a:prstGeom prst="rect">
            <a:avLst/>
          </a:prstGeom>
          <a:solidFill>
            <a:srgbClr val="FFFFFF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6" name="Shape 12"/>
          <p:cNvSpPr/>
          <p:nvPr>
            <p:custDataLst>
              <p:tags r:id="rId15"/>
            </p:custDataLst>
          </p:nvPr>
        </p:nvSpPr>
        <p:spPr>
          <a:xfrm>
            <a:off x="457200" y="2331720"/>
            <a:ext cx="54864" cy="1143000"/>
          </a:xfrm>
          <a:prstGeom prst="rect">
            <a:avLst/>
          </a:prstGeom>
          <a:solidFill>
            <a:srgbClr val="1C7293"/>
          </a:solidFill>
        </p:spPr>
      </p:sp>
      <p:sp>
        <p:nvSpPr>
          <p:cNvPr id="17" name="Shape 13"/>
          <p:cNvSpPr/>
          <p:nvPr>
            <p:custDataLst>
              <p:tags r:id="rId16"/>
            </p:custDataLst>
          </p:nvPr>
        </p:nvSpPr>
        <p:spPr>
          <a:xfrm>
            <a:off x="594360" y="2606040"/>
            <a:ext cx="347472" cy="347472"/>
          </a:xfrm>
          <a:prstGeom prst="ellipse">
            <a:avLst/>
          </a:prstGeom>
          <a:solidFill>
            <a:srgbClr val="F0F9FF"/>
          </a:solidFill>
        </p:spPr>
      </p:sp>
      <p:pic>
        <p:nvPicPr>
          <p:cNvPr id="18" name="Image 2" descr="preencoded.png"/>
          <p:cNvPicPr>
            <a:picLocks noChangeAspect="1"/>
          </p:cNvPicPr>
          <p:nvPr>
            <p:custDataLst>
              <p:tags r:id="rId17"/>
            </p:custDataLst>
          </p:nvPr>
        </p:nvPicPr>
        <p:blipFill>
          <a:blip r:embed="rId5"/>
          <a:stretch>
            <a:fillRect/>
          </a:stretch>
        </p:blipFill>
        <p:spPr>
          <a:xfrm>
            <a:off x="646481" y="2658161"/>
            <a:ext cx="243230" cy="243230"/>
          </a:xfrm>
          <a:prstGeom prst="rect">
            <a:avLst/>
          </a:prstGeom>
        </p:spPr>
      </p:pic>
      <p:sp>
        <p:nvSpPr>
          <p:cNvPr id="19" name="Text 14"/>
          <p:cNvSpPr/>
          <p:nvPr>
            <p:custDataLst>
              <p:tags r:id="rId18"/>
            </p:custDataLst>
          </p:nvPr>
        </p:nvSpPr>
        <p:spPr>
          <a:xfrm>
            <a:off x="1051560" y="2514600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双模型对比验证</a:t>
            </a:r>
            <a:endParaRPr lang="en-US" sz="1400" dirty="0"/>
          </a:p>
        </p:txBody>
      </p:sp>
      <p:sp>
        <p:nvSpPr>
          <p:cNvPr id="20" name="Text 15"/>
          <p:cNvSpPr/>
          <p:nvPr>
            <p:custDataLst>
              <p:tags r:id="rId19"/>
            </p:custDataLst>
          </p:nvPr>
        </p:nvSpPr>
        <p:spPr>
          <a:xfrm>
            <a:off x="1051560" y="2834640"/>
            <a:ext cx="329184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HistGBR(MAE 2.51MW) vs LightGBM(MAE 2.55MW) 梯度提升树对比, R²=0.99 量化评估预测精度</a:t>
            </a:r>
            <a:endParaRPr lang="en-US" sz="1000" dirty="0"/>
          </a:p>
        </p:txBody>
      </p:sp>
      <p:sp>
        <p:nvSpPr>
          <p:cNvPr id="21" name="Shape 16"/>
          <p:cNvSpPr/>
          <p:nvPr>
            <p:custDataLst>
              <p:tags r:id="rId20"/>
            </p:custDataLst>
          </p:nvPr>
        </p:nvSpPr>
        <p:spPr>
          <a:xfrm>
            <a:off x="4846320" y="2331720"/>
            <a:ext cx="4114800" cy="1143000"/>
          </a:xfrm>
          <a:prstGeom prst="rect">
            <a:avLst/>
          </a:prstGeom>
          <a:solidFill>
            <a:srgbClr val="FFFFFF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2" name="Shape 17"/>
          <p:cNvSpPr/>
          <p:nvPr>
            <p:custDataLst>
              <p:tags r:id="rId21"/>
            </p:custDataLst>
          </p:nvPr>
        </p:nvSpPr>
        <p:spPr>
          <a:xfrm>
            <a:off x="4846320" y="2331720"/>
            <a:ext cx="54864" cy="1143000"/>
          </a:xfrm>
          <a:prstGeom prst="rect">
            <a:avLst/>
          </a:prstGeom>
          <a:solidFill>
            <a:srgbClr val="7C3AED"/>
          </a:solidFill>
        </p:spPr>
      </p:sp>
      <p:sp>
        <p:nvSpPr>
          <p:cNvPr id="23" name="Shape 18"/>
          <p:cNvSpPr/>
          <p:nvPr>
            <p:custDataLst>
              <p:tags r:id="rId22"/>
            </p:custDataLst>
          </p:nvPr>
        </p:nvSpPr>
        <p:spPr>
          <a:xfrm>
            <a:off x="4983480" y="2606040"/>
            <a:ext cx="347472" cy="347472"/>
          </a:xfrm>
          <a:prstGeom prst="ellipse">
            <a:avLst/>
          </a:prstGeom>
          <a:solidFill>
            <a:srgbClr val="F0F9FF"/>
          </a:solidFill>
        </p:spPr>
      </p:sp>
      <p:pic>
        <p:nvPicPr>
          <p:cNvPr id="24" name="Image 3" descr="preencoded.png"/>
          <p:cNvPicPr>
            <a:picLocks noChangeAspect="1"/>
          </p:cNvPicPr>
          <p:nvPr>
            <p:custDataLst>
              <p:tags r:id="rId23"/>
            </p:custDataLst>
          </p:nvPr>
        </p:nvPicPr>
        <p:blipFill>
          <a:blip r:embed="rId5"/>
          <a:stretch>
            <a:fillRect/>
          </a:stretch>
        </p:blipFill>
        <p:spPr>
          <a:xfrm>
            <a:off x="5035601" y="2658161"/>
            <a:ext cx="243230" cy="243230"/>
          </a:xfrm>
          <a:prstGeom prst="rect">
            <a:avLst/>
          </a:prstGeom>
        </p:spPr>
      </p:pic>
      <p:sp>
        <p:nvSpPr>
          <p:cNvPr id="25" name="Text 19"/>
          <p:cNvSpPr/>
          <p:nvPr>
            <p:custDataLst>
              <p:tags r:id="rId24"/>
            </p:custDataLst>
          </p:nvPr>
        </p:nvSpPr>
        <p:spPr>
          <a:xfrm>
            <a:off x="5440680" y="2514600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7种调度策略同台对比赛</a:t>
            </a:r>
            <a:endParaRPr lang="en-US" sz="1400" dirty="0"/>
          </a:p>
        </p:txBody>
      </p:sp>
      <p:sp>
        <p:nvSpPr>
          <p:cNvPr id="26" name="Text 20"/>
          <p:cNvSpPr/>
          <p:nvPr>
            <p:custDataLst>
              <p:tags r:id="rId25"/>
            </p:custDataLst>
          </p:nvPr>
        </p:nvSpPr>
        <p:spPr>
          <a:xfrm>
            <a:off x="5440680" y="2834640"/>
            <a:ext cx="329184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Q-Learning(2139) · DQN(2378, +101% vs baseline) · 启发式搜索 · 遗传算法, 统一环境量化对比</a:t>
            </a:r>
            <a:endParaRPr lang="en-US" sz="1000" dirty="0"/>
          </a:p>
        </p:txBody>
      </p:sp>
      <p:sp>
        <p:nvSpPr>
          <p:cNvPr id="27" name="Shape 21"/>
          <p:cNvSpPr/>
          <p:nvPr>
            <p:custDataLst>
              <p:tags r:id="rId26"/>
            </p:custDataLst>
          </p:nvPr>
        </p:nvSpPr>
        <p:spPr>
          <a:xfrm>
            <a:off x="457200" y="3611880"/>
            <a:ext cx="4114800" cy="1143000"/>
          </a:xfrm>
          <a:prstGeom prst="rect">
            <a:avLst/>
          </a:prstGeom>
          <a:solidFill>
            <a:srgbClr val="FFFFFF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8" name="Shape 22"/>
          <p:cNvSpPr/>
          <p:nvPr>
            <p:custDataLst>
              <p:tags r:id="rId27"/>
            </p:custDataLst>
          </p:nvPr>
        </p:nvSpPr>
        <p:spPr>
          <a:xfrm>
            <a:off x="457200" y="3611880"/>
            <a:ext cx="54864" cy="1143000"/>
          </a:xfrm>
          <a:prstGeom prst="rect">
            <a:avLst/>
          </a:prstGeom>
          <a:solidFill>
            <a:srgbClr val="D97706"/>
          </a:solidFill>
        </p:spPr>
      </p:sp>
      <p:sp>
        <p:nvSpPr>
          <p:cNvPr id="29" name="Shape 23"/>
          <p:cNvSpPr/>
          <p:nvPr>
            <p:custDataLst>
              <p:tags r:id="rId28"/>
            </p:custDataLst>
          </p:nvPr>
        </p:nvSpPr>
        <p:spPr>
          <a:xfrm>
            <a:off x="594360" y="3886200"/>
            <a:ext cx="347472" cy="347472"/>
          </a:xfrm>
          <a:prstGeom prst="ellipse">
            <a:avLst/>
          </a:prstGeom>
          <a:solidFill>
            <a:srgbClr val="F0F9FF"/>
          </a:solidFill>
        </p:spPr>
      </p:sp>
      <p:pic>
        <p:nvPicPr>
          <p:cNvPr id="30" name="Image 4" descr="preencoded.png"/>
          <p:cNvPicPr>
            <a:picLocks noChangeAspect="1"/>
          </p:cNvPicPr>
          <p:nvPr>
            <p:custDataLst>
              <p:tags r:id="rId29"/>
            </p:custDataLst>
          </p:nvPr>
        </p:nvPicPr>
        <p:blipFill>
          <a:blip r:embed="rId5"/>
          <a:stretch>
            <a:fillRect/>
          </a:stretch>
        </p:blipFill>
        <p:spPr>
          <a:xfrm>
            <a:off x="646481" y="3938321"/>
            <a:ext cx="243230" cy="243230"/>
          </a:xfrm>
          <a:prstGeom prst="rect">
            <a:avLst/>
          </a:prstGeom>
        </p:spPr>
      </p:pic>
      <p:sp>
        <p:nvSpPr>
          <p:cNvPr id="31" name="Text 24"/>
          <p:cNvSpPr/>
          <p:nvPr>
            <p:custDataLst>
              <p:tags r:id="rId30"/>
            </p:custDataLst>
          </p:nvPr>
        </p:nvSpPr>
        <p:spPr>
          <a:xfrm>
            <a:off x="1051560" y="3794760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RL算法深度对比</a:t>
            </a:r>
            <a:endParaRPr lang="en-US" sz="1400" dirty="0"/>
          </a:p>
        </p:txBody>
      </p:sp>
      <p:sp>
        <p:nvSpPr>
          <p:cNvPr id="32" name="Text 25"/>
          <p:cNvSpPr/>
          <p:nvPr>
            <p:custDataLst>
              <p:tags r:id="rId31"/>
            </p:custDataLst>
          </p:nvPr>
        </p:nvSpPr>
        <p:spPr>
          <a:xfrm>
            <a:off x="1051560" y="4114800"/>
            <a:ext cx="329184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DQN(Double+软更新+经验回放)效果优于表格型Q-Learning(+239奖励, +11.2%), 事故率仅0.39%</a:t>
            </a:r>
            <a:endParaRPr lang="en-US" sz="1000" dirty="0"/>
          </a:p>
        </p:txBody>
      </p:sp>
      <p:sp>
        <p:nvSpPr>
          <p:cNvPr id="33" name="Shape 26"/>
          <p:cNvSpPr/>
          <p:nvPr>
            <p:custDataLst>
              <p:tags r:id="rId32"/>
            </p:custDataLst>
          </p:nvPr>
        </p:nvSpPr>
        <p:spPr>
          <a:xfrm>
            <a:off x="4846320" y="3611880"/>
            <a:ext cx="4114800" cy="1143000"/>
          </a:xfrm>
          <a:prstGeom prst="rect">
            <a:avLst/>
          </a:prstGeom>
          <a:solidFill>
            <a:srgbClr val="FFFFFF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34" name="Shape 27"/>
          <p:cNvSpPr/>
          <p:nvPr>
            <p:custDataLst>
              <p:tags r:id="rId33"/>
            </p:custDataLst>
          </p:nvPr>
        </p:nvSpPr>
        <p:spPr>
          <a:xfrm>
            <a:off x="4846320" y="3611880"/>
            <a:ext cx="54864" cy="1143000"/>
          </a:xfrm>
          <a:prstGeom prst="rect">
            <a:avLst/>
          </a:prstGeom>
          <a:solidFill>
            <a:srgbClr val="065A82"/>
          </a:solidFill>
        </p:spPr>
      </p:sp>
      <p:sp>
        <p:nvSpPr>
          <p:cNvPr id="35" name="Shape 28"/>
          <p:cNvSpPr/>
          <p:nvPr>
            <p:custDataLst>
              <p:tags r:id="rId34"/>
            </p:custDataLst>
          </p:nvPr>
        </p:nvSpPr>
        <p:spPr>
          <a:xfrm>
            <a:off x="4983480" y="3886200"/>
            <a:ext cx="347472" cy="347472"/>
          </a:xfrm>
          <a:prstGeom prst="ellipse">
            <a:avLst/>
          </a:prstGeom>
          <a:solidFill>
            <a:srgbClr val="F0F9FF"/>
          </a:solidFill>
        </p:spPr>
      </p:sp>
      <p:pic>
        <p:nvPicPr>
          <p:cNvPr id="36" name="Image 5" descr="preencoded.png"/>
          <p:cNvPicPr>
            <a:picLocks noChangeAspect="1"/>
          </p:cNvPicPr>
          <p:nvPr>
            <p:custDataLst>
              <p:tags r:id="rId35"/>
            </p:custDataLst>
          </p:nvPr>
        </p:nvPicPr>
        <p:blipFill>
          <a:blip r:embed="rId5"/>
          <a:stretch>
            <a:fillRect/>
          </a:stretch>
        </p:blipFill>
        <p:spPr>
          <a:xfrm>
            <a:off x="5035601" y="3938321"/>
            <a:ext cx="243230" cy="243230"/>
          </a:xfrm>
          <a:prstGeom prst="rect">
            <a:avLst/>
          </a:prstGeom>
        </p:spPr>
      </p:pic>
      <p:sp>
        <p:nvSpPr>
          <p:cNvPr id="37" name="Text 29"/>
          <p:cNvSpPr/>
          <p:nvPr>
            <p:custDataLst>
              <p:tags r:id="rId36"/>
            </p:custDataLst>
          </p:nvPr>
        </p:nvSpPr>
        <p:spPr>
          <a:xfrm>
            <a:off x="5440680" y="3794760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交互式可视化平台</a:t>
            </a:r>
            <a:endParaRPr lang="en-US" sz="1400" dirty="0"/>
          </a:p>
        </p:txBody>
      </p:sp>
      <p:sp>
        <p:nvSpPr>
          <p:cNvPr id="38" name="Text 30"/>
          <p:cNvSpPr/>
          <p:nvPr>
            <p:custDataLst>
              <p:tags r:id="rId37"/>
            </p:custDataLst>
          </p:nvPr>
        </p:nvSpPr>
        <p:spPr>
          <a:xfrm>
            <a:off x="5440680" y="4114800"/>
            <a:ext cx="329184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Vue 3 + ECharts大屏 · Flask REST API · Ollama LLM本地智能问答 · CSV上传在线预测 · 数据导入导出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B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3657600"/>
            <a:ext cx="4572000" cy="4572000"/>
          </a:xfrm>
          <a:prstGeom prst="ellipse">
            <a:avLst/>
          </a:prstGeom>
          <a:solidFill>
            <a:srgbClr val="065A82">
              <a:alpha val="30000"/>
            </a:srgbClr>
          </a:solidFill>
        </p:spPr>
      </p:sp>
      <p:sp>
        <p:nvSpPr>
          <p:cNvPr id="3" name="Text 1"/>
          <p:cNvSpPr/>
          <p:nvPr/>
        </p:nvSpPr>
        <p:spPr>
          <a:xfrm>
            <a:off x="548640" y="274320"/>
            <a:ext cx="73152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后续方向</a:t>
            </a:r>
            <a:endParaRPr lang="en-US" sz="3000" dirty="0"/>
          </a:p>
        </p:txBody>
      </p:sp>
      <p:sp>
        <p:nvSpPr>
          <p:cNvPr id="4" name="Shape 2"/>
          <p:cNvSpPr/>
          <p:nvPr>
            <p:custDataLst>
              <p:tags r:id="rId1"/>
            </p:custDataLst>
          </p:nvPr>
        </p:nvSpPr>
        <p:spPr>
          <a:xfrm>
            <a:off x="457200" y="1051560"/>
            <a:ext cx="4114800" cy="1188720"/>
          </a:xfrm>
          <a:prstGeom prst="rect">
            <a:avLst/>
          </a:prstGeom>
          <a:solidFill>
            <a:srgbClr val="FFFFFF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>
            <p:custDataLst>
              <p:tags r:id="rId2"/>
            </p:custDataLst>
          </p:nvPr>
        </p:nvSpPr>
        <p:spPr>
          <a:xfrm>
            <a:off x="457200" y="1051560"/>
            <a:ext cx="54864" cy="1188720"/>
          </a:xfrm>
          <a:prstGeom prst="rect">
            <a:avLst/>
          </a:prstGeom>
          <a:solidFill>
            <a:srgbClr val="7C3AED"/>
          </a:solidFill>
        </p:spPr>
      </p:sp>
      <p:sp>
        <p:nvSpPr>
          <p:cNvPr id="6" name="Shape 4"/>
          <p:cNvSpPr/>
          <p:nvPr>
            <p:custDataLst>
              <p:tags r:id="rId3"/>
            </p:custDataLst>
          </p:nvPr>
        </p:nvSpPr>
        <p:spPr>
          <a:xfrm>
            <a:off x="594360" y="1325880"/>
            <a:ext cx="347472" cy="347472"/>
          </a:xfrm>
          <a:prstGeom prst="ellipse">
            <a:avLst/>
          </a:prstGeom>
          <a:solidFill>
            <a:srgbClr val="F0F9FF"/>
          </a:solidFill>
        </p:spPr>
      </p:sp>
      <p:pic>
        <p:nvPicPr>
          <p:cNvPr id="7" name="Image 0" descr="preencoded.png"/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5"/>
          <a:stretch>
            <a:fillRect/>
          </a:stretch>
        </p:blipFill>
        <p:spPr>
          <a:xfrm>
            <a:off x="646481" y="1378001"/>
            <a:ext cx="243230" cy="243230"/>
          </a:xfrm>
          <a:prstGeom prst="rect">
            <a:avLst/>
          </a:prstGeom>
        </p:spPr>
      </p:pic>
      <p:sp>
        <p:nvSpPr>
          <p:cNvPr id="8" name="Text 5"/>
          <p:cNvSpPr/>
          <p:nvPr>
            <p:custDataLst>
              <p:tags r:id="rId6"/>
            </p:custDataLst>
          </p:nvPr>
        </p:nvSpPr>
        <p:spPr>
          <a:xfrm>
            <a:off x="1051560" y="1234440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更先进的RL算法</a:t>
            </a:r>
            <a:endParaRPr lang="en-US" sz="1400" dirty="0"/>
          </a:p>
        </p:txBody>
      </p:sp>
      <p:sp>
        <p:nvSpPr>
          <p:cNvPr id="9" name="Text 6"/>
          <p:cNvSpPr/>
          <p:nvPr>
            <p:custDataLst>
              <p:tags r:id="rId7"/>
            </p:custDataLst>
          </p:nvPr>
        </p:nvSpPr>
        <p:spPr>
          <a:xfrm>
            <a:off x="1051560" y="1554480"/>
            <a:ext cx="329184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引入 PPO / SAC 替代 DQN，探索 Actor-Critic 架构在风电调度中的表现</a:t>
            </a:r>
            <a:endParaRPr lang="en-US" sz="1000" dirty="0"/>
          </a:p>
        </p:txBody>
      </p:sp>
      <p:sp>
        <p:nvSpPr>
          <p:cNvPr id="10" name="Shape 7"/>
          <p:cNvSpPr/>
          <p:nvPr>
            <p:custDataLst>
              <p:tags r:id="rId8"/>
            </p:custDataLst>
          </p:nvPr>
        </p:nvSpPr>
        <p:spPr>
          <a:xfrm>
            <a:off x="4846320" y="1051560"/>
            <a:ext cx="4114800" cy="1188720"/>
          </a:xfrm>
          <a:prstGeom prst="rect">
            <a:avLst/>
          </a:prstGeom>
          <a:solidFill>
            <a:srgbClr val="FFFFFF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1" name="Shape 8"/>
          <p:cNvSpPr/>
          <p:nvPr>
            <p:custDataLst>
              <p:tags r:id="rId9"/>
            </p:custDataLst>
          </p:nvPr>
        </p:nvSpPr>
        <p:spPr>
          <a:xfrm>
            <a:off x="4846320" y="1051560"/>
            <a:ext cx="54864" cy="118872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12" name="Shape 9"/>
          <p:cNvSpPr/>
          <p:nvPr>
            <p:custDataLst>
              <p:tags r:id="rId10"/>
            </p:custDataLst>
          </p:nvPr>
        </p:nvSpPr>
        <p:spPr>
          <a:xfrm>
            <a:off x="4983480" y="1325880"/>
            <a:ext cx="347472" cy="347472"/>
          </a:xfrm>
          <a:prstGeom prst="ellipse">
            <a:avLst/>
          </a:prstGeom>
          <a:solidFill>
            <a:srgbClr val="F0F9FF"/>
          </a:solidFill>
        </p:spPr>
      </p:sp>
      <p:pic>
        <p:nvPicPr>
          <p:cNvPr id="13" name="Image 1" descr="preencoded.png"/>
          <p:cNvPicPr>
            <a:picLocks noChangeAspect="1"/>
          </p:cNvPicPr>
          <p:nvPr>
            <p:custDataLst>
              <p:tags r:id="rId11"/>
            </p:custDataLst>
          </p:nvPr>
        </p:nvPicPr>
        <p:blipFill>
          <a:blip r:embed="rId12"/>
          <a:stretch>
            <a:fillRect/>
          </a:stretch>
        </p:blipFill>
        <p:spPr>
          <a:xfrm>
            <a:off x="5035601" y="1378001"/>
            <a:ext cx="243230" cy="243230"/>
          </a:xfrm>
          <a:prstGeom prst="rect">
            <a:avLst/>
          </a:prstGeom>
        </p:spPr>
      </p:pic>
      <p:sp>
        <p:nvSpPr>
          <p:cNvPr id="14" name="Text 10"/>
          <p:cNvSpPr/>
          <p:nvPr>
            <p:custDataLst>
              <p:tags r:id="rId13"/>
            </p:custDataLst>
          </p:nvPr>
        </p:nvSpPr>
        <p:spPr>
          <a:xfrm>
            <a:off x="5440680" y="1234440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NWP 数值天气预报</a:t>
            </a:r>
            <a:endParaRPr lang="en-US" sz="1400" dirty="0"/>
          </a:p>
        </p:txBody>
      </p:sp>
      <p:sp>
        <p:nvSpPr>
          <p:cNvPr id="15" name="Text 11"/>
          <p:cNvSpPr/>
          <p:nvPr>
            <p:custDataLst>
              <p:tags r:id="rId14"/>
            </p:custDataLst>
          </p:nvPr>
        </p:nvSpPr>
        <p:spPr>
          <a:xfrm>
            <a:off x="5440680" y="1554480"/>
            <a:ext cx="329184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融合气象数值模式数据，提升中长期（24-72h）功率预测精度</a:t>
            </a:r>
            <a:endParaRPr lang="en-US" sz="1000" dirty="0"/>
          </a:p>
        </p:txBody>
      </p:sp>
      <p:sp>
        <p:nvSpPr>
          <p:cNvPr id="16" name="Shape 12"/>
          <p:cNvSpPr/>
          <p:nvPr>
            <p:custDataLst>
              <p:tags r:id="rId15"/>
            </p:custDataLst>
          </p:nvPr>
        </p:nvSpPr>
        <p:spPr>
          <a:xfrm>
            <a:off x="457200" y="2423160"/>
            <a:ext cx="4114800" cy="1188720"/>
          </a:xfrm>
          <a:prstGeom prst="rect">
            <a:avLst/>
          </a:prstGeom>
          <a:solidFill>
            <a:srgbClr val="FFFFFF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7" name="Shape 13"/>
          <p:cNvSpPr/>
          <p:nvPr>
            <p:custDataLst>
              <p:tags r:id="rId16"/>
            </p:custDataLst>
          </p:nvPr>
        </p:nvSpPr>
        <p:spPr>
          <a:xfrm>
            <a:off x="457200" y="2423160"/>
            <a:ext cx="54864" cy="1188720"/>
          </a:xfrm>
          <a:prstGeom prst="rect">
            <a:avLst/>
          </a:prstGeom>
          <a:solidFill>
            <a:srgbClr val="1C7293"/>
          </a:solidFill>
        </p:spPr>
      </p:sp>
      <p:sp>
        <p:nvSpPr>
          <p:cNvPr id="18" name="Shape 14"/>
          <p:cNvSpPr/>
          <p:nvPr>
            <p:custDataLst>
              <p:tags r:id="rId17"/>
            </p:custDataLst>
          </p:nvPr>
        </p:nvSpPr>
        <p:spPr>
          <a:xfrm>
            <a:off x="594360" y="2697480"/>
            <a:ext cx="347472" cy="347472"/>
          </a:xfrm>
          <a:prstGeom prst="ellipse">
            <a:avLst/>
          </a:prstGeom>
          <a:solidFill>
            <a:srgbClr val="F0F9FF"/>
          </a:solidFill>
        </p:spPr>
      </p:sp>
      <p:pic>
        <p:nvPicPr>
          <p:cNvPr id="19" name="Image 2" descr="preencoded.png"/>
          <p:cNvPicPr>
            <a:picLocks noChangeAspect="1"/>
          </p:cNvPicPr>
          <p:nvPr>
            <p:custDataLst>
              <p:tags r:id="rId18"/>
            </p:custDataLst>
          </p:nvPr>
        </p:nvPicPr>
        <p:blipFill>
          <a:blip r:embed="rId19"/>
          <a:stretch>
            <a:fillRect/>
          </a:stretch>
        </p:blipFill>
        <p:spPr>
          <a:xfrm>
            <a:off x="646481" y="2749601"/>
            <a:ext cx="243230" cy="243230"/>
          </a:xfrm>
          <a:prstGeom prst="rect">
            <a:avLst/>
          </a:prstGeom>
        </p:spPr>
      </p:pic>
      <p:sp>
        <p:nvSpPr>
          <p:cNvPr id="20" name="Text 15"/>
          <p:cNvSpPr/>
          <p:nvPr>
            <p:custDataLst>
              <p:tags r:id="rId20"/>
            </p:custDataLst>
          </p:nvPr>
        </p:nvSpPr>
        <p:spPr>
          <a:xfrm>
            <a:off x="1051560" y="2606040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多风场协同调度</a:t>
            </a:r>
            <a:endParaRPr lang="en-US" sz="1400" dirty="0"/>
          </a:p>
        </p:txBody>
      </p:sp>
      <p:sp>
        <p:nvSpPr>
          <p:cNvPr id="21" name="Text 16"/>
          <p:cNvSpPr/>
          <p:nvPr>
            <p:custDataLst>
              <p:tags r:id="rId21"/>
            </p:custDataLst>
          </p:nvPr>
        </p:nvSpPr>
        <p:spPr>
          <a:xfrm>
            <a:off x="1051560" y="2926080"/>
            <a:ext cx="329184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考虑尾流效应与电网拓扑约束，实现区域级风电场群联合优化</a:t>
            </a:r>
            <a:endParaRPr lang="en-US" sz="1000" dirty="0"/>
          </a:p>
        </p:txBody>
      </p:sp>
      <p:sp>
        <p:nvSpPr>
          <p:cNvPr id="22" name="Shape 17"/>
          <p:cNvSpPr/>
          <p:nvPr>
            <p:custDataLst>
              <p:tags r:id="rId22"/>
            </p:custDataLst>
          </p:nvPr>
        </p:nvSpPr>
        <p:spPr>
          <a:xfrm>
            <a:off x="4846320" y="2423160"/>
            <a:ext cx="4114800" cy="1188720"/>
          </a:xfrm>
          <a:prstGeom prst="rect">
            <a:avLst/>
          </a:prstGeom>
          <a:solidFill>
            <a:srgbClr val="FFFFFF"/>
          </a:solidFill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3" name="Shape 18"/>
          <p:cNvSpPr/>
          <p:nvPr>
            <p:custDataLst>
              <p:tags r:id="rId23"/>
            </p:custDataLst>
          </p:nvPr>
        </p:nvSpPr>
        <p:spPr>
          <a:xfrm>
            <a:off x="4846320" y="2423160"/>
            <a:ext cx="54864" cy="1188720"/>
          </a:xfrm>
          <a:prstGeom prst="rect">
            <a:avLst/>
          </a:prstGeom>
          <a:solidFill>
            <a:srgbClr val="059669"/>
          </a:solidFill>
        </p:spPr>
      </p:sp>
      <p:sp>
        <p:nvSpPr>
          <p:cNvPr id="24" name="Shape 19"/>
          <p:cNvSpPr/>
          <p:nvPr>
            <p:custDataLst>
              <p:tags r:id="rId24"/>
            </p:custDataLst>
          </p:nvPr>
        </p:nvSpPr>
        <p:spPr>
          <a:xfrm>
            <a:off x="4983480" y="2697480"/>
            <a:ext cx="347472" cy="347472"/>
          </a:xfrm>
          <a:prstGeom prst="ellipse">
            <a:avLst/>
          </a:prstGeom>
          <a:solidFill>
            <a:srgbClr val="F0F9FF"/>
          </a:solidFill>
        </p:spPr>
      </p:sp>
      <p:pic>
        <p:nvPicPr>
          <p:cNvPr id="25" name="Image 3" descr="preencoded.png"/>
          <p:cNvPicPr>
            <a:picLocks noChangeAspect="1"/>
          </p:cNvPicPr>
          <p:nvPr>
            <p:custDataLst>
              <p:tags r:id="rId25"/>
            </p:custDataLst>
          </p:nvPr>
        </p:nvPicPr>
        <p:blipFill>
          <a:blip r:embed="rId26"/>
          <a:stretch>
            <a:fillRect/>
          </a:stretch>
        </p:blipFill>
        <p:spPr>
          <a:xfrm>
            <a:off x="5035601" y="2749601"/>
            <a:ext cx="243230" cy="243230"/>
          </a:xfrm>
          <a:prstGeom prst="rect">
            <a:avLst/>
          </a:prstGeom>
        </p:spPr>
      </p:pic>
      <p:sp>
        <p:nvSpPr>
          <p:cNvPr id="26" name="Text 20"/>
          <p:cNvSpPr/>
          <p:nvPr>
            <p:custDataLst>
              <p:tags r:id="rId27"/>
            </p:custDataLst>
          </p:nvPr>
        </p:nvSpPr>
        <p:spPr>
          <a:xfrm>
            <a:off x="5440680" y="2606040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模型持续学习</a:t>
            </a:r>
            <a:endParaRPr lang="en-US" sz="1400" dirty="0"/>
          </a:p>
        </p:txBody>
      </p:sp>
      <p:sp>
        <p:nvSpPr>
          <p:cNvPr id="27" name="Text 21"/>
          <p:cNvSpPr/>
          <p:nvPr>
            <p:custDataLst>
              <p:tags r:id="rId28"/>
            </p:custDataLst>
          </p:nvPr>
        </p:nvSpPr>
        <p:spPr>
          <a:xfrm>
            <a:off x="5440680" y="2926080"/>
            <a:ext cx="329184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新数据到达时在线增量更新，避免全量重训，适应季节性风况变化</a:t>
            </a:r>
            <a:endParaRPr lang="en-US" sz="1000" dirty="0"/>
          </a:p>
        </p:txBody>
      </p:sp>
      <p:sp>
        <p:nvSpPr>
          <p:cNvPr id="28" name="Shape 22"/>
          <p:cNvSpPr/>
          <p:nvPr/>
        </p:nvSpPr>
        <p:spPr>
          <a:xfrm>
            <a:off x="1828800" y="3931920"/>
            <a:ext cx="5486400" cy="13716"/>
          </a:xfrm>
          <a:prstGeom prst="rect">
            <a:avLst/>
          </a:prstGeom>
          <a:solidFill>
            <a:srgbClr val="14B8A6">
              <a:alpha val="40000"/>
            </a:srgbClr>
          </a:solidFill>
        </p:spPr>
      </p:sp>
      <p:sp>
        <p:nvSpPr>
          <p:cNvPr id="29" name="Text 23"/>
          <p:cNvSpPr/>
          <p:nvPr/>
        </p:nvSpPr>
        <p:spPr>
          <a:xfrm>
            <a:off x="0" y="4069080"/>
            <a:ext cx="91440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感谢各位评委老师批评指正！</a:t>
            </a:r>
            <a:endParaRPr lang="en-US" sz="2800" dirty="0"/>
          </a:p>
        </p:txBody>
      </p:sp>
      <p:sp>
        <p:nvSpPr>
          <p:cNvPr id="30" name="Text 24"/>
          <p:cNvSpPr/>
          <p:nvPr/>
        </p:nvSpPr>
        <p:spPr>
          <a:xfrm>
            <a:off x="0" y="46177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EEA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海上风电历史数据分析与多算法智能体系统</a:t>
            </a:r>
            <a:endParaRPr lang="en-US" sz="1100" dirty="0"/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277.2,&quot;left&quot;:36,&quot;top&quot;:93.6,&quot;width&quot;:345.6}"/>
</p:tagLst>
</file>

<file path=ppt/tags/tag2.xml><?xml version="1.0" encoding="utf-8"?>
<p:tagLst xmlns:p="http://schemas.openxmlformats.org/presentationml/2006/main">
  <p:tag name="KSO_WM_DIAGRAM_VIRTUALLY_FRAME" val="{&quot;height&quot;:277.2,&quot;left&quot;:36,&quot;top&quot;:93.6,&quot;width&quot;:345.6}"/>
</p:tagLst>
</file>

<file path=ppt/tags/tag3.xml><?xml version="1.0" encoding="utf-8"?>
<p:tagLst xmlns:p="http://schemas.openxmlformats.org/presentationml/2006/main">
  <p:tag name="KSO_WM_DIAGRAM_VIRTUALLY_FRAME" val="{&quot;height&quot;:277.2,&quot;left&quot;:36,&quot;top&quot;:93.6,&quot;width&quot;:345.6}"/>
</p:tagLst>
</file>

<file path=ppt/tags/tag4.xml><?xml version="1.0" encoding="utf-8"?>
<p:tagLst xmlns:p="http://schemas.openxmlformats.org/presentationml/2006/main">
  <p:tag name="KSO_WM_DIAGRAM_VIRTUALLY_FRAME" val="{&quot;height&quot;:277.2,&quot;left&quot;:36,&quot;top&quot;:93.6,&quot;width&quot;:345.6}"/>
</p:tagLst>
</file>

<file path=ppt/tags/tag5.xml><?xml version="1.0" encoding="utf-8"?>
<p:tagLst xmlns:p="http://schemas.openxmlformats.org/presentationml/2006/main">
  <p:tag name="KSO_WM_DIAGRAM_VIRTUALLY_FRAME" val="{&quot;height&quot;:277.2,&quot;left&quot;:36,&quot;top&quot;:93.6,&quot;width&quot;:345.6}"/>
</p:tagLst>
</file>

<file path=ppt/tags/tag6.xml><?xml version="1.0" encoding="utf-8"?>
<p:tagLst xmlns:p="http://schemas.openxmlformats.org/presentationml/2006/main">
  <p:tag name="KSO_WM_DIAGRAM_VIRTUALLY_FRAME" val="{&quot;height&quot;:277.2,&quot;left&quot;:36,&quot;top&quot;:93.6,&quot;width&quot;:345.6}"/>
</p:tagLst>
</file>

<file path=ppt/tags/tag7.xml><?xml version="1.0" encoding="utf-8"?>
<p:tagLst xmlns:p="http://schemas.openxmlformats.org/presentationml/2006/main">
  <p:tag name="KSO_WM_DIAGRAM_VIRTUALLY_FRAME" val="{&quot;height&quot;:277.2,&quot;left&quot;:36,&quot;top&quot;:93.6,&quot;width&quot;:345.6}"/>
</p:tagLst>
</file>

<file path=ppt/tags/tag8.xml><?xml version="1.0" encoding="utf-8"?>
<p:tagLst xmlns:p="http://schemas.openxmlformats.org/presentationml/2006/main">
  <p:tag name="KSO_WM_DIAGRAM_VIRTUALLY_FRAME" val="{&quot;height&quot;:277.2,&quot;left&quot;:36,&quot;top&quot;:93.6,&quot;width&quot;:345.6}"/>
</p:tagLst>
</file>

<file path=ppt/tags/tag9.xml><?xml version="1.0" encoding="utf-8"?>
<p:tagLst xmlns:p="http://schemas.openxmlformats.org/presentationml/2006/main">
  <p:tag name="KSO_WM_DIAGRAM_VIRTUALLY_FRAME" val="{&quot;height&quot;:277.2,&quot;left&quot;:36,&quot;top&quot;:93.6,&quot;width&quot;:345.6}"/>
</p:tagLst>
</file>

<file path=ppt/tags/tag10.xml><?xml version="1.0" encoding="utf-8"?>
<p:tagLst xmlns:p="http://schemas.openxmlformats.org/presentationml/2006/main">
  <p:tag name="KSO_WM_DIAGRAM_VIRTUALLY_FRAME" val="{&quot;height&quot;:277.2,&quot;left&quot;:36,&quot;top&quot;:93.6,&quot;width&quot;:345.6}"/>
</p:tagLst>
</file>

<file path=ppt/tags/tag11.xml><?xml version="1.0" encoding="utf-8"?>
<p:tagLst xmlns:p="http://schemas.openxmlformats.org/presentationml/2006/main">
  <p:tag name="KSO_WM_DIAGRAM_VIRTUALLY_FRAME" val="{&quot;height&quot;:277.2,&quot;left&quot;:36,&quot;top&quot;:93.6,&quot;width&quot;:345.6}"/>
</p:tagLst>
</file>

<file path=ppt/tags/tag12.xml><?xml version="1.0" encoding="utf-8"?>
<p:tagLst xmlns:p="http://schemas.openxmlformats.org/presentationml/2006/main">
  <p:tag name="KSO_WM_DIAGRAM_VIRTUALLY_FRAME" val="{&quot;height&quot;:277.2,&quot;left&quot;:36,&quot;top&quot;:93.6,&quot;width&quot;:345.6}"/>
</p:tagLst>
</file>

<file path=ppt/tags/tag13.xml><?xml version="1.0" encoding="utf-8"?>
<p:tagLst xmlns:p="http://schemas.openxmlformats.org/presentationml/2006/main">
  <p:tag name="KSO_WM_DIAGRAM_VIRTUALLY_FRAME" val="{&quot;height&quot;:277.2,&quot;left&quot;:36,&quot;top&quot;:93.6,&quot;width&quot;:345.6}"/>
</p:tagLst>
</file>

<file path=ppt/tags/tag14.xml><?xml version="1.0" encoding="utf-8"?>
<p:tagLst xmlns:p="http://schemas.openxmlformats.org/presentationml/2006/main">
  <p:tag name="KSO_WM_DIAGRAM_VIRTUALLY_FRAME" val="{&quot;height&quot;:277.2,&quot;left&quot;:36,&quot;top&quot;:93.6,&quot;width&quot;:345.6}"/>
</p:tagLst>
</file>

<file path=ppt/tags/tag15.xml><?xml version="1.0" encoding="utf-8"?>
<p:tagLst xmlns:p="http://schemas.openxmlformats.org/presentationml/2006/main">
  <p:tag name="KSO_WM_DIAGRAM_VIRTUALLY_FRAME" val="{&quot;height&quot;:277.2,&quot;left&quot;:36,&quot;top&quot;:93.6,&quot;width&quot;:345.6}"/>
</p:tagLst>
</file>

<file path=ppt/tags/tag16.xml><?xml version="1.0" encoding="utf-8"?>
<p:tagLst xmlns:p="http://schemas.openxmlformats.org/presentationml/2006/main">
  <p:tag name="KSO_WM_DIAGRAM_VIRTUALLY_FRAME" val="{&quot;height&quot;:277.2,&quot;left&quot;:36,&quot;top&quot;:93.6,&quot;width&quot;:345.6}"/>
</p:tagLst>
</file>

<file path=ppt/tags/tag17.xml><?xml version="1.0" encoding="utf-8"?>
<p:tagLst xmlns:p="http://schemas.openxmlformats.org/presentationml/2006/main">
  <p:tag name="KSO_WM_DIAGRAM_VIRTUALLY_FRAME" val="{&quot;height&quot;:277.2,&quot;left&quot;:36,&quot;top&quot;:93.6,&quot;width&quot;:345.6}"/>
</p:tagLst>
</file>

<file path=ppt/tags/tag18.xml><?xml version="1.0" encoding="utf-8"?>
<p:tagLst xmlns:p="http://schemas.openxmlformats.org/presentationml/2006/main">
  <p:tag name="KSO_WM_DIAGRAM_VIRTUALLY_FRAME" val="{&quot;height&quot;:277.2,&quot;left&quot;:36,&quot;top&quot;:93.6,&quot;width&quot;:345.6}"/>
</p:tagLst>
</file>

<file path=ppt/tags/tag19.xml><?xml version="1.0" encoding="utf-8"?>
<p:tagLst xmlns:p="http://schemas.openxmlformats.org/presentationml/2006/main">
  <p:tag name="KSO_WM_DIAGRAM_VIRTUALLY_FRAME" val="{&quot;height&quot;:284.4,&quot;left&quot;:36,&quot;top&quot;:90,&quot;width&quot;:669.6}"/>
</p:tagLst>
</file>

<file path=ppt/tags/tag20.xml><?xml version="1.0" encoding="utf-8"?>
<p:tagLst xmlns:p="http://schemas.openxmlformats.org/presentationml/2006/main">
  <p:tag name="KSO_WM_DIAGRAM_VIRTUALLY_FRAME" val="{&quot;height&quot;:284.4,&quot;left&quot;:36,&quot;top&quot;:90,&quot;width&quot;:669.6}"/>
</p:tagLst>
</file>

<file path=ppt/tags/tag21.xml><?xml version="1.0" encoding="utf-8"?>
<p:tagLst xmlns:p="http://schemas.openxmlformats.org/presentationml/2006/main">
  <p:tag name="KSO_WM_DIAGRAM_VIRTUALLY_FRAME" val="{&quot;height&quot;:284.4,&quot;left&quot;:36,&quot;top&quot;:90,&quot;width&quot;:669.6}"/>
</p:tagLst>
</file>

<file path=ppt/tags/tag22.xml><?xml version="1.0" encoding="utf-8"?>
<p:tagLst xmlns:p="http://schemas.openxmlformats.org/presentationml/2006/main">
  <p:tag name="KSO_WM_DIAGRAM_VIRTUALLY_FRAME" val="{&quot;height&quot;:284.4,&quot;left&quot;:36,&quot;top&quot;:90,&quot;width&quot;:669.6}"/>
</p:tagLst>
</file>

<file path=ppt/tags/tag23.xml><?xml version="1.0" encoding="utf-8"?>
<p:tagLst xmlns:p="http://schemas.openxmlformats.org/presentationml/2006/main">
  <p:tag name="KSO_WM_DIAGRAM_VIRTUALLY_FRAME" val="{&quot;height&quot;:284.4,&quot;left&quot;:36,&quot;top&quot;:90,&quot;width&quot;:669.6}"/>
</p:tagLst>
</file>

<file path=ppt/tags/tag24.xml><?xml version="1.0" encoding="utf-8"?>
<p:tagLst xmlns:p="http://schemas.openxmlformats.org/presentationml/2006/main">
  <p:tag name="KSO_WM_DIAGRAM_VIRTUALLY_FRAME" val="{&quot;height&quot;:284.4,&quot;left&quot;:36,&quot;top&quot;:90,&quot;width&quot;:669.6}"/>
</p:tagLst>
</file>

<file path=ppt/tags/tag25.xml><?xml version="1.0" encoding="utf-8"?>
<p:tagLst xmlns:p="http://schemas.openxmlformats.org/presentationml/2006/main">
  <p:tag name="KSO_WM_DIAGRAM_VIRTUALLY_FRAME" val="{&quot;height&quot;:284.4,&quot;left&quot;:36,&quot;top&quot;:90,&quot;width&quot;:669.6}"/>
</p:tagLst>
</file>

<file path=ppt/tags/tag26.xml><?xml version="1.0" encoding="utf-8"?>
<p:tagLst xmlns:p="http://schemas.openxmlformats.org/presentationml/2006/main">
  <p:tag name="KSO_WM_DIAGRAM_VIRTUALLY_FRAME" val="{&quot;height&quot;:284.4,&quot;left&quot;:36,&quot;top&quot;:90,&quot;width&quot;:669.6}"/>
</p:tagLst>
</file>

<file path=ppt/tags/tag27.xml><?xml version="1.0" encoding="utf-8"?>
<p:tagLst xmlns:p="http://schemas.openxmlformats.org/presentationml/2006/main">
  <p:tag name="KSO_WM_DIAGRAM_VIRTUALLY_FRAME" val="{&quot;height&quot;:172.8,&quot;left&quot;:28.8,&quot;top&quot;:86.4,&quot;width&quot;:662.4}"/>
</p:tagLst>
</file>

<file path=ppt/tags/tag28.xml><?xml version="1.0" encoding="utf-8"?>
<p:tagLst xmlns:p="http://schemas.openxmlformats.org/presentationml/2006/main">
  <p:tag name="KSO_WM_DIAGRAM_VIRTUALLY_FRAME" val="{&quot;height&quot;:172.8,&quot;left&quot;:28.8,&quot;top&quot;:86.4,&quot;width&quot;:662.4}"/>
</p:tagLst>
</file>

<file path=ppt/tags/tag29.xml><?xml version="1.0" encoding="utf-8"?>
<p:tagLst xmlns:p="http://schemas.openxmlformats.org/presentationml/2006/main">
  <p:tag name="KSO_WM_DIAGRAM_VIRTUALLY_FRAME" val="{&quot;height&quot;:172.8,&quot;left&quot;:28.8,&quot;top&quot;:86.4,&quot;width&quot;:662.4}"/>
</p:tagLst>
</file>

<file path=ppt/tags/tag30.xml><?xml version="1.0" encoding="utf-8"?>
<p:tagLst xmlns:p="http://schemas.openxmlformats.org/presentationml/2006/main">
  <p:tag name="KSO_WM_DIAGRAM_VIRTUALLY_FRAME" val="{&quot;height&quot;:172.8,&quot;left&quot;:28.8,&quot;top&quot;:86.4,&quot;width&quot;:662.4}"/>
</p:tagLst>
</file>

<file path=ppt/tags/tag31.xml><?xml version="1.0" encoding="utf-8"?>
<p:tagLst xmlns:p="http://schemas.openxmlformats.org/presentationml/2006/main">
  <p:tag name="KSO_WM_DIAGRAM_VIRTUALLY_FRAME" val="{&quot;height&quot;:172.8,&quot;left&quot;:28.8,&quot;top&quot;:86.4,&quot;width&quot;:662.4}"/>
</p:tagLst>
</file>

<file path=ppt/tags/tag32.xml><?xml version="1.0" encoding="utf-8"?>
<p:tagLst xmlns:p="http://schemas.openxmlformats.org/presentationml/2006/main">
  <p:tag name="KSO_WM_DIAGRAM_VIRTUALLY_FRAME" val="{&quot;height&quot;:172.8,&quot;left&quot;:28.8,&quot;top&quot;:86.4,&quot;width&quot;:662.4}"/>
</p:tagLst>
</file>

<file path=ppt/tags/tag33.xml><?xml version="1.0" encoding="utf-8"?>
<p:tagLst xmlns:p="http://schemas.openxmlformats.org/presentationml/2006/main">
  <p:tag name="KSO_WM_DIAGRAM_VIRTUALLY_FRAME" val="{&quot;height&quot;:172.8,&quot;left&quot;:28.8,&quot;top&quot;:86.4,&quot;width&quot;:662.4}"/>
</p:tagLst>
</file>

<file path=ppt/tags/tag34.xml><?xml version="1.0" encoding="utf-8"?>
<p:tagLst xmlns:p="http://schemas.openxmlformats.org/presentationml/2006/main">
  <p:tag name="KSO_WM_DIAGRAM_VIRTUALLY_FRAME" val="{&quot;height&quot;:172.8,&quot;left&quot;:28.8,&quot;top&quot;:86.4,&quot;width&quot;:662.4}"/>
</p:tagLst>
</file>

<file path=ppt/tags/tag35.xml><?xml version="1.0" encoding="utf-8"?>
<p:tagLst xmlns:p="http://schemas.openxmlformats.org/presentationml/2006/main">
  <p:tag name="KSO_WM_DIAGRAM_VIRTUALLY_FRAME" val="{&quot;height&quot;:172.8,&quot;left&quot;:28.8,&quot;top&quot;:86.4,&quot;width&quot;:662.4}"/>
</p:tagLst>
</file>

<file path=ppt/tags/tag36.xml><?xml version="1.0" encoding="utf-8"?>
<p:tagLst xmlns:p="http://schemas.openxmlformats.org/presentationml/2006/main">
  <p:tag name="KSO_WM_DIAGRAM_VIRTUALLY_FRAME" val="{&quot;height&quot;:172.8,&quot;left&quot;:28.8,&quot;top&quot;:86.4,&quot;width&quot;:662.4}"/>
</p:tagLst>
</file>

<file path=ppt/tags/tag37.xml><?xml version="1.0" encoding="utf-8"?>
<p:tagLst xmlns:p="http://schemas.openxmlformats.org/presentationml/2006/main">
  <p:tag name="KSO_WM_DIAGRAM_VIRTUALLY_FRAME" val="{&quot;height&quot;:172.8,&quot;left&quot;:28.8,&quot;top&quot;:86.4,&quot;width&quot;:662.4}"/>
</p:tagLst>
</file>

<file path=ppt/tags/tag38.xml><?xml version="1.0" encoding="utf-8"?>
<p:tagLst xmlns:p="http://schemas.openxmlformats.org/presentationml/2006/main">
  <p:tag name="KSO_WM_DIAGRAM_VIRTUALLY_FRAME" val="{&quot;height&quot;:172.8,&quot;left&quot;:28.8,&quot;top&quot;:86.4,&quot;width&quot;:662.4}"/>
</p:tagLst>
</file>

<file path=ppt/tags/tag39.xml><?xml version="1.0" encoding="utf-8"?>
<p:tagLst xmlns:p="http://schemas.openxmlformats.org/presentationml/2006/main">
  <p:tag name="KSO_WM_DIAGRAM_VIRTUALLY_FRAME" val="{&quot;height&quot;:172.8,&quot;left&quot;:28.8,&quot;top&quot;:86.4,&quot;width&quot;:662.4}"/>
</p:tagLst>
</file>

<file path=ppt/tags/tag40.xml><?xml version="1.0" encoding="utf-8"?>
<p:tagLst xmlns:p="http://schemas.openxmlformats.org/presentationml/2006/main">
  <p:tag name="KSO_WM_DIAGRAM_VIRTUALLY_FRAME" val="{&quot;height&quot;:172.8,&quot;left&quot;:28.8,&quot;top&quot;:86.4,&quot;width&quot;:662.4}"/>
</p:tagLst>
</file>

<file path=ppt/tags/tag41.xml><?xml version="1.0" encoding="utf-8"?>
<p:tagLst xmlns:p="http://schemas.openxmlformats.org/presentationml/2006/main">
  <p:tag name="KSO_WM_DIAGRAM_VIRTUALLY_FRAME" val="{&quot;height&quot;:172.8,&quot;left&quot;:28.8,&quot;top&quot;:86.4,&quot;width&quot;:662.4}"/>
</p:tagLst>
</file>

<file path=ppt/tags/tag42.xml><?xml version="1.0" encoding="utf-8"?>
<p:tagLst xmlns:p="http://schemas.openxmlformats.org/presentationml/2006/main">
  <p:tag name="KSO_WM_DIAGRAM_VIRTUALLY_FRAME" val="{&quot;height&quot;:172.8,&quot;left&quot;:28.8,&quot;top&quot;:86.4,&quot;width&quot;:662.4}"/>
</p:tagLst>
</file>

<file path=ppt/tags/tag43.xml><?xml version="1.0" encoding="utf-8"?>
<p:tagLst xmlns:p="http://schemas.openxmlformats.org/presentationml/2006/main">
  <p:tag name="KSO_WM_DIAGRAM_VIRTUALLY_FRAME" val="{&quot;height&quot;:172.8,&quot;left&quot;:28.8,&quot;top&quot;:86.4,&quot;width&quot;:662.4}"/>
</p:tagLst>
</file>

<file path=ppt/tags/tag44.xml><?xml version="1.0" encoding="utf-8"?>
<p:tagLst xmlns:p="http://schemas.openxmlformats.org/presentationml/2006/main">
  <p:tag name="KSO_WM_DIAGRAM_VIRTUALLY_FRAME" val="{&quot;height&quot;:172.8,&quot;left&quot;:28.8,&quot;top&quot;:86.4,&quot;width&quot;:662.4}"/>
</p:tagLst>
</file>

<file path=ppt/tags/tag45.xml><?xml version="1.0" encoding="utf-8"?>
<p:tagLst xmlns:p="http://schemas.openxmlformats.org/presentationml/2006/main">
  <p:tag name="KSO_WM_DIAGRAM_VIRTUALLY_FRAME" val="{&quot;height&quot;:172.8,&quot;left&quot;:28.8,&quot;top&quot;:86.4,&quot;width&quot;:662.4}"/>
</p:tagLst>
</file>

<file path=ppt/tags/tag46.xml><?xml version="1.0" encoding="utf-8"?>
<p:tagLst xmlns:p="http://schemas.openxmlformats.org/presentationml/2006/main">
  <p:tag name="KSO_WM_DIAGRAM_VIRTUALLY_FRAME" val="{&quot;height&quot;:172.8,&quot;left&quot;:28.8,&quot;top&quot;:86.4,&quot;width&quot;:662.4}"/>
</p:tagLst>
</file>

<file path=ppt/tags/tag47.xml><?xml version="1.0" encoding="utf-8"?>
<p:tagLst xmlns:p="http://schemas.openxmlformats.org/presentationml/2006/main">
  <p:tag name="KSO_WM_DIAGRAM_VIRTUALLY_FRAME" val="{&quot;height&quot;:172.8,&quot;left&quot;:28.8,&quot;top&quot;:86.4,&quot;width&quot;:662.4}"/>
</p:tagLst>
</file>

<file path=ppt/tags/tag48.xml><?xml version="1.0" encoding="utf-8"?>
<p:tagLst xmlns:p="http://schemas.openxmlformats.org/presentationml/2006/main">
  <p:tag name="KSO_WM_DIAGRAM_VIRTUALLY_FRAME" val="{&quot;height&quot;:172.8,&quot;left&quot;:28.8,&quot;top&quot;:86.4,&quot;width&quot;:662.4}"/>
</p:tagLst>
</file>

<file path=ppt/tags/tag49.xml><?xml version="1.0" encoding="utf-8"?>
<p:tagLst xmlns:p="http://schemas.openxmlformats.org/presentationml/2006/main">
  <p:tag name="KSO_WM_DIAGRAM_VIRTUALLY_FRAME" val="{&quot;height&quot;:172.8,&quot;left&quot;:28.8,&quot;top&quot;:86.4,&quot;width&quot;:662.4}"/>
</p:tagLst>
</file>

<file path=ppt/tags/tag50.xml><?xml version="1.0" encoding="utf-8"?>
<p:tagLst xmlns:p="http://schemas.openxmlformats.org/presentationml/2006/main">
  <p:tag name="KSO_WM_DIAGRAM_VIRTUALLY_FRAME" val="{&quot;height&quot;:172.8,&quot;left&quot;:28.8,&quot;top&quot;:86.4,&quot;width&quot;:662.4}"/>
</p:tagLst>
</file>

<file path=ppt/tags/tag51.xml><?xml version="1.0" encoding="utf-8"?>
<p:tagLst xmlns:p="http://schemas.openxmlformats.org/presentationml/2006/main">
  <p:tag name="KSO_WM_DIAGRAM_VIRTUALLY_FRAME" val="{&quot;height&quot;:172.8,&quot;left&quot;:28.8,&quot;top&quot;:86.4,&quot;width&quot;:662.4}"/>
</p:tagLst>
</file>

<file path=ppt/tags/tag52.xml><?xml version="1.0" encoding="utf-8"?>
<p:tagLst xmlns:p="http://schemas.openxmlformats.org/presentationml/2006/main">
  <p:tag name="KSO_WM_DIAGRAM_VIRTUALLY_FRAME" val="{&quot;height&quot;:172.8,&quot;left&quot;:28.8,&quot;top&quot;:86.4,&quot;width&quot;:662.4}"/>
</p:tagLst>
</file>

<file path=ppt/tags/tag53.xml><?xml version="1.0" encoding="utf-8"?>
<p:tagLst xmlns:p="http://schemas.openxmlformats.org/presentationml/2006/main">
  <p:tag name="KSO_WM_DIAGRAM_VIRTUALLY_FRAME" val="{&quot;height&quot;:172.8,&quot;left&quot;:28.8,&quot;top&quot;:86.4,&quot;width&quot;:662.4}"/>
</p:tagLst>
</file>

<file path=ppt/tags/tag54.xml><?xml version="1.0" encoding="utf-8"?>
<p:tagLst xmlns:p="http://schemas.openxmlformats.org/presentationml/2006/main">
  <p:tag name="KSO_WM_DIAGRAM_VIRTUALLY_FRAME" val="{&quot;height&quot;:172.8,&quot;left&quot;:28.8,&quot;top&quot;:86.4,&quot;width&quot;:662.4}"/>
</p:tagLst>
</file>

<file path=ppt/tags/tag55.xml><?xml version="1.0" encoding="utf-8"?>
<p:tagLst xmlns:p="http://schemas.openxmlformats.org/presentationml/2006/main">
  <p:tag name="KSO_WM_DIAGRAM_VIRTUALLY_FRAME" val="{&quot;height&quot;:309.6,&quot;left&quot;:22.6,&quot;top&quot;:82.8,&quot;width&quot;:731.35}"/>
</p:tagLst>
</file>

<file path=ppt/tags/tag56.xml><?xml version="1.0" encoding="utf-8"?>
<p:tagLst xmlns:p="http://schemas.openxmlformats.org/presentationml/2006/main">
  <p:tag name="KSO_WM_DIAGRAM_VIRTUALLY_FRAME" val="{&quot;height&quot;:309.6,&quot;left&quot;:22.6,&quot;top&quot;:82.8,&quot;width&quot;:731.35}"/>
</p:tagLst>
</file>

<file path=ppt/tags/tag57.xml><?xml version="1.0" encoding="utf-8"?>
<p:tagLst xmlns:p="http://schemas.openxmlformats.org/presentationml/2006/main">
  <p:tag name="KSO_WM_DIAGRAM_VIRTUALLY_FRAME" val="{&quot;height&quot;:309.6,&quot;left&quot;:22.6,&quot;top&quot;:82.8,&quot;width&quot;:731.35}"/>
</p:tagLst>
</file>

<file path=ppt/tags/tag58.xml><?xml version="1.0" encoding="utf-8"?>
<p:tagLst xmlns:p="http://schemas.openxmlformats.org/presentationml/2006/main">
  <p:tag name="KSO_WM_DIAGRAM_VIRTUALLY_FRAME" val="{&quot;height&quot;:309.6,&quot;left&quot;:22.6,&quot;top&quot;:82.8,&quot;width&quot;:731.35}"/>
</p:tagLst>
</file>

<file path=ppt/tags/tag59.xml><?xml version="1.0" encoding="utf-8"?>
<p:tagLst xmlns:p="http://schemas.openxmlformats.org/presentationml/2006/main">
  <p:tag name="KSO_WM_DIAGRAM_VIRTUALLY_FRAME" val="{&quot;height&quot;:309.6,&quot;left&quot;:22.6,&quot;top&quot;:82.8,&quot;width&quot;:731.35}"/>
</p:tagLst>
</file>

<file path=ppt/tags/tag60.xml><?xml version="1.0" encoding="utf-8"?>
<p:tagLst xmlns:p="http://schemas.openxmlformats.org/presentationml/2006/main">
  <p:tag name="KSO_WM_DIAGRAM_VIRTUALLY_FRAME" val="{&quot;height&quot;:309.6,&quot;left&quot;:22.6,&quot;top&quot;:82.8,&quot;width&quot;:731.35}"/>
</p:tagLst>
</file>

<file path=ppt/tags/tag61.xml><?xml version="1.0" encoding="utf-8"?>
<p:tagLst xmlns:p="http://schemas.openxmlformats.org/presentationml/2006/main">
  <p:tag name="KSO_WM_DIAGRAM_VIRTUALLY_FRAME" val="{&quot;height&quot;:309.6,&quot;left&quot;:22.6,&quot;top&quot;:82.8,&quot;width&quot;:731.35}"/>
</p:tagLst>
</file>

<file path=ppt/tags/tag62.xml><?xml version="1.0" encoding="utf-8"?>
<p:tagLst xmlns:p="http://schemas.openxmlformats.org/presentationml/2006/main">
  <p:tag name="KSO_WM_DIAGRAM_VIRTUALLY_FRAME" val="{&quot;height&quot;:309.6,&quot;left&quot;:22.6,&quot;top&quot;:82.8,&quot;width&quot;:731.35}"/>
</p:tagLst>
</file>

<file path=ppt/tags/tag63.xml><?xml version="1.0" encoding="utf-8"?>
<p:tagLst xmlns:p="http://schemas.openxmlformats.org/presentationml/2006/main">
  <p:tag name="KSO_WM_DIAGRAM_VIRTUALLY_FRAME" val="{&quot;height&quot;:309.6,&quot;left&quot;:22.6,&quot;top&quot;:82.8,&quot;width&quot;:731.35}"/>
</p:tagLst>
</file>

<file path=ppt/tags/tag64.xml><?xml version="1.0" encoding="utf-8"?>
<p:tagLst xmlns:p="http://schemas.openxmlformats.org/presentationml/2006/main">
  <p:tag name="KSO_WM_DIAGRAM_VIRTUALLY_FRAME" val="{&quot;height&quot;:309.6,&quot;left&quot;:22.6,&quot;top&quot;:82.8,&quot;width&quot;:731.35}"/>
</p:tagLst>
</file>

<file path=ppt/tags/tag65.xml><?xml version="1.0" encoding="utf-8"?>
<p:tagLst xmlns:p="http://schemas.openxmlformats.org/presentationml/2006/main">
  <p:tag name="KSO_WM_DIAGRAM_VIRTUALLY_FRAME" val="{&quot;height&quot;:309.6,&quot;left&quot;:22.6,&quot;top&quot;:82.8,&quot;width&quot;:731.35}"/>
</p:tagLst>
</file>

<file path=ppt/tags/tag66.xml><?xml version="1.0" encoding="utf-8"?>
<p:tagLst xmlns:p="http://schemas.openxmlformats.org/presentationml/2006/main">
  <p:tag name="KSO_WM_DIAGRAM_VIRTUALLY_FRAME" val="{&quot;height&quot;:309.6,&quot;left&quot;:22.6,&quot;top&quot;:82.8,&quot;width&quot;:731.35}"/>
</p:tagLst>
</file>

<file path=ppt/tags/tag67.xml><?xml version="1.0" encoding="utf-8"?>
<p:tagLst xmlns:p="http://schemas.openxmlformats.org/presentationml/2006/main">
  <p:tag name="KSO_WM_DIAGRAM_VIRTUALLY_FRAME" val="{&quot;height&quot;:309.6,&quot;left&quot;:22.6,&quot;top&quot;:82.8,&quot;width&quot;:731.35}"/>
</p:tagLst>
</file>

<file path=ppt/tags/tag68.xml><?xml version="1.0" encoding="utf-8"?>
<p:tagLst xmlns:p="http://schemas.openxmlformats.org/presentationml/2006/main">
  <p:tag name="KSO_WM_DIAGRAM_VIRTUALLY_FRAME" val="{&quot;height&quot;:309.6,&quot;left&quot;:22.6,&quot;top&quot;:82.8,&quot;width&quot;:731.35}"/>
</p:tagLst>
</file>

<file path=ppt/tags/tag69.xml><?xml version="1.0" encoding="utf-8"?>
<p:tagLst xmlns:p="http://schemas.openxmlformats.org/presentationml/2006/main">
  <p:tag name="KSO_WM_DIAGRAM_VIRTUALLY_FRAME" val="{&quot;height&quot;:309.6,&quot;left&quot;:22.6,&quot;top&quot;:82.8,&quot;width&quot;:731.35}"/>
</p:tagLst>
</file>

<file path=ppt/tags/tag70.xml><?xml version="1.0" encoding="utf-8"?>
<p:tagLst xmlns:p="http://schemas.openxmlformats.org/presentationml/2006/main">
  <p:tag name="KSO_WM_DIAGRAM_VIRTUALLY_FRAME" val="{&quot;height&quot;:309.6,&quot;left&quot;:22.6,&quot;top&quot;:82.8,&quot;width&quot;:731.35}"/>
</p:tagLst>
</file>

<file path=ppt/tags/tag71.xml><?xml version="1.0" encoding="utf-8"?>
<p:tagLst xmlns:p="http://schemas.openxmlformats.org/presentationml/2006/main">
  <p:tag name="KSO_WM_DIAGRAM_VIRTUALLY_FRAME" val="{&quot;height&quot;:309.6,&quot;left&quot;:22.6,&quot;top&quot;:82.8,&quot;width&quot;:731.35}"/>
</p:tagLst>
</file>

<file path=ppt/tags/tag72.xml><?xml version="1.0" encoding="utf-8"?>
<p:tagLst xmlns:p="http://schemas.openxmlformats.org/presentationml/2006/main">
  <p:tag name="KSO_WM_DIAGRAM_VIRTUALLY_FRAME" val="{&quot;height&quot;:309.6,&quot;left&quot;:36,&quot;top&quot;:82.8,&quot;width&quot;:648}"/>
</p:tagLst>
</file>

<file path=ppt/tags/tag73.xml><?xml version="1.0" encoding="utf-8"?>
<p:tagLst xmlns:p="http://schemas.openxmlformats.org/presentationml/2006/main">
  <p:tag name="KSO_WM_DIAGRAM_VIRTUALLY_FRAME" val="{&quot;height&quot;:309.6,&quot;left&quot;:36,&quot;top&quot;:82.8,&quot;width&quot;:648}"/>
</p:tagLst>
</file>

<file path=ppt/tags/tag74.xml><?xml version="1.0" encoding="utf-8"?>
<p:tagLst xmlns:p="http://schemas.openxmlformats.org/presentationml/2006/main">
  <p:tag name="KSO_WM_DIAGRAM_VIRTUALLY_FRAME" val="{&quot;height&quot;:309.6,&quot;left&quot;:36,&quot;top&quot;:82.8,&quot;width&quot;:648}"/>
</p:tagLst>
</file>

<file path=ppt/tags/tag75.xml><?xml version="1.0" encoding="utf-8"?>
<p:tagLst xmlns:p="http://schemas.openxmlformats.org/presentationml/2006/main">
  <p:tag name="KSO_WM_DIAGRAM_VIRTUALLY_FRAME" val="{&quot;height&quot;:309.6,&quot;left&quot;:36,&quot;top&quot;:82.8,&quot;width&quot;:648}"/>
</p:tagLst>
</file>

<file path=ppt/tags/tag76.xml><?xml version="1.0" encoding="utf-8"?>
<p:tagLst xmlns:p="http://schemas.openxmlformats.org/presentationml/2006/main">
  <p:tag name="KSO_WM_DIAGRAM_VIRTUALLY_FRAME" val="{&quot;height&quot;:309.6,&quot;left&quot;:36,&quot;top&quot;:82.8,&quot;width&quot;:648}"/>
</p:tagLst>
</file>

<file path=ppt/tags/tag77.xml><?xml version="1.0" encoding="utf-8"?>
<p:tagLst xmlns:p="http://schemas.openxmlformats.org/presentationml/2006/main">
  <p:tag name="KSO_WM_DIAGRAM_VIRTUALLY_FRAME" val="{&quot;height&quot;:309.6,&quot;left&quot;:36,&quot;top&quot;:82.8,&quot;width&quot;:648}"/>
</p:tagLst>
</file>

<file path=ppt/tags/tag78.xml><?xml version="1.0" encoding="utf-8"?>
<p:tagLst xmlns:p="http://schemas.openxmlformats.org/presentationml/2006/main">
  <p:tag name="KSO_WM_DIAGRAM_VIRTUALLY_FRAME" val="{&quot;height&quot;:309.6,&quot;left&quot;:36,&quot;top&quot;:82.8,&quot;width&quot;:648}"/>
</p:tagLst>
</file>

<file path=ppt/tags/tag79.xml><?xml version="1.0" encoding="utf-8"?>
<p:tagLst xmlns:p="http://schemas.openxmlformats.org/presentationml/2006/main">
  <p:tag name="KSO_WM_DIAGRAM_VIRTUALLY_FRAME" val="{&quot;height&quot;:309.6,&quot;left&quot;:36,&quot;top&quot;:82.8,&quot;width&quot;:648}"/>
</p:tagLst>
</file>

<file path=ppt/tags/tag80.xml><?xml version="1.0" encoding="utf-8"?>
<p:tagLst xmlns:p="http://schemas.openxmlformats.org/presentationml/2006/main">
  <p:tag name="KSO_WM_DIAGRAM_VIRTUALLY_FRAME" val="{&quot;height&quot;:309.6,&quot;left&quot;:36,&quot;top&quot;:82.8,&quot;width&quot;:648}"/>
</p:tagLst>
</file>

<file path=ppt/tags/tag81.xml><?xml version="1.0" encoding="utf-8"?>
<p:tagLst xmlns:p="http://schemas.openxmlformats.org/presentationml/2006/main">
  <p:tag name="KSO_WM_DIAGRAM_VIRTUALLY_FRAME" val="{&quot;height&quot;:309.6,&quot;left&quot;:36,&quot;top&quot;:82.8,&quot;width&quot;:648}"/>
</p:tagLst>
</file>

<file path=ppt/tags/tag82.xml><?xml version="1.0" encoding="utf-8"?>
<p:tagLst xmlns:p="http://schemas.openxmlformats.org/presentationml/2006/main">
  <p:tag name="KSO_WM_DIAGRAM_VIRTUALLY_FRAME" val="{&quot;height&quot;:309.6,&quot;left&quot;:36,&quot;top&quot;:82.8,&quot;width&quot;:648}"/>
</p:tagLst>
</file>

<file path=ppt/tags/tag83.xml><?xml version="1.0" encoding="utf-8"?>
<p:tagLst xmlns:p="http://schemas.openxmlformats.org/presentationml/2006/main">
  <p:tag name="KSO_WM_DIAGRAM_VIRTUALLY_FRAME" val="{&quot;height&quot;:309.6,&quot;left&quot;:36,&quot;top&quot;:82.8,&quot;width&quot;:648}"/>
</p:tagLst>
</file>

<file path=ppt/tags/tag84.xml><?xml version="1.0" encoding="utf-8"?>
<p:tagLst xmlns:p="http://schemas.openxmlformats.org/presentationml/2006/main">
  <p:tag name="KSO_WM_DIAGRAM_VIRTUALLY_FRAME" val="{&quot;height&quot;:309.6,&quot;left&quot;:36,&quot;top&quot;:82.8,&quot;width&quot;:648}"/>
</p:tagLst>
</file>

<file path=ppt/tags/tag85.xml><?xml version="1.0" encoding="utf-8"?>
<p:tagLst xmlns:p="http://schemas.openxmlformats.org/presentationml/2006/main">
  <p:tag name="KSO_WM_DIAGRAM_VIRTUALLY_FRAME" val="{&quot;height&quot;:309.6,&quot;left&quot;:36,&quot;top&quot;:82.8,&quot;width&quot;:648}"/>
</p:tagLst>
</file>

<file path=ppt/tags/tag86.xml><?xml version="1.0" encoding="utf-8"?>
<p:tagLst xmlns:p="http://schemas.openxmlformats.org/presentationml/2006/main">
  <p:tag name="KSO_WM_DIAGRAM_VIRTUALLY_FRAME" val="{&quot;height&quot;:309.6,&quot;left&quot;:36,&quot;top&quot;:82.8,&quot;width&quot;:648}"/>
</p:tagLst>
</file>

<file path=ppt/tags/tag87.xml><?xml version="1.0" encoding="utf-8"?>
<p:tagLst xmlns:p="http://schemas.openxmlformats.org/presentationml/2006/main">
  <p:tag name="KSO_WM_DIAGRAM_VIRTUALLY_FRAME" val="{&quot;height&quot;:309.6,&quot;left&quot;:36,&quot;top&quot;:82.8,&quot;width&quot;:648}"/>
</p:tagLst>
</file>

<file path=ppt/tags/tag88.xml><?xml version="1.0" encoding="utf-8"?>
<p:tagLst xmlns:p="http://schemas.openxmlformats.org/presentationml/2006/main">
  <p:tag name="KSO_WM_DIAGRAM_VIRTUALLY_FRAME" val="{&quot;height&quot;:291.6,&quot;left&quot;:36,&quot;top&quot;:82.8,&quot;width&quot;:669.6}"/>
</p:tagLst>
</file>

<file path=ppt/tags/tag89.xml><?xml version="1.0" encoding="utf-8"?>
<p:tagLst xmlns:p="http://schemas.openxmlformats.org/presentationml/2006/main">
  <p:tag name="KSO_WM_DIAGRAM_VIRTUALLY_FRAME" val="{&quot;height&quot;:291.6,&quot;left&quot;:36,&quot;top&quot;:82.8,&quot;width&quot;:669.6}"/>
</p:tagLst>
</file>

<file path=ppt/tags/tag90.xml><?xml version="1.0" encoding="utf-8"?>
<p:tagLst xmlns:p="http://schemas.openxmlformats.org/presentationml/2006/main">
  <p:tag name="KSO_WM_DIAGRAM_VIRTUALLY_FRAME" val="{&quot;height&quot;:291.6,&quot;left&quot;:36,&quot;top&quot;:82.8,&quot;width&quot;:669.6}"/>
</p:tagLst>
</file>

<file path=ppt/tags/tag91.xml><?xml version="1.0" encoding="utf-8"?>
<p:tagLst xmlns:p="http://schemas.openxmlformats.org/presentationml/2006/main">
  <p:tag name="KSO_WM_DIAGRAM_VIRTUALLY_FRAME" val="{&quot;height&quot;:291.6,&quot;left&quot;:36,&quot;top&quot;:82.8,&quot;width&quot;:669.6}"/>
</p:tagLst>
</file>

<file path=ppt/tags/tag92.xml><?xml version="1.0" encoding="utf-8"?>
<p:tagLst xmlns:p="http://schemas.openxmlformats.org/presentationml/2006/main">
  <p:tag name="KSO_WM_DIAGRAM_VIRTUALLY_FRAME" val="{&quot;height&quot;:291.6,&quot;left&quot;:36,&quot;top&quot;:82.8,&quot;width&quot;:669.6}"/>
</p:tagLst>
</file>

<file path=ppt/tags/tag93.xml><?xml version="1.0" encoding="utf-8"?>
<p:tagLst xmlns:p="http://schemas.openxmlformats.org/presentationml/2006/main">
  <p:tag name="KSO_WM_DIAGRAM_VIRTUALLY_FRAME" val="{&quot;height&quot;:291.6,&quot;left&quot;:36,&quot;top&quot;:82.8,&quot;width&quot;:669.6}"/>
</p:tagLst>
</file>

<file path=ppt/tags/tag94.xml><?xml version="1.0" encoding="utf-8"?>
<p:tagLst xmlns:p="http://schemas.openxmlformats.org/presentationml/2006/main">
  <p:tag name="KSO_WM_DIAGRAM_VIRTUALLY_FRAME" val="{&quot;height&quot;:291.6,&quot;left&quot;:36,&quot;top&quot;:82.8,&quot;width&quot;:669.6}"/>
</p:tagLst>
</file>

<file path=ppt/tags/tag95.xml><?xml version="1.0" encoding="utf-8"?>
<p:tagLst xmlns:p="http://schemas.openxmlformats.org/presentationml/2006/main">
  <p:tag name="KSO_WM_DIAGRAM_VIRTUALLY_FRAME" val="{&quot;height&quot;:291.6,&quot;left&quot;:36,&quot;top&quot;:82.8,&quot;width&quot;:669.6}"/>
</p:tagLst>
</file>

<file path=ppt/tags/tag96.xml><?xml version="1.0" encoding="utf-8"?>
<p:tagLst xmlns:p="http://schemas.openxmlformats.org/presentationml/2006/main">
  <p:tag name="KSO_WM_DIAGRAM_VIRTUALLY_FRAME" val="{&quot;height&quot;:291.6,&quot;left&quot;:36,&quot;top&quot;:82.8,&quot;width&quot;:669.6}"/>
</p:tagLst>
</file>

<file path=ppt/tags/tag97.xml><?xml version="1.0" encoding="utf-8"?>
<p:tagLst xmlns:p="http://schemas.openxmlformats.org/presentationml/2006/main">
  <p:tag name="KSO_WM_DIAGRAM_VIRTUALLY_FRAME" val="{&quot;height&quot;:291.6,&quot;left&quot;:36,&quot;top&quot;:82.8,&quot;width&quot;:669.6}"/>
</p:tagLst>
</file>

<file path=ppt/tags/tag98.xml><?xml version="1.0" encoding="utf-8"?>
<p:tagLst xmlns:p="http://schemas.openxmlformats.org/presentationml/2006/main">
  <p:tag name="KSO_WM_DIAGRAM_VIRTUALLY_FRAME" val="{&quot;height&quot;:291.6,&quot;left&quot;:36,&quot;top&quot;:82.8,&quot;width&quot;:669.6}"/>
</p:tagLst>
</file>

<file path=ppt/tags/tag99.xml><?xml version="1.0" encoding="utf-8"?>
<p:tagLst xmlns:p="http://schemas.openxmlformats.org/presentationml/2006/main">
  <p:tag name="KSO_WM_DIAGRAM_VIRTUALLY_FRAME" val="{&quot;height&quot;:291.6,&quot;left&quot;:36,&quot;top&quot;:82.8,&quot;width&quot;:669.6}"/>
</p:tagLst>
</file>

<file path=ppt/tags/tag100.xml><?xml version="1.0" encoding="utf-8"?>
<p:tagLst xmlns:p="http://schemas.openxmlformats.org/presentationml/2006/main">
  <p:tag name="KSO_WM_DIAGRAM_VIRTUALLY_FRAME" val="{&quot;height&quot;:291.6,&quot;left&quot;:36,&quot;top&quot;:82.8,&quot;width&quot;:669.6}"/>
</p:tagLst>
</file>

<file path=ppt/tags/tag101.xml><?xml version="1.0" encoding="utf-8"?>
<p:tagLst xmlns:p="http://schemas.openxmlformats.org/presentationml/2006/main">
  <p:tag name="KSO_WM_DIAGRAM_VIRTUALLY_FRAME" val="{&quot;height&quot;:291.6,&quot;left&quot;:36,&quot;top&quot;:82.8,&quot;width&quot;:669.6}"/>
</p:tagLst>
</file>

<file path=ppt/tags/tag102.xml><?xml version="1.0" encoding="utf-8"?>
<p:tagLst xmlns:p="http://schemas.openxmlformats.org/presentationml/2006/main">
  <p:tag name="KSO_WM_DIAGRAM_VIRTUALLY_FRAME" val="{&quot;height&quot;:291.6,&quot;left&quot;:36,&quot;top&quot;:82.8,&quot;width&quot;:669.6}"/>
</p:tagLst>
</file>

<file path=ppt/tags/tag103.xml><?xml version="1.0" encoding="utf-8"?>
<p:tagLst xmlns:p="http://schemas.openxmlformats.org/presentationml/2006/main">
  <p:tag name="KSO_WM_DIAGRAM_VIRTUALLY_FRAME" val="{&quot;height&quot;:291.6,&quot;left&quot;:36,&quot;top&quot;:82.8,&quot;width&quot;:669.6}"/>
</p:tagLst>
</file>

<file path=ppt/tags/tag104.xml><?xml version="1.0" encoding="utf-8"?>
<p:tagLst xmlns:p="http://schemas.openxmlformats.org/presentationml/2006/main">
  <p:tag name="KSO_WM_DIAGRAM_VIRTUALLY_FRAME" val="{&quot;height&quot;:291.6,&quot;left&quot;:36,&quot;top&quot;:82.8,&quot;width&quot;:669.6}"/>
</p:tagLst>
</file>

<file path=ppt/tags/tag105.xml><?xml version="1.0" encoding="utf-8"?>
<p:tagLst xmlns:p="http://schemas.openxmlformats.org/presentationml/2006/main">
  <p:tag name="KSO_WM_DIAGRAM_VIRTUALLY_FRAME" val="{&quot;height&quot;:291.6,&quot;left&quot;:36,&quot;top&quot;:82.8,&quot;width&quot;:669.6}"/>
</p:tagLst>
</file>

<file path=ppt/tags/tag106.xml><?xml version="1.0" encoding="utf-8"?>
<p:tagLst xmlns:p="http://schemas.openxmlformats.org/presentationml/2006/main">
  <p:tag name="KSO_WM_DIAGRAM_VIRTUALLY_FRAME" val="{&quot;height&quot;:291.6,&quot;left&quot;:36,&quot;top&quot;:82.8,&quot;width&quot;:669.6}"/>
</p:tagLst>
</file>

<file path=ppt/tags/tag107.xml><?xml version="1.0" encoding="utf-8"?>
<p:tagLst xmlns:p="http://schemas.openxmlformats.org/presentationml/2006/main">
  <p:tag name="KSO_WM_DIAGRAM_VIRTUALLY_FRAME" val="{&quot;height&quot;:291.6,&quot;left&quot;:36,&quot;top&quot;:82.8,&quot;width&quot;:669.6}"/>
</p:tagLst>
</file>

<file path=ppt/tags/tag108.xml><?xml version="1.0" encoding="utf-8"?>
<p:tagLst xmlns:p="http://schemas.openxmlformats.org/presentationml/2006/main">
  <p:tag name="KSO_WM_DIAGRAM_VIRTUALLY_FRAME" val="{&quot;height&quot;:291.6,&quot;left&quot;:36,&quot;top&quot;:82.8,&quot;width&quot;:669.6}"/>
</p:tagLst>
</file>

<file path=ppt/tags/tag109.xml><?xml version="1.0" encoding="utf-8"?>
<p:tagLst xmlns:p="http://schemas.openxmlformats.org/presentationml/2006/main">
  <p:tag name="KSO_WM_DIAGRAM_VIRTUALLY_FRAME" val="{&quot;height&quot;:291.6,&quot;left&quot;:36,&quot;top&quot;:82.8,&quot;width&quot;:669.6}"/>
</p:tagLst>
</file>

<file path=ppt/tags/tag110.xml><?xml version="1.0" encoding="utf-8"?>
<p:tagLst xmlns:p="http://schemas.openxmlformats.org/presentationml/2006/main">
  <p:tag name="KSO_WM_DIAGRAM_VIRTUALLY_FRAME" val="{&quot;height&quot;:291.6,&quot;left&quot;:36,&quot;top&quot;:82.8,&quot;width&quot;:669.6}"/>
</p:tagLst>
</file>

<file path=ppt/tags/tag111.xml><?xml version="1.0" encoding="utf-8"?>
<p:tagLst xmlns:p="http://schemas.openxmlformats.org/presentationml/2006/main">
  <p:tag name="KSO_WM_DIAGRAM_VIRTUALLY_FRAME" val="{&quot;height&quot;:291.6,&quot;left&quot;:36,&quot;top&quot;:82.8,&quot;width&quot;:669.6}"/>
</p:tagLst>
</file>

<file path=ppt/tags/tag112.xml><?xml version="1.0" encoding="utf-8"?>
<p:tagLst xmlns:p="http://schemas.openxmlformats.org/presentationml/2006/main">
  <p:tag name="KSO_WM_DIAGRAM_VIRTUALLY_FRAME" val="{&quot;height&quot;:291.6,&quot;left&quot;:36,&quot;top&quot;:82.8,&quot;width&quot;:669.6}"/>
</p:tagLst>
</file>

<file path=ppt/tags/tag113.xml><?xml version="1.0" encoding="utf-8"?>
<p:tagLst xmlns:p="http://schemas.openxmlformats.org/presentationml/2006/main">
  <p:tag name="KSO_WM_DIAGRAM_VIRTUALLY_FRAME" val="{&quot;height&quot;:291.6,&quot;left&quot;:36,&quot;top&quot;:82.8,&quot;width&quot;:669.6}"/>
</p:tagLst>
</file>

<file path=ppt/tags/tag114.xml><?xml version="1.0" encoding="utf-8"?>
<p:tagLst xmlns:p="http://schemas.openxmlformats.org/presentationml/2006/main">
  <p:tag name="KSO_WM_DIAGRAM_VIRTUALLY_FRAME" val="{&quot;height&quot;:291.6,&quot;left&quot;:36,&quot;top&quot;:82.8,&quot;width&quot;:669.6}"/>
</p:tagLst>
</file>

<file path=ppt/tags/tag115.xml><?xml version="1.0" encoding="utf-8"?>
<p:tagLst xmlns:p="http://schemas.openxmlformats.org/presentationml/2006/main">
  <p:tag name="KSO_WM_DIAGRAM_VIRTUALLY_FRAME" val="{&quot;height&quot;:291.6,&quot;left&quot;:36,&quot;top&quot;:82.8,&quot;width&quot;:669.6}"/>
</p:tagLst>
</file>

<file path=ppt/tags/tag116.xml><?xml version="1.0" encoding="utf-8"?>
<p:tagLst xmlns:p="http://schemas.openxmlformats.org/presentationml/2006/main">
  <p:tag name="KSO_WM_DIAGRAM_VIRTUALLY_FRAME" val="{&quot;height&quot;:291.6,&quot;left&quot;:36,&quot;top&quot;:82.8,&quot;width&quot;:669.6}"/>
</p:tagLst>
</file>

<file path=ppt/tags/tag117.xml><?xml version="1.0" encoding="utf-8"?>
<p:tagLst xmlns:p="http://schemas.openxmlformats.org/presentationml/2006/main">
  <p:tag name="KSO_WM_DIAGRAM_VIRTUALLY_FRAME" val="{&quot;height&quot;:291.6,&quot;left&quot;:36,&quot;top&quot;:82.8,&quot;width&quot;:669.6}"/>
</p:tagLst>
</file>

<file path=ppt/tags/tag118.xml><?xml version="1.0" encoding="utf-8"?>
<p:tagLst xmlns:p="http://schemas.openxmlformats.org/presentationml/2006/main">
  <p:tag name="KSO_WM_DIAGRAM_VIRTUALLY_FRAME" val="{&quot;height&quot;:291.6,&quot;left&quot;:36,&quot;top&quot;:82.8,&quot;width&quot;:669.6}"/>
</p:tagLst>
</file>

<file path=ppt/tags/tag119.xml><?xml version="1.0" encoding="utf-8"?>
<p:tagLst xmlns:p="http://schemas.openxmlformats.org/presentationml/2006/main">
  <p:tag name="KSO_WM_DIAGRAM_VIRTUALLY_FRAME" val="{&quot;height&quot;:291.6,&quot;left&quot;:36,&quot;top&quot;:82.8,&quot;width&quot;:669.6}"/>
</p:tagLst>
</file>

<file path=ppt/tags/tag120.xml><?xml version="1.0" encoding="utf-8"?>
<p:tagLst xmlns:p="http://schemas.openxmlformats.org/presentationml/2006/main">
  <p:tag name="KSO_WM_DIAGRAM_VIRTUALLY_FRAME" val="{&quot;height&quot;:291.6,&quot;left&quot;:36,&quot;top&quot;:82.8,&quot;width&quot;:669.6}"/>
</p:tagLst>
</file>

<file path=ppt/tags/tag121.xml><?xml version="1.0" encoding="utf-8"?>
<p:tagLst xmlns:p="http://schemas.openxmlformats.org/presentationml/2006/main">
  <p:tag name="KSO_WM_DIAGRAM_VIRTUALLY_FRAME" val="{&quot;height&quot;:291.6,&quot;left&quot;:36,&quot;top&quot;:82.8,&quot;width&quot;:669.6}"/>
</p:tagLst>
</file>

<file path=ppt/tags/tag122.xml><?xml version="1.0" encoding="utf-8"?>
<p:tagLst xmlns:p="http://schemas.openxmlformats.org/presentationml/2006/main">
  <p:tag name="KSO_WM_DIAGRAM_VIRTUALLY_FRAME" val="{&quot;height&quot;:291.6,&quot;left&quot;:36,&quot;top&quot;:82.8,&quot;width&quot;:669.6}"/>
</p:tagLst>
</file>

<file path=ppt/tags/tag123.xml><?xml version="1.0" encoding="utf-8"?>
<p:tagLst xmlns:p="http://schemas.openxmlformats.org/presentationml/2006/main">
  <p:tag name="KSO_WM_DIAGRAM_VIRTUALLY_FRAME" val="{&quot;height&quot;:291.6,&quot;left&quot;:36,&quot;top&quot;:82.8,&quot;width&quot;:669.6}"/>
</p:tagLst>
</file>

<file path=ppt/tags/tag124.xml><?xml version="1.0" encoding="utf-8"?>
<p:tagLst xmlns:p="http://schemas.openxmlformats.org/presentationml/2006/main">
  <p:tag name="KSO_WM_DIAGRAM_VIRTUALLY_FRAME" val="{&quot;height&quot;:201.6,&quot;left&quot;:36,&quot;top&quot;:82.8,&quot;width&quot;:669.6}"/>
</p:tagLst>
</file>

<file path=ppt/tags/tag125.xml><?xml version="1.0" encoding="utf-8"?>
<p:tagLst xmlns:p="http://schemas.openxmlformats.org/presentationml/2006/main">
  <p:tag name="KSO_WM_DIAGRAM_VIRTUALLY_FRAME" val="{&quot;height&quot;:201.6,&quot;left&quot;:36,&quot;top&quot;:82.8,&quot;width&quot;:669.6}"/>
</p:tagLst>
</file>

<file path=ppt/tags/tag126.xml><?xml version="1.0" encoding="utf-8"?>
<p:tagLst xmlns:p="http://schemas.openxmlformats.org/presentationml/2006/main">
  <p:tag name="KSO_WM_DIAGRAM_VIRTUALLY_FRAME" val="{&quot;height&quot;:201.6,&quot;left&quot;:36,&quot;top&quot;:82.8,&quot;width&quot;:669.6}"/>
</p:tagLst>
</file>

<file path=ppt/tags/tag127.xml><?xml version="1.0" encoding="utf-8"?>
<p:tagLst xmlns:p="http://schemas.openxmlformats.org/presentationml/2006/main">
  <p:tag name="KSO_WM_DIAGRAM_VIRTUALLY_FRAME" val="{&quot;height&quot;:201.6,&quot;left&quot;:36,&quot;top&quot;:82.8,&quot;width&quot;:669.6}"/>
</p:tagLst>
</file>

<file path=ppt/tags/tag128.xml><?xml version="1.0" encoding="utf-8"?>
<p:tagLst xmlns:p="http://schemas.openxmlformats.org/presentationml/2006/main">
  <p:tag name="KSO_WM_DIAGRAM_VIRTUALLY_FRAME" val="{&quot;height&quot;:201.6,&quot;left&quot;:36,&quot;top&quot;:82.8,&quot;width&quot;:669.6}"/>
</p:tagLst>
</file>

<file path=ppt/tags/tag129.xml><?xml version="1.0" encoding="utf-8"?>
<p:tagLst xmlns:p="http://schemas.openxmlformats.org/presentationml/2006/main">
  <p:tag name="KSO_WM_DIAGRAM_VIRTUALLY_FRAME" val="{&quot;height&quot;:201.6,&quot;left&quot;:36,&quot;top&quot;:82.8,&quot;width&quot;:669.6}"/>
</p:tagLst>
</file>

<file path=ppt/tags/tag130.xml><?xml version="1.0" encoding="utf-8"?>
<p:tagLst xmlns:p="http://schemas.openxmlformats.org/presentationml/2006/main">
  <p:tag name="KSO_WM_DIAGRAM_VIRTUALLY_FRAME" val="{&quot;height&quot;:201.6,&quot;left&quot;:36,&quot;top&quot;:82.8,&quot;width&quot;:669.6}"/>
</p:tagLst>
</file>

<file path=ppt/tags/tag131.xml><?xml version="1.0" encoding="utf-8"?>
<p:tagLst xmlns:p="http://schemas.openxmlformats.org/presentationml/2006/main">
  <p:tag name="KSO_WM_DIAGRAM_VIRTUALLY_FRAME" val="{&quot;height&quot;:201.6,&quot;left&quot;:36,&quot;top&quot;:82.8,&quot;width&quot;:669.6}"/>
</p:tagLst>
</file>

<file path=ppt/tags/tag132.xml><?xml version="1.0" encoding="utf-8"?>
<p:tagLst xmlns:p="http://schemas.openxmlformats.org/presentationml/2006/main">
  <p:tag name="KSO_WM_DIAGRAM_VIRTUALLY_FRAME" val="{&quot;height&quot;:201.6,&quot;left&quot;:36,&quot;top&quot;:82.8,&quot;width&quot;:669.6}"/>
</p:tagLst>
</file>

<file path=ppt/tags/tag133.xml><?xml version="1.0" encoding="utf-8"?>
<p:tagLst xmlns:p="http://schemas.openxmlformats.org/presentationml/2006/main">
  <p:tag name="KSO_WM_DIAGRAM_VIRTUALLY_FRAME" val="{&quot;height&quot;:201.6,&quot;left&quot;:36,&quot;top&quot;:82.8,&quot;width&quot;:669.6}"/>
</p:tagLst>
</file>

<file path=ppt/tags/tag134.xml><?xml version="1.0" encoding="utf-8"?>
<p:tagLst xmlns:p="http://schemas.openxmlformats.org/presentationml/2006/main">
  <p:tag name="KSO_WM_DIAGRAM_VIRTUALLY_FRAME" val="{&quot;height&quot;:201.6,&quot;left&quot;:36,&quot;top&quot;:82.8,&quot;width&quot;:669.6}"/>
</p:tagLst>
</file>

<file path=ppt/tags/tag135.xml><?xml version="1.0" encoding="utf-8"?>
<p:tagLst xmlns:p="http://schemas.openxmlformats.org/presentationml/2006/main">
  <p:tag name="KSO_WM_DIAGRAM_VIRTUALLY_FRAME" val="{&quot;height&quot;:201.6,&quot;left&quot;:36,&quot;top&quot;:82.8,&quot;width&quot;:669.6}"/>
</p:tagLst>
</file>

<file path=ppt/tags/tag136.xml><?xml version="1.0" encoding="utf-8"?>
<p:tagLst xmlns:p="http://schemas.openxmlformats.org/presentationml/2006/main">
  <p:tag name="KSO_WM_DIAGRAM_VIRTUALLY_FRAME" val="{&quot;height&quot;:201.6,&quot;left&quot;:36,&quot;top&quot;:82.8,&quot;width&quot;:669.6}"/>
</p:tagLst>
</file>

<file path=ppt/tags/tag137.xml><?xml version="1.0" encoding="utf-8"?>
<p:tagLst xmlns:p="http://schemas.openxmlformats.org/presentationml/2006/main">
  <p:tag name="KSO_WM_DIAGRAM_VIRTUALLY_FRAME" val="{&quot;height&quot;:201.6,&quot;left&quot;:36,&quot;top&quot;:82.8,&quot;width&quot;:669.6}"/>
</p:tagLst>
</file>

<file path=ppt/tags/tag138.xml><?xml version="1.0" encoding="utf-8"?>
<p:tagLst xmlns:p="http://schemas.openxmlformats.org/presentationml/2006/main">
  <p:tag name="KSO_WM_DIAGRAM_VIRTUALLY_FRAME" val="{&quot;height&quot;:201.6,&quot;left&quot;:36,&quot;top&quot;:82.8,&quot;width&quot;:669.6}"/>
</p:tagLst>
</file>

<file path=ppt/tags/tag139.xml><?xml version="1.0" encoding="utf-8"?>
<p:tagLst xmlns:p="http://schemas.openxmlformats.org/presentationml/2006/main">
  <p:tag name="KSO_WM_DIAGRAM_VIRTUALLY_FRAME" val="{&quot;height&quot;:201.6,&quot;left&quot;:36,&quot;top&quot;:82.8,&quot;width&quot;:669.6}"/>
</p:tagLst>
</file>

<file path=ppt/tags/tag140.xml><?xml version="1.0" encoding="utf-8"?>
<p:tagLst xmlns:p="http://schemas.openxmlformats.org/presentationml/2006/main">
  <p:tag name="KSO_WM_DIAGRAM_VIRTUALLY_FRAME" val="{&quot;height&quot;:201.6,&quot;left&quot;:36,&quot;top&quot;:82.8,&quot;width&quot;:669.6}"/>
</p:tagLst>
</file>

<file path=ppt/tags/tag141.xml><?xml version="1.0" encoding="utf-8"?>
<p:tagLst xmlns:p="http://schemas.openxmlformats.org/presentationml/2006/main">
  <p:tag name="KSO_WM_DIAGRAM_VIRTUALLY_FRAME" val="{&quot;height&quot;:201.6,&quot;left&quot;:36,&quot;top&quot;:82.8,&quot;width&quot;:669.6}"/>
</p:tagLst>
</file>

<file path=ppt/tags/tag142.xml><?xml version="1.0" encoding="utf-8"?>
<p:tagLst xmlns:p="http://schemas.openxmlformats.org/presentationml/2006/main">
  <p:tag name="KSO_WM_DIAGRAM_VIRTUALLY_FRAME" val="{&quot;height&quot;:201.6,&quot;left&quot;:36,&quot;top&quot;:82.8,&quot;width&quot;:669.6}"/>
</p:tagLst>
</file>

<file path=ppt/tags/tag143.xml><?xml version="1.0" encoding="utf-8"?>
<p:tagLst xmlns:p="http://schemas.openxmlformats.org/presentationml/2006/main">
  <p:tag name="KSO_WM_DIAGRAM_VIRTUALLY_FRAME" val="{&quot;height&quot;:201.6,&quot;left&quot;:36,&quot;top&quot;:82.8,&quot;width&quot;:669.6}"/>
</p:tagLst>
</file>

<file path=ppt/tags/tag144.xml><?xml version="1.0" encoding="utf-8"?>
<p:tagLst xmlns:p="http://schemas.openxmlformats.org/presentationml/2006/main">
  <p:tag name="KSO_WM_DIAGRAM_VIRTUALLY_FRAME" val="{&quot;height&quot;:201.6,&quot;left&quot;:36,&quot;top&quot;:82.8,&quot;width&quot;:669.6}"/>
</p:tagLst>
</file>

<file path=ppt/tags/tag145.xml><?xml version="1.0" encoding="utf-8"?>
<p:tagLst xmlns:p="http://schemas.openxmlformats.org/presentationml/2006/main">
  <p:tag name="KSO_WM_DIAGRAM_VIRTUALLY_FRAME" val="{&quot;height&quot;:201.6,&quot;left&quot;:36,&quot;top&quot;:82.8,&quot;width&quot;:669.6}"/>
</p:tagLst>
</file>

<file path=ppt/tags/tag146.xml><?xml version="1.0" encoding="utf-8"?>
<p:tagLst xmlns:p="http://schemas.openxmlformats.org/presentationml/2006/main">
  <p:tag name="KSO_WM_DIAGRAM_VIRTUALLY_FRAME" val="{&quot;height&quot;:201.6,&quot;left&quot;:36,&quot;top&quot;:82.8,&quot;width&quot;:669.6}"/>
</p:tagLst>
</file>

<file path=ppt/tags/tag147.xml><?xml version="1.0" encoding="utf-8"?>
<p:tagLst xmlns:p="http://schemas.openxmlformats.org/presentationml/2006/main">
  <p:tag name="KSO_WM_DIAGRAM_VIRTUALLY_FRAME" val="{&quot;height&quot;:201.6,&quot;left&quot;:36,&quot;top&quot;:82.8,&quot;width&quot;:669.6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5407</Words>
  <Application>WPS 演示</Application>
  <PresentationFormat>On-screen Show (16:9)</PresentationFormat>
  <Paragraphs>579</Paragraphs>
  <Slides>18</Slides>
  <Notes>17</Notes>
  <HiddenSlides>0</HiddenSlides>
  <MMClips>0</MMClips>
  <ScaleCrop>false</ScaleCrop>
  <HeadingPairs>
    <vt:vector size="6" baseType="variant">
      <vt:variant>
        <vt:lpstr>已用的字体</vt:lpstr>
      </vt:variant>
      <vt:variant>
        <vt:i4>13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18</vt:i4>
      </vt:variant>
    </vt:vector>
  </HeadingPairs>
  <TitlesOfParts>
    <vt:vector size="32" baseType="lpstr">
      <vt:lpstr>Arial</vt:lpstr>
      <vt:lpstr>宋体</vt:lpstr>
      <vt:lpstr>Wingdings</vt:lpstr>
      <vt:lpstr>Calibri</vt:lpstr>
      <vt:lpstr>Calibri</vt:lpstr>
      <vt:lpstr>Calibri</vt:lpstr>
      <vt:lpstr>Consolas</vt:lpstr>
      <vt:lpstr>Consolas</vt:lpstr>
      <vt:lpstr>Consolas</vt:lpstr>
      <vt:lpstr>微软雅黑</vt:lpstr>
      <vt:lpstr>Arial Unicode MS</vt:lpstr>
      <vt:lpstr>等线</vt:lpstr>
      <vt:lpstr>MS PGothic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海上风电历史数据分析与多算法智能体系统</dc:title>
  <dc:creator>Offshore Wind Agent</dc:creator>
  <dc:subject>PptxGenJS Presentation</dc:subject>
  <cp:lastModifiedBy>欧莱雅餐厅</cp:lastModifiedBy>
  <cp:revision>11</cp:revision>
  <dcterms:created xsi:type="dcterms:W3CDTF">2026-06-09T16:53:00Z</dcterms:created>
  <dcterms:modified xsi:type="dcterms:W3CDTF">2026-06-11T06:44:50Z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2052-12.1.0.26895</vt:lpwstr>
  </property>
  <property fmtid="{D5CDD505-2E9C-101B-9397-08002B2CF9AE}" pid="3" name="ICV">
    <vt:lpwstr>9F7239C141A046EA9F43C3DE482207E7_12</vt:lpwstr>
  </property>
</Properties>
</file>